
<file path=[Content_Types].xml><?xml version="1.0" encoding="utf-8"?>
<Types xmlns="http://schemas.openxmlformats.org/package/2006/content-types">
  <Default Extension="jpeg" ContentType="image/jpeg"/>
  <Default Extension="org&amp;utm_campaign=index&amp;utm_content=thumbnail"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77" r:id="rId2"/>
    <p:sldId id="256" r:id="rId3"/>
    <p:sldId id="275" r:id="rId4"/>
    <p:sldId id="257" r:id="rId5"/>
    <p:sldId id="276" r:id="rId6"/>
    <p:sldId id="258" r:id="rId7"/>
    <p:sldId id="259" r:id="rId8"/>
    <p:sldId id="272" r:id="rId9"/>
    <p:sldId id="273" r:id="rId10"/>
    <p:sldId id="274" r:id="rId11"/>
    <p:sldId id="261" r:id="rId12"/>
    <p:sldId id="263" r:id="rId13"/>
    <p:sldId id="264" r:id="rId14"/>
    <p:sldId id="265" r:id="rId15"/>
    <p:sldId id="266" r:id="rId16"/>
    <p:sldId id="267" r:id="rId17"/>
    <p:sldId id="26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97"/>
    <p:restoredTop sz="65560"/>
  </p:normalViewPr>
  <p:slideViewPr>
    <p:cSldViewPr snapToGrid="0" snapToObjects="1">
      <p:cViewPr varScale="1">
        <p:scale>
          <a:sx n="80" d="100"/>
          <a:sy n="80" d="100"/>
        </p:scale>
        <p:origin x="728"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BB552-75AD-C342-AF75-7CC249E47ECA}" type="datetimeFigureOut">
              <a:rPr lang="en-US" smtClean="0"/>
              <a:t>9/22/26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E94D50-EE5A-2546-9A38-7E7B4BF3CE1E}" type="slidenum">
              <a:rPr lang="en-US" smtClean="0"/>
              <a:t>‹#›</a:t>
            </a:fld>
            <a:endParaRPr lang="en-US"/>
          </a:p>
        </p:txBody>
      </p:sp>
    </p:spTree>
    <p:extLst>
      <p:ext uri="{BB962C8B-B14F-4D97-AF65-F5344CB8AC3E}">
        <p14:creationId xmlns:p14="http://schemas.microsoft.com/office/powerpoint/2010/main" val="1862695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a:t>
            </a:r>
            <a:r>
              <a:rPr lang="en-US" b="1" dirty="0"/>
              <a:t>data-consumer</a:t>
            </a:r>
            <a:r>
              <a:rPr lang="en-US" dirty="0"/>
              <a:t> value proposition:</a:t>
            </a:r>
          </a:p>
          <a:p>
            <a:r>
              <a:rPr lang="en-US" b="1" dirty="0"/>
              <a:t>For researchers and data analysts who need to work with large, distributed, or controlled-access datasets, git-drs is a Git-based data access tool that lets them clone a lightweight repository and hydrate the data they need on demand. Unlike copying datasets, maintaining manifests, or embedding storage-specific URLs in workflows, git-drs versions stable DRS references in Git while resolving authorization and data access at the time the data is used.</a:t>
            </a:r>
            <a:endParaRPr lang="en-US" dirty="0"/>
          </a:p>
          <a:p>
            <a:br>
              <a:rPr lang="en-US" dirty="0"/>
            </a:br>
            <a:r>
              <a:rPr lang="en-US" dirty="0"/>
              <a:t>Tighten it further:</a:t>
            </a:r>
          </a:p>
          <a:p>
            <a:r>
              <a:rPr lang="en-US" b="1" dirty="0"/>
              <a:t>Elevator pitch</a:t>
            </a:r>
          </a:p>
          <a:p>
            <a:r>
              <a:rPr lang="en-US" b="1" dirty="0"/>
              <a:t>git-drs lets researchers use Git to share and reproduce datasets without putting the data in Git. Clone the repository, authenticate to the data provider, and hydrate the files you need. Git versions the references and dataset structure; DRS provides authorized access to the bytes.</a:t>
            </a:r>
            <a:endParaRPr lang="en-US" dirty="0"/>
          </a:p>
          <a:p>
            <a:br>
              <a:rPr lang="en-US" dirty="0"/>
            </a:br>
            <a:r>
              <a:rPr lang="en-US" dirty="0"/>
              <a:t>And an even shorter tagline that connects nicely to your producer/consumer slides:</a:t>
            </a:r>
          </a:p>
          <a:p>
            <a:r>
              <a:rPr lang="en-US" b="1" dirty="0"/>
              <a:t>Clone the references. Hydrate the data. Reproduce the dataset.</a:t>
            </a:r>
            <a:endParaRPr lang="en-US" dirty="0"/>
          </a:p>
          <a:p>
            <a:endParaRPr lang="en-US" dirty="0"/>
          </a:p>
        </p:txBody>
      </p:sp>
      <p:sp>
        <p:nvSpPr>
          <p:cNvPr id="4" name="Slide Number Placeholder 3"/>
          <p:cNvSpPr>
            <a:spLocks noGrp="1"/>
          </p:cNvSpPr>
          <p:nvPr>
            <p:ph type="sldNum" sz="quarter" idx="5"/>
          </p:nvPr>
        </p:nvSpPr>
        <p:spPr/>
        <p:txBody>
          <a:bodyPr/>
          <a:lstStyle/>
          <a:p>
            <a:fld id="{AFE94D50-EE5A-2546-9A38-7E7B4BF3CE1E}" type="slidenum">
              <a:rPr lang="en-US" smtClean="0"/>
              <a:t>3</a:t>
            </a:fld>
            <a:endParaRPr lang="en-US"/>
          </a:p>
        </p:txBody>
      </p:sp>
    </p:spTree>
    <p:extLst>
      <p:ext uri="{BB962C8B-B14F-4D97-AF65-F5344CB8AC3E}">
        <p14:creationId xmlns:p14="http://schemas.microsoft.com/office/powerpoint/2010/main" val="681755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pitch parallel to the consumer pitch:</a:t>
            </a:r>
          </a:p>
          <a:p>
            <a:r>
              <a:rPr lang="en-US" b="1" dirty="0"/>
              <a:t>git-drs lets researchers publish versioned datasets with Git without putting the data in Git. Add local or existing DRS-backed data to a repository, and git-drs records stable DRS references, checksums, and dataset structure. Then use ordinary Git to commit, version, and share the dataset definition while the bytes remain in the appropriate data repository.</a:t>
            </a:r>
            <a:endParaRPr lang="en-US" dirty="0"/>
          </a:p>
          <a:p>
            <a:r>
              <a:rPr lang="en-US" dirty="0"/>
              <a:t>For a presentation, I’d tighten that to:</a:t>
            </a:r>
          </a:p>
          <a:p>
            <a:r>
              <a:rPr lang="en-US" b="1" dirty="0"/>
              <a:t>Elevator pitch</a:t>
            </a:r>
          </a:p>
          <a:p>
            <a:r>
              <a:rPr lang="en-US" b="1" dirty="0"/>
              <a:t>git-drs lets you publish datasets with Git without publishing the data to Git. Add the data once, commit stable DRS references, and push with ordinary Git. Your collaborators get a versioned, reproducible dataset they can clone and hydrate using their own authorized access.</a:t>
            </a:r>
            <a:endParaRPr lang="en-US" dirty="0"/>
          </a:p>
          <a:p>
            <a:r>
              <a:rPr lang="en-US" dirty="0"/>
              <a:t>And a tagline parallel to the consumer message:</a:t>
            </a:r>
          </a:p>
          <a:p>
            <a:r>
              <a:rPr lang="en-US" b="1" dirty="0"/>
              <a:t>Add the data. Version the references. Share the dataset.</a:t>
            </a:r>
          </a:p>
          <a:p>
            <a:endParaRPr lang="en-US" dirty="0"/>
          </a:p>
          <a:p>
            <a:endParaRPr lang="en-US" dirty="0"/>
          </a:p>
        </p:txBody>
      </p:sp>
      <p:sp>
        <p:nvSpPr>
          <p:cNvPr id="4" name="Slide Number Placeholder 3"/>
          <p:cNvSpPr>
            <a:spLocks noGrp="1"/>
          </p:cNvSpPr>
          <p:nvPr>
            <p:ph type="sldNum" sz="quarter" idx="5"/>
          </p:nvPr>
        </p:nvSpPr>
        <p:spPr/>
        <p:txBody>
          <a:bodyPr/>
          <a:lstStyle/>
          <a:p>
            <a:fld id="{AFE94D50-EE5A-2546-9A38-7E7B4BF3CE1E}" type="slidenum">
              <a:rPr lang="en-US" smtClean="0"/>
              <a:t>5</a:t>
            </a:fld>
            <a:endParaRPr lang="en-US"/>
          </a:p>
        </p:txBody>
      </p:sp>
    </p:spTree>
    <p:extLst>
      <p:ext uri="{BB962C8B-B14F-4D97-AF65-F5344CB8AC3E}">
        <p14:creationId xmlns:p14="http://schemas.microsoft.com/office/powerpoint/2010/main" val="2438090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273746"/>
                </a:solidFill>
                <a:latin typeface="+mn-lt"/>
              </a:rPr>
              <a:t>Writable DRS adds lifecycle operations: register objects, update metadata, add access methods, resolve a fresh access URL, and verify bytes before materialization.</a:t>
            </a:r>
          </a:p>
          <a:p>
            <a:endParaRPr lang="en-US" dirty="0"/>
          </a:p>
        </p:txBody>
      </p:sp>
      <p:sp>
        <p:nvSpPr>
          <p:cNvPr id="4" name="Slide Number Placeholder 3"/>
          <p:cNvSpPr>
            <a:spLocks noGrp="1"/>
          </p:cNvSpPr>
          <p:nvPr>
            <p:ph type="sldNum" sz="quarter" idx="5"/>
          </p:nvPr>
        </p:nvSpPr>
        <p:spPr/>
        <p:txBody>
          <a:bodyPr/>
          <a:lstStyle/>
          <a:p>
            <a:fld id="{AFE94D50-EE5A-2546-9A38-7E7B4BF3CE1E}" type="slidenum">
              <a:rPr lang="en-US" smtClean="0"/>
              <a:t>6</a:t>
            </a:fld>
            <a:endParaRPr lang="en-US"/>
          </a:p>
        </p:txBody>
      </p:sp>
    </p:spTree>
    <p:extLst>
      <p:ext uri="{BB962C8B-B14F-4D97-AF65-F5344CB8AC3E}">
        <p14:creationId xmlns:p14="http://schemas.microsoft.com/office/powerpoint/2010/main" val="3027569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E94D50-EE5A-2546-9A38-7E7B4BF3CE1E}" type="slidenum">
              <a:rPr lang="en-US" smtClean="0"/>
              <a:t>7</a:t>
            </a:fld>
            <a:endParaRPr lang="en-US"/>
          </a:p>
        </p:txBody>
      </p:sp>
    </p:spTree>
    <p:extLst>
      <p:ext uri="{BB962C8B-B14F-4D97-AF65-F5344CB8AC3E}">
        <p14:creationId xmlns:p14="http://schemas.microsoft.com/office/powerpoint/2010/main" val="1625197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llrottlab.org/" TargetMode="External"/><Relationship Id="rId2" Type="http://schemas.openxmlformats.org/officeDocument/2006/relationships/hyperlink" Target="mailto:walsbr@ohsu.edu" TargetMode="Externa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org&amp;utm_campaign=index&amp;utm_content=thumbnai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org&amp;utm_campaign=index&amp;utm_content=thumbnai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D93A49-A750-7A69-C217-C2652F280B4B}"/>
              </a:ext>
            </a:extLst>
          </p:cNvPr>
          <p:cNvSpPr>
            <a:spLocks noGrp="1"/>
          </p:cNvSpPr>
          <p:nvPr>
            <p:ph type="body" idx="1"/>
          </p:nvPr>
        </p:nvSpPr>
        <p:spPr/>
        <p:txBody>
          <a:bodyPr/>
          <a:lstStyle/>
          <a:p>
            <a:r>
              <a:rPr lang="en-US" sz="6600" b="1" dirty="0"/>
              <a:t>git-drs</a:t>
            </a:r>
            <a:endParaRPr lang="en-US" sz="3200" b="1" dirty="0"/>
          </a:p>
          <a:p>
            <a:endParaRPr lang="en-US" b="1" dirty="0"/>
          </a:p>
        </p:txBody>
      </p:sp>
      <p:sp>
        <p:nvSpPr>
          <p:cNvPr id="4" name="TextBox 3">
            <a:extLst>
              <a:ext uri="{FF2B5EF4-FFF2-40B4-BE49-F238E27FC236}">
                <a16:creationId xmlns:a16="http://schemas.microsoft.com/office/drawing/2014/main" id="{DE713A57-B70B-286B-5A1E-28F4812C56B3}"/>
              </a:ext>
            </a:extLst>
          </p:cNvPr>
          <p:cNvSpPr txBox="1"/>
          <p:nvPr/>
        </p:nvSpPr>
        <p:spPr>
          <a:xfrm>
            <a:off x="8836594" y="5768975"/>
            <a:ext cx="3355406" cy="923330"/>
          </a:xfrm>
          <a:prstGeom prst="rect">
            <a:avLst/>
          </a:prstGeom>
          <a:noFill/>
        </p:spPr>
        <p:txBody>
          <a:bodyPr wrap="none" rtlCol="0">
            <a:spAutoFit/>
          </a:bodyPr>
          <a:lstStyle/>
          <a:p>
            <a:r>
              <a:rPr lang="en-US" dirty="0">
                <a:latin typeface="Aptos Mono" panose="020B0009020202020204" pitchFamily="49" charset="0"/>
                <a:hlinkClick r:id="rId2"/>
              </a:rPr>
              <a:t>walsbr@ohsu.edu</a:t>
            </a:r>
            <a:endParaRPr lang="en-US" dirty="0">
              <a:latin typeface="Aptos Mono" panose="020B0009020202020204" pitchFamily="49" charset="0"/>
            </a:endParaRPr>
          </a:p>
          <a:p>
            <a:r>
              <a:rPr lang="en-US" dirty="0">
                <a:latin typeface="Aptos Mono" panose="020B0009020202020204" pitchFamily="49" charset="0"/>
                <a:hlinkClick r:id="rId3"/>
              </a:rPr>
              <a:t>https://ellrottlab.org/</a:t>
            </a:r>
            <a:endParaRPr lang="en-US" dirty="0">
              <a:latin typeface="Aptos Mono" panose="020B0009020202020204" pitchFamily="49" charset="0"/>
            </a:endParaRPr>
          </a:p>
          <a:p>
            <a:r>
              <a:rPr lang="en-US" dirty="0">
                <a:latin typeface="Aptos Mono" panose="020B0009020202020204" pitchFamily="49" charset="0"/>
              </a:rPr>
              <a:t>Sept 2026</a:t>
            </a:r>
          </a:p>
        </p:txBody>
      </p:sp>
      <p:pic>
        <p:nvPicPr>
          <p:cNvPr id="5" name="Picture 4" descr="File:Git icon.svg - Wikimedia Commons">
            <a:extLst>
              <a:ext uri="{FF2B5EF4-FFF2-40B4-BE49-F238E27FC236}">
                <a16:creationId xmlns:a16="http://schemas.microsoft.com/office/drawing/2014/main" id="{B173BDD7-B927-3FBC-4EB2-266019911DF4}"/>
              </a:ext>
            </a:extLst>
          </p:cNvPr>
          <p:cNvPicPr>
            <a:picLocks noChangeAspect="1"/>
          </p:cNvPicPr>
          <p:nvPr/>
        </p:nvPicPr>
        <p:blipFill>
          <a:blip r:embed="rId4"/>
          <a:stretch>
            <a:fillRect/>
          </a:stretch>
        </p:blipFill>
        <p:spPr>
          <a:xfrm flipH="1">
            <a:off x="3659368" y="3316705"/>
            <a:ext cx="458996" cy="458996"/>
          </a:xfrm>
          <a:prstGeom prst="rect">
            <a:avLst/>
          </a:prstGeom>
        </p:spPr>
      </p:pic>
      <p:pic>
        <p:nvPicPr>
          <p:cNvPr id="7" name="Picture 6" descr="Global Alliance for Genomics and Health · GitHub">
            <a:extLst>
              <a:ext uri="{FF2B5EF4-FFF2-40B4-BE49-F238E27FC236}">
                <a16:creationId xmlns:a16="http://schemas.microsoft.com/office/drawing/2014/main" id="{9DA1EE29-7371-6917-C407-85BC47AA2CF0}"/>
              </a:ext>
            </a:extLst>
          </p:cNvPr>
          <p:cNvPicPr>
            <a:picLocks noChangeAspect="1"/>
          </p:cNvPicPr>
          <p:nvPr/>
        </p:nvPicPr>
        <p:blipFill>
          <a:blip r:embed="rId5"/>
          <a:stretch>
            <a:fillRect/>
          </a:stretch>
        </p:blipFill>
        <p:spPr>
          <a:xfrm flipH="1">
            <a:off x="4408196" y="3316705"/>
            <a:ext cx="458996" cy="458996"/>
          </a:xfrm>
          <a:prstGeom prst="rect">
            <a:avLst/>
          </a:prstGeom>
        </p:spPr>
      </p:pic>
      <p:pic>
        <p:nvPicPr>
          <p:cNvPr id="8" name="Picture 7" descr="Genomic Analysis, Visualization and Informatics Lab-space ...">
            <a:extLst>
              <a:ext uri="{FF2B5EF4-FFF2-40B4-BE49-F238E27FC236}">
                <a16:creationId xmlns:a16="http://schemas.microsoft.com/office/drawing/2014/main" id="{698209FD-E982-DD47-699E-F0464BD75348}"/>
              </a:ext>
            </a:extLst>
          </p:cNvPr>
          <p:cNvPicPr>
            <a:picLocks noChangeAspect="1"/>
          </p:cNvPicPr>
          <p:nvPr/>
        </p:nvPicPr>
        <p:blipFill>
          <a:blip r:embed="rId6"/>
          <a:stretch>
            <a:fillRect/>
          </a:stretch>
        </p:blipFill>
        <p:spPr>
          <a:xfrm flipH="1">
            <a:off x="5157024" y="3312694"/>
            <a:ext cx="551678" cy="458996"/>
          </a:xfrm>
          <a:prstGeom prst="rect">
            <a:avLst/>
          </a:prstGeom>
        </p:spPr>
      </p:pic>
    </p:spTree>
    <p:extLst>
      <p:ext uri="{BB962C8B-B14F-4D97-AF65-F5344CB8AC3E}">
        <p14:creationId xmlns:p14="http://schemas.microsoft.com/office/powerpoint/2010/main" val="3712159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304A"/>
        </a:solidFill>
        <a:effectLst/>
      </p:bgPr>
    </p:bg>
    <p:spTree>
      <p:nvGrpSpPr>
        <p:cNvPr id="1" name=""/>
        <p:cNvGrpSpPr/>
        <p:nvPr/>
      </p:nvGrpSpPr>
      <p:grpSpPr>
        <a:xfrm>
          <a:off x="0" y="0"/>
          <a:ext cx="0" cy="0"/>
          <a:chOff x="0" y="0"/>
          <a:chExt cx="0" cy="0"/>
        </a:xfrm>
      </p:grpSpPr>
      <p:sp>
        <p:nvSpPr>
          <p:cNvPr id="2" name="TextBox 1"/>
          <p:cNvSpPr txBox="1"/>
          <p:nvPr/>
        </p:nvSpPr>
        <p:spPr>
          <a:xfrm>
            <a:off x="731520" y="777240"/>
            <a:ext cx="8046720" cy="1143000"/>
          </a:xfrm>
          <a:prstGeom prst="rect">
            <a:avLst/>
          </a:prstGeom>
          <a:noFill/>
        </p:spPr>
        <p:txBody>
          <a:bodyPr wrap="square" lIns="8" tIns="6" rIns="8" bIns="6">
            <a:spAutoFit/>
          </a:bodyPr>
          <a:lstStyle/>
          <a:p>
            <a:pPr algn="l">
              <a:spcAft>
                <a:spcPts val="300"/>
              </a:spcAft>
              <a:defRPr sz="2700" b="1">
                <a:solidFill>
                  <a:srgbClr val="FFFFFF"/>
                </a:solidFill>
                <a:latin typeface="Aptos"/>
              </a:defRPr>
            </a:pPr>
            <a:r>
              <a:rPr sz="2800" b="1">
                <a:solidFill>
                  <a:srgbClr val="FFFFFF"/>
                </a:solidFill>
                <a:latin typeface="Aptos"/>
              </a:rPr>
              <a:t>AnVIL + Terra meets git-drs</a:t>
            </a:r>
          </a:p>
        </p:txBody>
      </p:sp>
      <p:sp>
        <p:nvSpPr>
          <p:cNvPr id="7" name="Rounded Rectangle 6"/>
          <p:cNvSpPr/>
          <p:nvPr/>
        </p:nvSpPr>
        <p:spPr>
          <a:xfrm>
            <a:off x="594360" y="2788920"/>
            <a:ext cx="3794760" cy="3246120"/>
          </a:xfrm>
          <a:prstGeom prst="roundRect">
            <a:avLst/>
          </a:prstGeom>
          <a:solidFill>
            <a:srgbClr val="F4F8FB"/>
          </a:solidFill>
          <a:ln w="19050">
            <a:solidFill>
              <a:srgbClr val="15A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799831" y="2788920"/>
            <a:ext cx="3794760" cy="3246120"/>
          </a:xfrm>
          <a:prstGeom prst="roundRect">
            <a:avLst/>
          </a:prstGeom>
          <a:solidFill>
            <a:srgbClr val="F4F8FB"/>
          </a:solidFill>
          <a:ln w="19050">
            <a:solidFill>
              <a:srgbClr val="4269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078992" y="2542032"/>
            <a:ext cx="2331720" cy="502920"/>
          </a:xfrm>
          <a:prstGeom prst="roundRect">
            <a:avLst/>
          </a:prstGeom>
          <a:solidFill>
            <a:srgbClr val="15AAA5"/>
          </a:solidFill>
          <a:ln w="19050">
            <a:solidFill>
              <a:srgbClr val="15A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302752" y="2542032"/>
            <a:ext cx="2331720" cy="502920"/>
          </a:xfrm>
          <a:prstGeom prst="roundRect">
            <a:avLst/>
          </a:prstGeom>
          <a:solidFill>
            <a:srgbClr val="4269DA"/>
          </a:solidFill>
          <a:ln w="19050">
            <a:solidFill>
              <a:srgbClr val="4269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78992" y="2542032"/>
            <a:ext cx="2331720" cy="502920"/>
          </a:xfrm>
          <a:prstGeom prst="rect">
            <a:avLst/>
          </a:prstGeom>
          <a:noFill/>
        </p:spPr>
        <p:txBody>
          <a:bodyPr wrap="none" anchor="ctr">
            <a:spAutoFit/>
          </a:bodyPr>
          <a:lstStyle/>
          <a:p>
            <a:pPr algn="ctr"/>
            <a:r>
              <a:rPr sz="2200" b="1">
                <a:solidFill>
                  <a:srgbClr val="FFFFFF"/>
                </a:solidFill>
                <a:latin typeface="Aptos"/>
              </a:rPr>
              <a:t>Git keeps</a:t>
            </a:r>
          </a:p>
        </p:txBody>
      </p:sp>
      <p:sp>
        <p:nvSpPr>
          <p:cNvPr id="12" name="TextBox 11"/>
          <p:cNvSpPr txBox="1"/>
          <p:nvPr/>
        </p:nvSpPr>
        <p:spPr>
          <a:xfrm>
            <a:off x="8302752" y="2542032"/>
            <a:ext cx="2331720" cy="502920"/>
          </a:xfrm>
          <a:prstGeom prst="rect">
            <a:avLst/>
          </a:prstGeom>
          <a:noFill/>
        </p:spPr>
        <p:txBody>
          <a:bodyPr wrap="none" anchor="ctr">
            <a:spAutoFit/>
          </a:bodyPr>
          <a:lstStyle/>
          <a:p>
            <a:pPr algn="ctr"/>
            <a:r>
              <a:rPr sz="2200" b="1">
                <a:solidFill>
                  <a:srgbClr val="FFFFFF"/>
                </a:solidFill>
                <a:latin typeface="Aptos"/>
              </a:rPr>
              <a:t>DRS resolves</a:t>
            </a:r>
          </a:p>
        </p:txBody>
      </p:sp>
      <p:sp>
        <p:nvSpPr>
          <p:cNvPr id="13" name="Oval 12"/>
          <p:cNvSpPr/>
          <p:nvPr/>
        </p:nvSpPr>
        <p:spPr>
          <a:xfrm>
            <a:off x="4956048" y="2944368"/>
            <a:ext cx="2286000" cy="2286000"/>
          </a:xfrm>
          <a:prstGeom prst="ellipse">
            <a:avLst/>
          </a:prstGeom>
          <a:solidFill>
            <a:srgbClr val="FFFFFF"/>
          </a:solidFill>
          <a:ln w="63500">
            <a:solidFill>
              <a:srgbClr val="CDDA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12080" y="3200400"/>
            <a:ext cx="1773936" cy="1773936"/>
          </a:xfrm>
          <a:prstGeom prst="ellipse">
            <a:avLst/>
          </a:prstGeom>
          <a:solidFill>
            <a:srgbClr val="FFFFFF"/>
          </a:solidFill>
          <a:ln w="12700">
            <a:solidFill>
              <a:srgbClr val="E8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58384" y="3511296"/>
            <a:ext cx="1481328" cy="1170432"/>
          </a:xfrm>
          <a:prstGeom prst="rect">
            <a:avLst/>
          </a:prstGeom>
          <a:noFill/>
        </p:spPr>
        <p:txBody>
          <a:bodyPr wrap="none" anchor="ctr">
            <a:spAutoFit/>
          </a:bodyPr>
          <a:lstStyle/>
          <a:p>
            <a:pPr algn="ctr"/>
            <a:r>
              <a:rPr sz="1700" b="1">
                <a:solidFill>
                  <a:srgbClr val="162534"/>
                </a:solidFill>
                <a:latin typeface="Aptos"/>
              </a:rPr>
              <a:t>References</a:t>
            </a:r>
            <a:br/>
            <a:r>
              <a:t>in Git,</a:t>
            </a:r>
            <a:br/>
            <a:r>
              <a:t>resolution</a:t>
            </a:r>
            <a:br/>
            <a:r>
              <a:t>at access</a:t>
            </a:r>
          </a:p>
        </p:txBody>
      </p:sp>
      <p:sp>
        <p:nvSpPr>
          <p:cNvPr id="16" name="Chevron 15"/>
          <p:cNvSpPr/>
          <p:nvPr/>
        </p:nvSpPr>
        <p:spPr>
          <a:xfrm>
            <a:off x="5623560" y="2907792"/>
            <a:ext cx="438912" cy="256032"/>
          </a:xfrm>
          <a:prstGeom prst="chevron">
            <a:avLst/>
          </a:prstGeom>
          <a:solidFill>
            <a:srgbClr val="15A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hevron 16"/>
          <p:cNvSpPr/>
          <p:nvPr/>
        </p:nvSpPr>
        <p:spPr>
          <a:xfrm rot="5400000">
            <a:off x="6912864" y="3794760"/>
            <a:ext cx="438912" cy="256032"/>
          </a:xfrm>
          <a:prstGeom prst="chevron">
            <a:avLst/>
          </a:prstGeom>
          <a:solidFill>
            <a:srgbClr val="4269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hevron 17"/>
          <p:cNvSpPr/>
          <p:nvPr/>
        </p:nvSpPr>
        <p:spPr>
          <a:xfrm rot="10800000">
            <a:off x="5623560" y="5084064"/>
            <a:ext cx="438912" cy="256032"/>
          </a:xfrm>
          <a:prstGeom prst="chevron">
            <a:avLst/>
          </a:prstGeom>
          <a:solidFill>
            <a:srgbClr val="4269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hevron 18"/>
          <p:cNvSpPr/>
          <p:nvPr/>
        </p:nvSpPr>
        <p:spPr>
          <a:xfrm rot="16200000">
            <a:off x="4727448" y="3794760"/>
            <a:ext cx="438912" cy="256032"/>
          </a:xfrm>
          <a:prstGeom prst="chevron">
            <a:avLst/>
          </a:prstGeom>
          <a:solidFill>
            <a:srgbClr val="15A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41832" y="3218688"/>
            <a:ext cx="457200" cy="457200"/>
          </a:xfrm>
          <a:prstGeom prst="ellipse">
            <a:avLst/>
          </a:prstGeom>
          <a:solidFill>
            <a:srgbClr val="0D7E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1832" y="3218688"/>
            <a:ext cx="457200" cy="457200"/>
          </a:xfrm>
          <a:prstGeom prst="rect">
            <a:avLst/>
          </a:prstGeom>
          <a:noFill/>
        </p:spPr>
        <p:txBody>
          <a:bodyPr wrap="none" anchor="ctr">
            <a:spAutoFit/>
          </a:bodyPr>
          <a:lstStyle/>
          <a:p>
            <a:pPr algn="ctr"/>
            <a:r>
              <a:rPr sz="1800" b="1">
                <a:solidFill>
                  <a:srgbClr val="FFFFFF"/>
                </a:solidFill>
                <a:latin typeface="Aptos"/>
              </a:rPr>
              <a:t>▮</a:t>
            </a:r>
          </a:p>
        </p:txBody>
      </p:sp>
      <p:sp>
        <p:nvSpPr>
          <p:cNvPr id="22" name="TextBox 21"/>
          <p:cNvSpPr txBox="1"/>
          <p:nvPr/>
        </p:nvSpPr>
        <p:spPr>
          <a:xfrm>
            <a:off x="1572768" y="3227832"/>
            <a:ext cx="2331720" cy="457200"/>
          </a:xfrm>
          <a:prstGeom prst="rect">
            <a:avLst/>
          </a:prstGeom>
          <a:noFill/>
        </p:spPr>
        <p:txBody>
          <a:bodyPr wrap="none" anchor="ctr">
            <a:spAutoFit/>
          </a:bodyPr>
          <a:lstStyle/>
          <a:p>
            <a:pPr algn="l"/>
            <a:r>
              <a:rPr sz="2000" b="1">
                <a:solidFill>
                  <a:srgbClr val="162534"/>
                </a:solidFill>
                <a:latin typeface="Aptos"/>
              </a:rPr>
              <a:t>references</a:t>
            </a:r>
          </a:p>
        </p:txBody>
      </p:sp>
      <p:cxnSp>
        <p:nvCxnSpPr>
          <p:cNvPr id="23" name="Connector 22"/>
          <p:cNvCxnSpPr/>
          <p:nvPr/>
        </p:nvCxnSpPr>
        <p:spPr>
          <a:xfrm>
            <a:off x="1572768" y="3959352"/>
            <a:ext cx="2359152" cy="0"/>
          </a:xfrm>
          <a:prstGeom prst="line">
            <a:avLst/>
          </a:prstGeom>
          <a:ln w="12700">
            <a:solidFill>
              <a:srgbClr val="D3DDE6"/>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941832" y="4197096"/>
            <a:ext cx="457200" cy="457200"/>
          </a:xfrm>
          <a:prstGeom prst="ellipse">
            <a:avLst/>
          </a:prstGeom>
          <a:solidFill>
            <a:srgbClr val="0D7E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1832" y="4197096"/>
            <a:ext cx="457200" cy="457200"/>
          </a:xfrm>
          <a:prstGeom prst="rect">
            <a:avLst/>
          </a:prstGeom>
          <a:noFill/>
        </p:spPr>
        <p:txBody>
          <a:bodyPr wrap="none" anchor="ctr">
            <a:spAutoFit/>
          </a:bodyPr>
          <a:lstStyle/>
          <a:p>
            <a:pPr algn="ctr"/>
            <a:r>
              <a:rPr sz="1800" b="1">
                <a:solidFill>
                  <a:srgbClr val="FFFFFF"/>
                </a:solidFill>
                <a:latin typeface="Aptos"/>
              </a:rPr>
              <a:t>↶</a:t>
            </a:r>
          </a:p>
        </p:txBody>
      </p:sp>
      <p:sp>
        <p:nvSpPr>
          <p:cNvPr id="26" name="TextBox 25"/>
          <p:cNvSpPr txBox="1"/>
          <p:nvPr/>
        </p:nvSpPr>
        <p:spPr>
          <a:xfrm>
            <a:off x="1572768" y="4206240"/>
            <a:ext cx="2331720" cy="457200"/>
          </a:xfrm>
          <a:prstGeom prst="rect">
            <a:avLst/>
          </a:prstGeom>
          <a:noFill/>
        </p:spPr>
        <p:txBody>
          <a:bodyPr wrap="none" anchor="ctr">
            <a:spAutoFit/>
          </a:bodyPr>
          <a:lstStyle/>
          <a:p>
            <a:pPr algn="l"/>
            <a:r>
              <a:rPr sz="2000" b="1">
                <a:solidFill>
                  <a:srgbClr val="162534"/>
                </a:solidFill>
                <a:latin typeface="Aptos"/>
              </a:rPr>
              <a:t>history</a:t>
            </a:r>
          </a:p>
        </p:txBody>
      </p:sp>
      <p:cxnSp>
        <p:nvCxnSpPr>
          <p:cNvPr id="27" name="Connector 26"/>
          <p:cNvCxnSpPr/>
          <p:nvPr/>
        </p:nvCxnSpPr>
        <p:spPr>
          <a:xfrm>
            <a:off x="1572768" y="4937759"/>
            <a:ext cx="2359152" cy="0"/>
          </a:xfrm>
          <a:prstGeom prst="line">
            <a:avLst/>
          </a:prstGeom>
          <a:ln w="12700">
            <a:solidFill>
              <a:srgbClr val="D3DDE6"/>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941832" y="5175504"/>
            <a:ext cx="457200" cy="457200"/>
          </a:xfrm>
          <a:prstGeom prst="ellipse">
            <a:avLst/>
          </a:prstGeom>
          <a:solidFill>
            <a:srgbClr val="0D7E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1832" y="5175504"/>
            <a:ext cx="457200" cy="457200"/>
          </a:xfrm>
          <a:prstGeom prst="rect">
            <a:avLst/>
          </a:prstGeom>
          <a:noFill/>
        </p:spPr>
        <p:txBody>
          <a:bodyPr wrap="none" anchor="ctr">
            <a:spAutoFit/>
          </a:bodyPr>
          <a:lstStyle/>
          <a:p>
            <a:pPr algn="ctr"/>
            <a:r>
              <a:rPr sz="1800" b="1">
                <a:solidFill>
                  <a:srgbClr val="FFFFFF"/>
                </a:solidFill>
                <a:latin typeface="Aptos"/>
              </a:rPr>
              <a:t>▰</a:t>
            </a:r>
          </a:p>
        </p:txBody>
      </p:sp>
      <p:sp>
        <p:nvSpPr>
          <p:cNvPr id="30" name="TextBox 29"/>
          <p:cNvSpPr txBox="1"/>
          <p:nvPr/>
        </p:nvSpPr>
        <p:spPr>
          <a:xfrm>
            <a:off x="1572768" y="5184648"/>
            <a:ext cx="2331720" cy="457200"/>
          </a:xfrm>
          <a:prstGeom prst="rect">
            <a:avLst/>
          </a:prstGeom>
          <a:noFill/>
        </p:spPr>
        <p:txBody>
          <a:bodyPr wrap="none" anchor="ctr">
            <a:spAutoFit/>
          </a:bodyPr>
          <a:lstStyle/>
          <a:p>
            <a:pPr algn="l"/>
            <a:r>
              <a:rPr sz="2000" b="1">
                <a:solidFill>
                  <a:srgbClr val="162534"/>
                </a:solidFill>
                <a:latin typeface="Aptos"/>
              </a:rPr>
              <a:t>paths</a:t>
            </a:r>
          </a:p>
        </p:txBody>
      </p:sp>
      <p:sp>
        <p:nvSpPr>
          <p:cNvPr id="31" name="Oval 30"/>
          <p:cNvSpPr/>
          <p:nvPr/>
        </p:nvSpPr>
        <p:spPr>
          <a:xfrm>
            <a:off x="8165592" y="3218688"/>
            <a:ext cx="457200" cy="457200"/>
          </a:xfrm>
          <a:prstGeom prst="ellipse">
            <a:avLst/>
          </a:prstGeom>
          <a:solidFill>
            <a:srgbClr val="2D4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65592" y="3218688"/>
            <a:ext cx="457200" cy="457200"/>
          </a:xfrm>
          <a:prstGeom prst="rect">
            <a:avLst/>
          </a:prstGeom>
          <a:noFill/>
        </p:spPr>
        <p:txBody>
          <a:bodyPr wrap="none" anchor="ctr">
            <a:spAutoFit/>
          </a:bodyPr>
          <a:lstStyle/>
          <a:p>
            <a:pPr algn="ctr"/>
            <a:r>
              <a:rPr sz="1800" b="1">
                <a:solidFill>
                  <a:srgbClr val="FFFFFF"/>
                </a:solidFill>
                <a:latin typeface="Aptos"/>
              </a:rPr>
              <a:t>⚿</a:t>
            </a:r>
          </a:p>
        </p:txBody>
      </p:sp>
      <p:sp>
        <p:nvSpPr>
          <p:cNvPr id="33" name="TextBox 32"/>
          <p:cNvSpPr txBox="1"/>
          <p:nvPr/>
        </p:nvSpPr>
        <p:spPr>
          <a:xfrm>
            <a:off x="8796528" y="3227832"/>
            <a:ext cx="2331720" cy="457200"/>
          </a:xfrm>
          <a:prstGeom prst="rect">
            <a:avLst/>
          </a:prstGeom>
          <a:noFill/>
        </p:spPr>
        <p:txBody>
          <a:bodyPr wrap="none" anchor="ctr">
            <a:spAutoFit/>
          </a:bodyPr>
          <a:lstStyle/>
          <a:p>
            <a:pPr algn="l"/>
            <a:r>
              <a:rPr sz="2000" b="1">
                <a:solidFill>
                  <a:srgbClr val="162534"/>
                </a:solidFill>
                <a:latin typeface="Aptos"/>
              </a:rPr>
              <a:t>fresh access</a:t>
            </a:r>
          </a:p>
        </p:txBody>
      </p:sp>
      <p:cxnSp>
        <p:nvCxnSpPr>
          <p:cNvPr id="34" name="Connector 33"/>
          <p:cNvCxnSpPr/>
          <p:nvPr/>
        </p:nvCxnSpPr>
        <p:spPr>
          <a:xfrm>
            <a:off x="8796528" y="3959352"/>
            <a:ext cx="2340864" cy="0"/>
          </a:xfrm>
          <a:prstGeom prst="line">
            <a:avLst/>
          </a:prstGeom>
          <a:ln w="12700">
            <a:solidFill>
              <a:srgbClr val="D3DDE6"/>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8165592" y="4197096"/>
            <a:ext cx="457200" cy="457200"/>
          </a:xfrm>
          <a:prstGeom prst="ellipse">
            <a:avLst/>
          </a:prstGeom>
          <a:solidFill>
            <a:srgbClr val="2D4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165592" y="4197096"/>
            <a:ext cx="457200" cy="457200"/>
          </a:xfrm>
          <a:prstGeom prst="rect">
            <a:avLst/>
          </a:prstGeom>
          <a:noFill/>
        </p:spPr>
        <p:txBody>
          <a:bodyPr wrap="none" anchor="ctr">
            <a:spAutoFit/>
          </a:bodyPr>
          <a:lstStyle/>
          <a:p>
            <a:pPr algn="ctr"/>
            <a:r>
              <a:rPr sz="1800" b="1">
                <a:solidFill>
                  <a:srgbClr val="FFFFFF"/>
                </a:solidFill>
                <a:latin typeface="Aptos"/>
              </a:rPr>
              <a:t>✓</a:t>
            </a:r>
          </a:p>
        </p:txBody>
      </p:sp>
      <p:sp>
        <p:nvSpPr>
          <p:cNvPr id="37" name="TextBox 36"/>
          <p:cNvSpPr txBox="1"/>
          <p:nvPr/>
        </p:nvSpPr>
        <p:spPr>
          <a:xfrm>
            <a:off x="8796528" y="4206240"/>
            <a:ext cx="2331720" cy="457200"/>
          </a:xfrm>
          <a:prstGeom prst="rect">
            <a:avLst/>
          </a:prstGeom>
          <a:noFill/>
        </p:spPr>
        <p:txBody>
          <a:bodyPr wrap="none" anchor="ctr">
            <a:spAutoFit/>
          </a:bodyPr>
          <a:lstStyle/>
          <a:p>
            <a:pPr algn="l"/>
            <a:r>
              <a:rPr sz="2000" b="1">
                <a:solidFill>
                  <a:srgbClr val="162534"/>
                </a:solidFill>
                <a:latin typeface="Aptos"/>
              </a:rPr>
              <a:t>checksums</a:t>
            </a:r>
          </a:p>
        </p:txBody>
      </p:sp>
      <p:cxnSp>
        <p:nvCxnSpPr>
          <p:cNvPr id="38" name="Connector 37"/>
          <p:cNvCxnSpPr/>
          <p:nvPr/>
        </p:nvCxnSpPr>
        <p:spPr>
          <a:xfrm>
            <a:off x="8796528" y="4937759"/>
            <a:ext cx="2340864" cy="0"/>
          </a:xfrm>
          <a:prstGeom prst="line">
            <a:avLst/>
          </a:prstGeom>
          <a:ln w="12700">
            <a:solidFill>
              <a:srgbClr val="D3DDE6"/>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8165592" y="5175504"/>
            <a:ext cx="457200" cy="457200"/>
          </a:xfrm>
          <a:prstGeom prst="ellipse">
            <a:avLst/>
          </a:prstGeom>
          <a:solidFill>
            <a:srgbClr val="2D4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65592" y="5175504"/>
            <a:ext cx="457200" cy="457200"/>
          </a:xfrm>
          <a:prstGeom prst="rect">
            <a:avLst/>
          </a:prstGeom>
          <a:noFill/>
        </p:spPr>
        <p:txBody>
          <a:bodyPr wrap="none" anchor="ctr">
            <a:spAutoFit/>
          </a:bodyPr>
          <a:lstStyle/>
          <a:p>
            <a:pPr algn="ctr"/>
            <a:r>
              <a:rPr sz="1800" b="1">
                <a:solidFill>
                  <a:srgbClr val="FFFFFF"/>
                </a:solidFill>
                <a:latin typeface="Aptos"/>
              </a:rPr>
              <a:t>●</a:t>
            </a:r>
          </a:p>
        </p:txBody>
      </p:sp>
      <p:sp>
        <p:nvSpPr>
          <p:cNvPr id="41" name="TextBox 40"/>
          <p:cNvSpPr txBox="1"/>
          <p:nvPr/>
        </p:nvSpPr>
        <p:spPr>
          <a:xfrm>
            <a:off x="8796528" y="5184648"/>
            <a:ext cx="2331720" cy="457200"/>
          </a:xfrm>
          <a:prstGeom prst="rect">
            <a:avLst/>
          </a:prstGeom>
          <a:noFill/>
        </p:spPr>
        <p:txBody>
          <a:bodyPr wrap="none" anchor="ctr">
            <a:spAutoFit/>
          </a:bodyPr>
          <a:lstStyle/>
          <a:p>
            <a:pPr algn="l"/>
            <a:r>
              <a:rPr sz="2000" b="1">
                <a:solidFill>
                  <a:srgbClr val="162534"/>
                </a:solidFill>
                <a:latin typeface="Aptos"/>
              </a:rPr>
              <a:t>provider auth</a:t>
            </a:r>
          </a:p>
        </p:txBody>
      </p:sp>
      <p:cxnSp>
        <p:nvCxnSpPr>
          <p:cNvPr id="42" name="Connector 41"/>
          <p:cNvCxnSpPr/>
          <p:nvPr/>
        </p:nvCxnSpPr>
        <p:spPr>
          <a:xfrm>
            <a:off x="4389120" y="3767328"/>
            <a:ext cx="594360" cy="0"/>
          </a:xfrm>
          <a:prstGeom prst="line">
            <a:avLst/>
          </a:prstGeom>
          <a:ln w="28575">
            <a:solidFill>
              <a:srgbClr val="15AAA5"/>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89120" y="4718304"/>
            <a:ext cx="594360" cy="0"/>
          </a:xfrm>
          <a:prstGeom prst="line">
            <a:avLst/>
          </a:prstGeom>
          <a:ln w="28575">
            <a:solidFill>
              <a:srgbClr val="15AAA5"/>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223760" y="3767328"/>
            <a:ext cx="576071" cy="0"/>
          </a:xfrm>
          <a:prstGeom prst="line">
            <a:avLst/>
          </a:prstGeom>
          <a:ln w="28575">
            <a:solidFill>
              <a:srgbClr val="4269DA"/>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223760" y="4718304"/>
            <a:ext cx="576071" cy="0"/>
          </a:xfrm>
          <a:prstGeom prst="line">
            <a:avLst/>
          </a:prstGeom>
          <a:ln w="28575">
            <a:solidFill>
              <a:srgbClr val="4269DA"/>
            </a:solidFill>
            <a:prstDash val="dash"/>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143000" y="6199632"/>
            <a:ext cx="9902952" cy="411480"/>
          </a:xfrm>
          <a:prstGeom prst="rect">
            <a:avLst/>
          </a:prstGeom>
          <a:noFill/>
        </p:spPr>
        <p:txBody>
          <a:bodyPr wrap="none" anchor="ctr">
            <a:spAutoFit/>
          </a:bodyPr>
          <a:lstStyle/>
          <a:p>
            <a:pPr algn="ctr"/>
            <a:r>
              <a:rPr sz="1600" b="0">
                <a:solidFill>
                  <a:srgbClr val="DAE5ED"/>
                </a:solidFill>
                <a:latin typeface="Aptos"/>
              </a:rPr>
              <a:t>Git versions stable references; DRS supplies authorized, verified access to the bytes.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472" y="165708"/>
            <a:ext cx="1828800" cy="411480"/>
          </a:xfrm>
          <a:prstGeom prst="rect">
            <a:avLst/>
          </a:prstGeom>
          <a:noFill/>
        </p:spPr>
        <p:txBody>
          <a:bodyPr wrap="square" anchor="ctr">
            <a:spAutoFit/>
          </a:bodyPr>
          <a:lstStyle/>
          <a:p>
            <a:pPr algn="l"/>
            <a:r>
              <a:rPr sz="3100" b="1" dirty="0">
                <a:solidFill>
                  <a:srgbClr val="008280"/>
                </a:solidFill>
                <a:latin typeface="Aptos"/>
              </a:rPr>
              <a:t>git-drs</a:t>
            </a:r>
          </a:p>
        </p:txBody>
      </p:sp>
      <p:sp>
        <p:nvSpPr>
          <p:cNvPr id="3" name="TextBox 2"/>
          <p:cNvSpPr txBox="1"/>
          <p:nvPr/>
        </p:nvSpPr>
        <p:spPr>
          <a:xfrm>
            <a:off x="2039112" y="140616"/>
            <a:ext cx="9509760" cy="461665"/>
          </a:xfrm>
          <a:prstGeom prst="rect">
            <a:avLst/>
          </a:prstGeom>
          <a:noFill/>
        </p:spPr>
        <p:txBody>
          <a:bodyPr wrap="square" anchor="ctr">
            <a:spAutoFit/>
          </a:bodyPr>
          <a:lstStyle/>
          <a:p>
            <a:r>
              <a:rPr lang="en-US" sz="2400" b="1" dirty="0">
                <a:solidFill>
                  <a:srgbClr val="041F4F"/>
                </a:solidFill>
                <a:latin typeface="Aptos"/>
              </a:rPr>
              <a:t>“</a:t>
            </a:r>
            <a:r>
              <a:rPr lang="en-US" sz="2400" b="1" dirty="0"/>
              <a:t>Clone the references. Hydrate the data. Reproduce the dataset.</a:t>
            </a:r>
            <a:r>
              <a:rPr lang="en-US" sz="2400" b="1" dirty="0">
                <a:solidFill>
                  <a:srgbClr val="041F4F"/>
                </a:solidFill>
                <a:latin typeface="Aptos"/>
              </a:rPr>
              <a:t>"</a:t>
            </a:r>
            <a:endParaRPr sz="2400" b="1" dirty="0">
              <a:solidFill>
                <a:srgbClr val="041F4F"/>
              </a:solidFill>
              <a:latin typeface="Aptos"/>
            </a:endParaRPr>
          </a:p>
        </p:txBody>
      </p:sp>
      <p:sp>
        <p:nvSpPr>
          <p:cNvPr id="4" name="Rectangle 3"/>
          <p:cNvSpPr/>
          <p:nvPr/>
        </p:nvSpPr>
        <p:spPr>
          <a:xfrm>
            <a:off x="365760" y="1188720"/>
            <a:ext cx="822960" cy="41148"/>
          </a:xfrm>
          <a:prstGeom prst="rect">
            <a:avLst/>
          </a:prstGeom>
          <a:solidFill>
            <a:srgbClr val="008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0"/>
            <a:ext cx="11064240" cy="502920"/>
          </a:xfrm>
          <a:prstGeom prst="rect">
            <a:avLst/>
          </a:prstGeom>
          <a:noFill/>
        </p:spPr>
        <p:txBody>
          <a:bodyPr wrap="square" anchor="ctr">
            <a:spAutoFit/>
          </a:bodyPr>
          <a:lstStyle/>
          <a:p>
            <a:pPr algn="l"/>
            <a:r>
              <a:rPr sz="1280" b="0">
                <a:solidFill>
                  <a:srgbClr val="141C26"/>
                </a:solidFill>
                <a:latin typeface="Aptos"/>
              </a:rPr>
              <a:t>Clone a lightweight repository that versions stable DRS references to your dataset.</a:t>
            </a:r>
            <a:br/>
            <a:r>
              <a:rPr sz="1280" b="0">
                <a:solidFill>
                  <a:srgbClr val="141C26"/>
                </a:solidFill>
                <a:latin typeface="Aptos"/>
              </a:rPr>
              <a:t>Authenticate to the data provider and hydrate the files you need—on demand.</a:t>
            </a:r>
          </a:p>
        </p:txBody>
      </p:sp>
      <p:sp>
        <p:nvSpPr>
          <p:cNvPr id="6" name="Oval 5"/>
          <p:cNvSpPr/>
          <p:nvPr/>
        </p:nvSpPr>
        <p:spPr>
          <a:xfrm>
            <a:off x="384048" y="2148840"/>
            <a:ext cx="457200" cy="457200"/>
          </a:xfrm>
          <a:prstGeom prst="ellipse">
            <a:avLst/>
          </a:prstGeom>
          <a:solidFill>
            <a:srgbClr val="FFFFFF"/>
          </a:solidFill>
          <a:ln>
            <a:solidFill>
              <a:srgbClr val="008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2148840"/>
            <a:ext cx="457200" cy="457200"/>
          </a:xfrm>
          <a:prstGeom prst="rect">
            <a:avLst/>
          </a:prstGeom>
          <a:noFill/>
        </p:spPr>
        <p:txBody>
          <a:bodyPr wrap="square" anchor="ctr">
            <a:spAutoFit/>
          </a:bodyPr>
          <a:lstStyle/>
          <a:p>
            <a:pPr algn="ctr"/>
            <a:r>
              <a:rPr sz="1500" b="1">
                <a:solidFill>
                  <a:srgbClr val="008280"/>
                </a:solidFill>
                <a:latin typeface="Aptos"/>
              </a:rPr>
              <a:t>🔒</a:t>
            </a:r>
          </a:p>
        </p:txBody>
      </p:sp>
      <p:sp>
        <p:nvSpPr>
          <p:cNvPr id="8" name="TextBox 7"/>
          <p:cNvSpPr txBox="1"/>
          <p:nvPr/>
        </p:nvSpPr>
        <p:spPr>
          <a:xfrm>
            <a:off x="950976" y="2103120"/>
            <a:ext cx="1600200" cy="274320"/>
          </a:xfrm>
          <a:prstGeom prst="rect">
            <a:avLst/>
          </a:prstGeom>
          <a:noFill/>
        </p:spPr>
        <p:txBody>
          <a:bodyPr wrap="square" anchor="ctr">
            <a:spAutoFit/>
          </a:bodyPr>
          <a:lstStyle/>
          <a:p>
            <a:pPr algn="l"/>
            <a:r>
              <a:rPr sz="1080" b="1">
                <a:solidFill>
                  <a:srgbClr val="008280"/>
                </a:solidFill>
                <a:latin typeface="Aptos"/>
              </a:rPr>
              <a:t>Secure by Design</a:t>
            </a:r>
          </a:p>
        </p:txBody>
      </p:sp>
      <p:sp>
        <p:nvSpPr>
          <p:cNvPr id="9" name="TextBox 8"/>
          <p:cNvSpPr txBox="1"/>
          <p:nvPr/>
        </p:nvSpPr>
        <p:spPr>
          <a:xfrm>
            <a:off x="950976" y="2395728"/>
            <a:ext cx="1645920" cy="667512"/>
          </a:xfrm>
          <a:prstGeom prst="rect">
            <a:avLst/>
          </a:prstGeom>
          <a:noFill/>
        </p:spPr>
        <p:txBody>
          <a:bodyPr wrap="square" anchor="ctr">
            <a:spAutoFit/>
          </a:bodyPr>
          <a:lstStyle/>
          <a:p>
            <a:pPr algn="l"/>
            <a:r>
              <a:rPr sz="869" b="0">
                <a:solidFill>
                  <a:srgbClr val="141C26"/>
                </a:solidFill>
                <a:latin typeface="Aptos"/>
              </a:rPr>
              <a:t>Authorization and tokens</a:t>
            </a:r>
            <a:br/>
            <a:r>
              <a:rPr sz="869" b="0">
                <a:solidFill>
                  <a:srgbClr val="141C26"/>
                </a:solidFill>
                <a:latin typeface="Aptos"/>
              </a:rPr>
              <a:t>are resolved when data</a:t>
            </a:r>
            <a:br/>
            <a:r>
              <a:rPr sz="869" b="0">
                <a:solidFill>
                  <a:srgbClr val="141C26"/>
                </a:solidFill>
                <a:latin typeface="Aptos"/>
              </a:rPr>
              <a:t>is accessed—never stored</a:t>
            </a:r>
            <a:br/>
            <a:r>
              <a:rPr sz="869" b="0">
                <a:solidFill>
                  <a:srgbClr val="141C26"/>
                </a:solidFill>
                <a:latin typeface="Aptos"/>
              </a:rPr>
              <a:t>in Git.</a:t>
            </a:r>
          </a:p>
        </p:txBody>
      </p:sp>
      <p:sp>
        <p:nvSpPr>
          <p:cNvPr id="10" name="Oval 9"/>
          <p:cNvSpPr/>
          <p:nvPr/>
        </p:nvSpPr>
        <p:spPr>
          <a:xfrm>
            <a:off x="2670048" y="2148840"/>
            <a:ext cx="457200" cy="457200"/>
          </a:xfrm>
          <a:prstGeom prst="ellipse">
            <a:avLst/>
          </a:prstGeom>
          <a:solidFill>
            <a:srgbClr val="FFFFFF"/>
          </a:solidFill>
          <a:ln>
            <a:solidFill>
              <a:srgbClr val="1053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670048" y="2148840"/>
            <a:ext cx="457200" cy="457200"/>
          </a:xfrm>
          <a:prstGeom prst="rect">
            <a:avLst/>
          </a:prstGeom>
          <a:noFill/>
        </p:spPr>
        <p:txBody>
          <a:bodyPr wrap="square" anchor="ctr">
            <a:spAutoFit/>
          </a:bodyPr>
          <a:lstStyle/>
          <a:p>
            <a:pPr algn="ctr"/>
            <a:r>
              <a:rPr sz="1500" b="1">
                <a:solidFill>
                  <a:srgbClr val="1053A9"/>
                </a:solidFill>
                <a:latin typeface="Aptos"/>
              </a:rPr>
              <a:t>◷</a:t>
            </a:r>
          </a:p>
        </p:txBody>
      </p:sp>
      <p:sp>
        <p:nvSpPr>
          <p:cNvPr id="12" name="TextBox 11"/>
          <p:cNvSpPr txBox="1"/>
          <p:nvPr/>
        </p:nvSpPr>
        <p:spPr>
          <a:xfrm>
            <a:off x="3236976" y="2103120"/>
            <a:ext cx="1600200" cy="274320"/>
          </a:xfrm>
          <a:prstGeom prst="rect">
            <a:avLst/>
          </a:prstGeom>
          <a:noFill/>
        </p:spPr>
        <p:txBody>
          <a:bodyPr wrap="square" anchor="ctr">
            <a:spAutoFit/>
          </a:bodyPr>
          <a:lstStyle/>
          <a:p>
            <a:pPr algn="l"/>
            <a:r>
              <a:rPr sz="1080" b="1">
                <a:solidFill>
                  <a:srgbClr val="1053A9"/>
                </a:solidFill>
                <a:latin typeface="Aptos"/>
              </a:rPr>
              <a:t>Reproducible</a:t>
            </a:r>
          </a:p>
        </p:txBody>
      </p:sp>
      <p:sp>
        <p:nvSpPr>
          <p:cNvPr id="13" name="TextBox 12"/>
          <p:cNvSpPr txBox="1"/>
          <p:nvPr/>
        </p:nvSpPr>
        <p:spPr>
          <a:xfrm>
            <a:off x="3236976" y="2395728"/>
            <a:ext cx="1645920" cy="667512"/>
          </a:xfrm>
          <a:prstGeom prst="rect">
            <a:avLst/>
          </a:prstGeom>
          <a:noFill/>
        </p:spPr>
        <p:txBody>
          <a:bodyPr wrap="square" anchor="ctr">
            <a:spAutoFit/>
          </a:bodyPr>
          <a:lstStyle/>
          <a:p>
            <a:pPr algn="l"/>
            <a:r>
              <a:rPr sz="869" b="0">
                <a:solidFill>
                  <a:srgbClr val="141C26"/>
                </a:solidFill>
                <a:latin typeface="Aptos"/>
              </a:rPr>
              <a:t>Git versions the dataset</a:t>
            </a:r>
            <a:br/>
            <a:r>
              <a:rPr sz="869" b="0">
                <a:solidFill>
                  <a:srgbClr val="141C26"/>
                </a:solidFill>
                <a:latin typeface="Aptos"/>
              </a:rPr>
              <a:t>structure and references</a:t>
            </a:r>
            <a:br/>
            <a:r>
              <a:rPr sz="869" b="0">
                <a:solidFill>
                  <a:srgbClr val="141C26"/>
                </a:solidFill>
                <a:latin typeface="Aptos"/>
              </a:rPr>
              <a:t>so results can be reliably</a:t>
            </a:r>
            <a:br/>
            <a:r>
              <a:rPr sz="869" b="0">
                <a:solidFill>
                  <a:srgbClr val="141C26"/>
                </a:solidFill>
                <a:latin typeface="Aptos"/>
              </a:rPr>
              <a:t>reproduced.</a:t>
            </a:r>
          </a:p>
        </p:txBody>
      </p:sp>
      <p:sp>
        <p:nvSpPr>
          <p:cNvPr id="14" name="Oval 13"/>
          <p:cNvSpPr/>
          <p:nvPr/>
        </p:nvSpPr>
        <p:spPr>
          <a:xfrm>
            <a:off x="4919472" y="2148840"/>
            <a:ext cx="457200" cy="457200"/>
          </a:xfrm>
          <a:prstGeom prst="ellipse">
            <a:avLst/>
          </a:prstGeom>
          <a:solidFill>
            <a:srgbClr val="FFFFFF"/>
          </a:solidFill>
          <a:ln>
            <a:solidFill>
              <a:srgbClr val="653A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19472" y="2148840"/>
            <a:ext cx="457200" cy="457200"/>
          </a:xfrm>
          <a:prstGeom prst="rect">
            <a:avLst/>
          </a:prstGeom>
          <a:noFill/>
        </p:spPr>
        <p:txBody>
          <a:bodyPr wrap="square" anchor="ctr">
            <a:spAutoFit/>
          </a:bodyPr>
          <a:lstStyle/>
          <a:p>
            <a:pPr algn="ctr"/>
            <a:r>
              <a:rPr sz="1500" b="1">
                <a:solidFill>
                  <a:srgbClr val="653A93"/>
                </a:solidFill>
                <a:latin typeface="Aptos"/>
              </a:rPr>
              <a:t>●●●</a:t>
            </a:r>
          </a:p>
        </p:txBody>
      </p:sp>
      <p:sp>
        <p:nvSpPr>
          <p:cNvPr id="16" name="TextBox 15"/>
          <p:cNvSpPr txBox="1"/>
          <p:nvPr/>
        </p:nvSpPr>
        <p:spPr>
          <a:xfrm>
            <a:off x="5486400" y="2103120"/>
            <a:ext cx="1600200" cy="274320"/>
          </a:xfrm>
          <a:prstGeom prst="rect">
            <a:avLst/>
          </a:prstGeom>
          <a:noFill/>
        </p:spPr>
        <p:txBody>
          <a:bodyPr wrap="square" anchor="ctr">
            <a:spAutoFit/>
          </a:bodyPr>
          <a:lstStyle/>
          <a:p>
            <a:pPr algn="l"/>
            <a:r>
              <a:rPr sz="1080" b="1">
                <a:solidFill>
                  <a:srgbClr val="653A93"/>
                </a:solidFill>
                <a:latin typeface="Aptos"/>
              </a:rPr>
              <a:t>Collaborative</a:t>
            </a:r>
          </a:p>
        </p:txBody>
      </p:sp>
      <p:sp>
        <p:nvSpPr>
          <p:cNvPr id="17" name="TextBox 16"/>
          <p:cNvSpPr txBox="1"/>
          <p:nvPr/>
        </p:nvSpPr>
        <p:spPr>
          <a:xfrm>
            <a:off x="5486400" y="2395728"/>
            <a:ext cx="1645920" cy="667512"/>
          </a:xfrm>
          <a:prstGeom prst="rect">
            <a:avLst/>
          </a:prstGeom>
          <a:noFill/>
        </p:spPr>
        <p:txBody>
          <a:bodyPr wrap="square" anchor="ctr">
            <a:spAutoFit/>
          </a:bodyPr>
          <a:lstStyle/>
          <a:p>
            <a:pPr algn="l"/>
            <a:r>
              <a:rPr sz="869" b="0">
                <a:solidFill>
                  <a:srgbClr val="141C26"/>
                </a:solidFill>
                <a:latin typeface="Aptos"/>
              </a:rPr>
              <a:t>Share the same dataset</a:t>
            </a:r>
            <a:br/>
            <a:r>
              <a:rPr sz="869" b="0">
                <a:solidFill>
                  <a:srgbClr val="141C26"/>
                </a:solidFill>
                <a:latin typeface="Aptos"/>
              </a:rPr>
              <a:t>layout with your team</a:t>
            </a:r>
            <a:br/>
            <a:r>
              <a:rPr sz="869" b="0">
                <a:solidFill>
                  <a:srgbClr val="141C26"/>
                </a:solidFill>
                <a:latin typeface="Aptos"/>
              </a:rPr>
              <a:t>without duplicating data.</a:t>
            </a:r>
          </a:p>
        </p:txBody>
      </p:sp>
      <p:sp>
        <p:nvSpPr>
          <p:cNvPr id="18" name="Oval 17"/>
          <p:cNvSpPr/>
          <p:nvPr/>
        </p:nvSpPr>
        <p:spPr>
          <a:xfrm>
            <a:off x="7150608" y="2148840"/>
            <a:ext cx="457200" cy="457200"/>
          </a:xfrm>
          <a:prstGeom prst="ellipse">
            <a:avLst/>
          </a:prstGeom>
          <a:solidFill>
            <a:srgbClr val="FFFFFF"/>
          </a:solidFill>
          <a:ln>
            <a:solidFill>
              <a:srgbClr val="43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50608" y="2148840"/>
            <a:ext cx="457200" cy="457200"/>
          </a:xfrm>
          <a:prstGeom prst="rect">
            <a:avLst/>
          </a:prstGeom>
          <a:noFill/>
        </p:spPr>
        <p:txBody>
          <a:bodyPr wrap="square" anchor="ctr">
            <a:spAutoFit/>
          </a:bodyPr>
          <a:lstStyle/>
          <a:p>
            <a:pPr algn="ctr"/>
            <a:r>
              <a:rPr sz="1500" b="1">
                <a:solidFill>
                  <a:srgbClr val="438F18"/>
                </a:solidFill>
                <a:latin typeface="Aptos"/>
              </a:rPr>
              <a:t>⇩</a:t>
            </a:r>
          </a:p>
        </p:txBody>
      </p:sp>
      <p:sp>
        <p:nvSpPr>
          <p:cNvPr id="20" name="TextBox 19"/>
          <p:cNvSpPr txBox="1"/>
          <p:nvPr/>
        </p:nvSpPr>
        <p:spPr>
          <a:xfrm>
            <a:off x="7717536" y="2103120"/>
            <a:ext cx="1600200" cy="274320"/>
          </a:xfrm>
          <a:prstGeom prst="rect">
            <a:avLst/>
          </a:prstGeom>
          <a:noFill/>
        </p:spPr>
        <p:txBody>
          <a:bodyPr wrap="square" anchor="ctr">
            <a:spAutoFit/>
          </a:bodyPr>
          <a:lstStyle/>
          <a:p>
            <a:pPr algn="l"/>
            <a:r>
              <a:rPr sz="1080" b="1">
                <a:solidFill>
                  <a:srgbClr val="438F18"/>
                </a:solidFill>
                <a:latin typeface="Aptos"/>
              </a:rPr>
              <a:t>On-Demand Access</a:t>
            </a:r>
          </a:p>
        </p:txBody>
      </p:sp>
      <p:sp>
        <p:nvSpPr>
          <p:cNvPr id="21" name="TextBox 20"/>
          <p:cNvSpPr txBox="1"/>
          <p:nvPr/>
        </p:nvSpPr>
        <p:spPr>
          <a:xfrm>
            <a:off x="7717536" y="2395728"/>
            <a:ext cx="1645920" cy="667512"/>
          </a:xfrm>
          <a:prstGeom prst="rect">
            <a:avLst/>
          </a:prstGeom>
          <a:noFill/>
        </p:spPr>
        <p:txBody>
          <a:bodyPr wrap="square" anchor="ctr">
            <a:spAutoFit/>
          </a:bodyPr>
          <a:lstStyle/>
          <a:p>
            <a:pPr algn="l"/>
            <a:r>
              <a:rPr sz="869" b="0">
                <a:solidFill>
                  <a:srgbClr val="141C26"/>
                </a:solidFill>
                <a:latin typeface="Aptos"/>
              </a:rPr>
              <a:t>Hydrate only the files</a:t>
            </a:r>
            <a:br/>
            <a:r>
              <a:rPr sz="869" b="0">
                <a:solidFill>
                  <a:srgbClr val="141C26"/>
                </a:solidFill>
                <a:latin typeface="Aptos"/>
              </a:rPr>
              <a:t>you need, when you</a:t>
            </a:r>
            <a:br/>
            <a:r>
              <a:rPr sz="869" b="0">
                <a:solidFill>
                  <a:srgbClr val="141C26"/>
                </a:solidFill>
                <a:latin typeface="Aptos"/>
              </a:rPr>
              <a:t>need them.</a:t>
            </a:r>
          </a:p>
        </p:txBody>
      </p:sp>
      <p:sp>
        <p:nvSpPr>
          <p:cNvPr id="22" name="Oval 21"/>
          <p:cNvSpPr/>
          <p:nvPr/>
        </p:nvSpPr>
        <p:spPr>
          <a:xfrm>
            <a:off x="9372600" y="2148840"/>
            <a:ext cx="457200" cy="457200"/>
          </a:xfrm>
          <a:prstGeom prst="ellipse">
            <a:avLst/>
          </a:prstGeom>
          <a:solidFill>
            <a:srgbClr val="FFFFFF"/>
          </a:solidFill>
          <a:ln>
            <a:solidFill>
              <a:srgbClr val="E65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72600" y="2148840"/>
            <a:ext cx="457200" cy="457200"/>
          </a:xfrm>
          <a:prstGeom prst="rect">
            <a:avLst/>
          </a:prstGeom>
          <a:noFill/>
        </p:spPr>
        <p:txBody>
          <a:bodyPr wrap="square" anchor="ctr">
            <a:spAutoFit/>
          </a:bodyPr>
          <a:lstStyle/>
          <a:p>
            <a:pPr algn="ctr"/>
            <a:r>
              <a:rPr sz="1500" b="1">
                <a:solidFill>
                  <a:srgbClr val="E65C00"/>
                </a:solidFill>
                <a:latin typeface="Aptos"/>
              </a:rPr>
              <a:t>✓</a:t>
            </a:r>
          </a:p>
        </p:txBody>
      </p:sp>
      <p:sp>
        <p:nvSpPr>
          <p:cNvPr id="24" name="TextBox 23"/>
          <p:cNvSpPr txBox="1"/>
          <p:nvPr/>
        </p:nvSpPr>
        <p:spPr>
          <a:xfrm>
            <a:off x="9939528" y="2103120"/>
            <a:ext cx="1600200" cy="274320"/>
          </a:xfrm>
          <a:prstGeom prst="rect">
            <a:avLst/>
          </a:prstGeom>
          <a:noFill/>
        </p:spPr>
        <p:txBody>
          <a:bodyPr wrap="square" anchor="ctr">
            <a:spAutoFit/>
          </a:bodyPr>
          <a:lstStyle/>
          <a:p>
            <a:pPr algn="l"/>
            <a:r>
              <a:rPr sz="1080" b="1">
                <a:solidFill>
                  <a:srgbClr val="E65C00"/>
                </a:solidFill>
                <a:latin typeface="Aptos"/>
              </a:rPr>
              <a:t>Storage Agnostic</a:t>
            </a:r>
          </a:p>
        </p:txBody>
      </p:sp>
      <p:sp>
        <p:nvSpPr>
          <p:cNvPr id="25" name="TextBox 24"/>
          <p:cNvSpPr txBox="1"/>
          <p:nvPr/>
        </p:nvSpPr>
        <p:spPr>
          <a:xfrm>
            <a:off x="9939528" y="2395728"/>
            <a:ext cx="1645920" cy="667512"/>
          </a:xfrm>
          <a:prstGeom prst="rect">
            <a:avLst/>
          </a:prstGeom>
          <a:noFill/>
        </p:spPr>
        <p:txBody>
          <a:bodyPr wrap="square" anchor="ctr">
            <a:spAutoFit/>
          </a:bodyPr>
          <a:lstStyle/>
          <a:p>
            <a:pPr algn="l"/>
            <a:r>
              <a:rPr sz="869" b="0">
                <a:solidFill>
                  <a:srgbClr val="141C26"/>
                </a:solidFill>
                <a:latin typeface="Aptos"/>
              </a:rPr>
              <a:t>Works with any DRS-</a:t>
            </a:r>
            <a:br/>
            <a:r>
              <a:rPr sz="869" b="0">
                <a:solidFill>
                  <a:srgbClr val="141C26"/>
                </a:solidFill>
                <a:latin typeface="Aptos"/>
              </a:rPr>
              <a:t>enabled data repository</a:t>
            </a:r>
            <a:br/>
            <a:r>
              <a:rPr sz="869" b="0">
                <a:solidFill>
                  <a:srgbClr val="141C26"/>
                </a:solidFill>
                <a:latin typeface="Aptos"/>
              </a:rPr>
              <a:t>or cloud backend.</a:t>
            </a:r>
          </a:p>
        </p:txBody>
      </p:sp>
      <p:cxnSp>
        <p:nvCxnSpPr>
          <p:cNvPr id="26" name="Connector 25"/>
          <p:cNvCxnSpPr/>
          <p:nvPr/>
        </p:nvCxnSpPr>
        <p:spPr>
          <a:xfrm>
            <a:off x="384048" y="3182112"/>
            <a:ext cx="11091672" cy="0"/>
          </a:xfrm>
          <a:prstGeom prst="line">
            <a:avLst/>
          </a:prstGeom>
          <a:ln w="12700">
            <a:solidFill>
              <a:srgbClr val="DAE0E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395728" y="3291840"/>
            <a:ext cx="4937760" cy="274320"/>
          </a:xfrm>
          <a:prstGeom prst="rect">
            <a:avLst/>
          </a:prstGeom>
          <a:noFill/>
        </p:spPr>
        <p:txBody>
          <a:bodyPr wrap="square" anchor="ctr">
            <a:spAutoFit/>
          </a:bodyPr>
          <a:lstStyle/>
          <a:p>
            <a:pPr algn="l"/>
            <a:r>
              <a:rPr sz="1350" b="1" dirty="0">
                <a:solidFill>
                  <a:srgbClr val="041F4F"/>
                </a:solidFill>
                <a:latin typeface="Aptos"/>
              </a:rPr>
              <a:t>The git-drs Data Consumer Workflow</a:t>
            </a:r>
          </a:p>
        </p:txBody>
      </p:sp>
      <p:sp>
        <p:nvSpPr>
          <p:cNvPr id="28" name="Oval 27"/>
          <p:cNvSpPr/>
          <p:nvPr/>
        </p:nvSpPr>
        <p:spPr>
          <a:xfrm>
            <a:off x="502920" y="3639312"/>
            <a:ext cx="274320" cy="274320"/>
          </a:xfrm>
          <a:prstGeom prst="ellipse">
            <a:avLst/>
          </a:prstGeom>
          <a:solidFill>
            <a:srgbClr val="008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3639312"/>
            <a:ext cx="274320" cy="274320"/>
          </a:xfrm>
          <a:prstGeom prst="rect">
            <a:avLst/>
          </a:prstGeom>
          <a:noFill/>
        </p:spPr>
        <p:txBody>
          <a:bodyPr wrap="square" anchor="ctr">
            <a:spAutoFit/>
          </a:bodyPr>
          <a:lstStyle/>
          <a:p>
            <a:pPr algn="ctr"/>
            <a:r>
              <a:rPr sz="1000" b="1">
                <a:solidFill>
                  <a:srgbClr val="FFFFFF"/>
                </a:solidFill>
                <a:latin typeface="Aptos"/>
              </a:rPr>
              <a:t>1</a:t>
            </a:r>
          </a:p>
        </p:txBody>
      </p:sp>
      <p:sp>
        <p:nvSpPr>
          <p:cNvPr id="30" name="TextBox 29"/>
          <p:cNvSpPr txBox="1"/>
          <p:nvPr/>
        </p:nvSpPr>
        <p:spPr>
          <a:xfrm>
            <a:off x="886968" y="3602736"/>
            <a:ext cx="2057400" cy="256032"/>
          </a:xfrm>
          <a:prstGeom prst="rect">
            <a:avLst/>
          </a:prstGeom>
          <a:noFill/>
        </p:spPr>
        <p:txBody>
          <a:bodyPr wrap="square" anchor="ctr">
            <a:spAutoFit/>
          </a:bodyPr>
          <a:lstStyle/>
          <a:p>
            <a:pPr algn="l"/>
            <a:r>
              <a:rPr sz="1030" b="1">
                <a:solidFill>
                  <a:srgbClr val="008280"/>
                </a:solidFill>
                <a:latin typeface="Aptos"/>
              </a:rPr>
              <a:t>Clone Repository</a:t>
            </a:r>
          </a:p>
        </p:txBody>
      </p:sp>
      <p:sp>
        <p:nvSpPr>
          <p:cNvPr id="31" name="TextBox 30"/>
          <p:cNvSpPr txBox="1"/>
          <p:nvPr/>
        </p:nvSpPr>
        <p:spPr>
          <a:xfrm>
            <a:off x="886968" y="3867912"/>
            <a:ext cx="2057400" cy="365760"/>
          </a:xfrm>
          <a:prstGeom prst="rect">
            <a:avLst/>
          </a:prstGeom>
          <a:noFill/>
        </p:spPr>
        <p:txBody>
          <a:bodyPr wrap="square" anchor="ctr">
            <a:spAutoFit/>
          </a:bodyPr>
          <a:lstStyle/>
          <a:p>
            <a:pPr algn="l"/>
            <a:r>
              <a:rPr sz="850" b="0">
                <a:solidFill>
                  <a:srgbClr val="141C26"/>
                </a:solidFill>
                <a:latin typeface="Aptos"/>
              </a:rPr>
              <a:t>Get the dataset references</a:t>
            </a:r>
            <a:br/>
            <a:r>
              <a:rPr sz="850" b="0">
                <a:solidFill>
                  <a:srgbClr val="141C26"/>
                </a:solidFill>
                <a:latin typeface="Aptos"/>
              </a:rPr>
              <a:t>(not the data).</a:t>
            </a:r>
          </a:p>
        </p:txBody>
      </p:sp>
      <p:sp>
        <p:nvSpPr>
          <p:cNvPr id="32" name="Oval 31"/>
          <p:cNvSpPr/>
          <p:nvPr/>
        </p:nvSpPr>
        <p:spPr>
          <a:xfrm>
            <a:off x="3246120" y="3639312"/>
            <a:ext cx="274320" cy="274320"/>
          </a:xfrm>
          <a:prstGeom prst="ellipse">
            <a:avLst/>
          </a:prstGeom>
          <a:solidFill>
            <a:srgbClr val="1053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46120" y="3639312"/>
            <a:ext cx="274320" cy="274320"/>
          </a:xfrm>
          <a:prstGeom prst="rect">
            <a:avLst/>
          </a:prstGeom>
          <a:noFill/>
        </p:spPr>
        <p:txBody>
          <a:bodyPr wrap="square" anchor="ctr">
            <a:spAutoFit/>
          </a:bodyPr>
          <a:lstStyle/>
          <a:p>
            <a:pPr algn="ctr"/>
            <a:r>
              <a:rPr sz="1000" b="1">
                <a:solidFill>
                  <a:srgbClr val="FFFFFF"/>
                </a:solidFill>
                <a:latin typeface="Aptos"/>
              </a:rPr>
              <a:t>2</a:t>
            </a:r>
          </a:p>
        </p:txBody>
      </p:sp>
      <p:sp>
        <p:nvSpPr>
          <p:cNvPr id="34" name="TextBox 33"/>
          <p:cNvSpPr txBox="1"/>
          <p:nvPr/>
        </p:nvSpPr>
        <p:spPr>
          <a:xfrm>
            <a:off x="3630168" y="3602736"/>
            <a:ext cx="2057400" cy="256032"/>
          </a:xfrm>
          <a:prstGeom prst="rect">
            <a:avLst/>
          </a:prstGeom>
          <a:noFill/>
        </p:spPr>
        <p:txBody>
          <a:bodyPr wrap="square" anchor="ctr">
            <a:spAutoFit/>
          </a:bodyPr>
          <a:lstStyle/>
          <a:p>
            <a:pPr algn="l"/>
            <a:r>
              <a:rPr sz="1030" b="1">
                <a:solidFill>
                  <a:srgbClr val="1053A9"/>
                </a:solidFill>
                <a:latin typeface="Aptos"/>
              </a:rPr>
              <a:t>Configure Terra Remote</a:t>
            </a:r>
          </a:p>
        </p:txBody>
      </p:sp>
      <p:sp>
        <p:nvSpPr>
          <p:cNvPr id="35" name="TextBox 34"/>
          <p:cNvSpPr txBox="1"/>
          <p:nvPr/>
        </p:nvSpPr>
        <p:spPr>
          <a:xfrm>
            <a:off x="3630168" y="3867912"/>
            <a:ext cx="2057400" cy="365760"/>
          </a:xfrm>
          <a:prstGeom prst="rect">
            <a:avLst/>
          </a:prstGeom>
          <a:noFill/>
        </p:spPr>
        <p:txBody>
          <a:bodyPr wrap="square" anchor="ctr">
            <a:spAutoFit/>
          </a:bodyPr>
          <a:lstStyle/>
          <a:p>
            <a:pPr algn="l"/>
            <a:r>
              <a:rPr sz="850" b="0">
                <a:solidFill>
                  <a:srgbClr val="141C26"/>
                </a:solidFill>
                <a:latin typeface="Aptos"/>
              </a:rPr>
              <a:t>Set up local access to</a:t>
            </a:r>
            <a:br/>
            <a:r>
              <a:rPr sz="850" b="0">
                <a:solidFill>
                  <a:srgbClr val="141C26"/>
                </a:solidFill>
                <a:latin typeface="Aptos"/>
              </a:rPr>
              <a:t>AnVIL data.</a:t>
            </a:r>
          </a:p>
        </p:txBody>
      </p:sp>
      <p:sp>
        <p:nvSpPr>
          <p:cNvPr id="36" name="Oval 35"/>
          <p:cNvSpPr/>
          <p:nvPr/>
        </p:nvSpPr>
        <p:spPr>
          <a:xfrm>
            <a:off x="6035040" y="3639312"/>
            <a:ext cx="274320" cy="274320"/>
          </a:xfrm>
          <a:prstGeom prst="ellipse">
            <a:avLst/>
          </a:prstGeom>
          <a:solidFill>
            <a:srgbClr val="653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035040" y="3639312"/>
            <a:ext cx="274320" cy="274320"/>
          </a:xfrm>
          <a:prstGeom prst="rect">
            <a:avLst/>
          </a:prstGeom>
          <a:noFill/>
        </p:spPr>
        <p:txBody>
          <a:bodyPr wrap="square" anchor="ctr">
            <a:spAutoFit/>
          </a:bodyPr>
          <a:lstStyle/>
          <a:p>
            <a:pPr algn="ctr"/>
            <a:r>
              <a:rPr sz="1000" b="1">
                <a:solidFill>
                  <a:srgbClr val="FFFFFF"/>
                </a:solidFill>
                <a:latin typeface="Aptos"/>
              </a:rPr>
              <a:t>3</a:t>
            </a:r>
          </a:p>
        </p:txBody>
      </p:sp>
      <p:sp>
        <p:nvSpPr>
          <p:cNvPr id="38" name="TextBox 37"/>
          <p:cNvSpPr txBox="1"/>
          <p:nvPr/>
        </p:nvSpPr>
        <p:spPr>
          <a:xfrm>
            <a:off x="6419088" y="3602736"/>
            <a:ext cx="2057400" cy="256032"/>
          </a:xfrm>
          <a:prstGeom prst="rect">
            <a:avLst/>
          </a:prstGeom>
          <a:noFill/>
        </p:spPr>
        <p:txBody>
          <a:bodyPr wrap="square" anchor="ctr">
            <a:spAutoFit/>
          </a:bodyPr>
          <a:lstStyle/>
          <a:p>
            <a:pPr algn="l"/>
            <a:r>
              <a:rPr sz="1030" b="1">
                <a:solidFill>
                  <a:srgbClr val="653A93"/>
                </a:solidFill>
                <a:latin typeface="Aptos"/>
              </a:rPr>
              <a:t>Hydrate Files</a:t>
            </a:r>
          </a:p>
        </p:txBody>
      </p:sp>
      <p:sp>
        <p:nvSpPr>
          <p:cNvPr id="39" name="TextBox 38"/>
          <p:cNvSpPr txBox="1"/>
          <p:nvPr/>
        </p:nvSpPr>
        <p:spPr>
          <a:xfrm>
            <a:off x="6419088" y="3867912"/>
            <a:ext cx="2057400" cy="365760"/>
          </a:xfrm>
          <a:prstGeom prst="rect">
            <a:avLst/>
          </a:prstGeom>
          <a:noFill/>
        </p:spPr>
        <p:txBody>
          <a:bodyPr wrap="square" anchor="ctr">
            <a:spAutoFit/>
          </a:bodyPr>
          <a:lstStyle/>
          <a:p>
            <a:pPr algn="l"/>
            <a:r>
              <a:rPr sz="850" b="0">
                <a:solidFill>
                  <a:srgbClr val="141C26"/>
                </a:solidFill>
                <a:latin typeface="Aptos"/>
              </a:rPr>
              <a:t>Download and validate the files</a:t>
            </a:r>
            <a:br/>
            <a:r>
              <a:rPr sz="850" b="0">
                <a:solidFill>
                  <a:srgbClr val="141C26"/>
                </a:solidFill>
                <a:latin typeface="Aptos"/>
              </a:rPr>
              <a:t>you are authorized to use.</a:t>
            </a:r>
          </a:p>
        </p:txBody>
      </p:sp>
      <p:cxnSp>
        <p:nvCxnSpPr>
          <p:cNvPr id="40" name="Connector 39"/>
          <p:cNvCxnSpPr/>
          <p:nvPr/>
        </p:nvCxnSpPr>
        <p:spPr>
          <a:xfrm>
            <a:off x="2624328" y="3767328"/>
            <a:ext cx="420624" cy="0"/>
          </a:xfrm>
          <a:prstGeom prst="line">
            <a:avLst/>
          </a:prstGeom>
          <a:ln w="21590">
            <a:solidFill>
              <a:srgbClr val="969DA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376672" y="3767328"/>
            <a:ext cx="429768" cy="0"/>
          </a:xfrm>
          <a:prstGeom prst="line">
            <a:avLst/>
          </a:prstGeom>
          <a:ln w="21590">
            <a:solidFill>
              <a:srgbClr val="969DA6"/>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384048" y="4315968"/>
            <a:ext cx="2450592" cy="960120"/>
          </a:xfrm>
          <a:prstGeom prst="roundRect">
            <a:avLst/>
          </a:prstGeom>
          <a:solidFill>
            <a:srgbClr val="F8FCFC"/>
          </a:solidFill>
          <a:ln w="12700">
            <a:solidFill>
              <a:srgbClr val="008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2920" y="4389120"/>
            <a:ext cx="2212848" cy="758952"/>
          </a:xfrm>
          <a:prstGeom prst="rect">
            <a:avLst/>
          </a:prstGeom>
          <a:noFill/>
        </p:spPr>
        <p:txBody>
          <a:bodyPr wrap="square" anchor="ctr">
            <a:spAutoFit/>
          </a:bodyPr>
          <a:lstStyle/>
          <a:p>
            <a:pPr algn="l"/>
            <a:r>
              <a:rPr sz="750" b="0">
                <a:solidFill>
                  <a:srgbClr val="141C26"/>
                </a:solidFill>
                <a:latin typeface="Aptos Mono"/>
              </a:rPr>
              <a:t>gcloud auth application-default login</a:t>
            </a:r>
            <a:br/>
            <a:br/>
            <a:r>
              <a:rPr sz="750" b="0">
                <a:solidFill>
                  <a:srgbClr val="141C26"/>
                </a:solidFill>
                <a:latin typeface="Aptos Mono"/>
              </a:rPr>
              <a:t>git clone https://github.com/org/</a:t>
            </a:r>
            <a:br/>
            <a:r>
              <a:rPr sz="750" b="0">
                <a:solidFill>
                  <a:srgbClr val="141C26"/>
                </a:solidFill>
                <a:latin typeface="Aptos Mono"/>
              </a:rPr>
              <a:t>ANVIL_1000G_PRIMED_data_model.git</a:t>
            </a:r>
          </a:p>
        </p:txBody>
      </p:sp>
      <p:sp>
        <p:nvSpPr>
          <p:cNvPr id="44" name="Rounded Rectangle 43"/>
          <p:cNvSpPr/>
          <p:nvPr/>
        </p:nvSpPr>
        <p:spPr>
          <a:xfrm>
            <a:off x="3154680" y="4315968"/>
            <a:ext cx="2468880" cy="612648"/>
          </a:xfrm>
          <a:prstGeom prst="roundRect">
            <a:avLst/>
          </a:prstGeom>
          <a:solidFill>
            <a:srgbClr val="F8FCFC"/>
          </a:solidFill>
          <a:ln w="12700">
            <a:solidFill>
              <a:srgbClr val="1053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273552" y="4389120"/>
            <a:ext cx="2240280" cy="429768"/>
          </a:xfrm>
          <a:prstGeom prst="rect">
            <a:avLst/>
          </a:prstGeom>
          <a:noFill/>
        </p:spPr>
        <p:txBody>
          <a:bodyPr wrap="square" anchor="ctr">
            <a:spAutoFit/>
          </a:bodyPr>
          <a:lstStyle/>
          <a:p>
            <a:pPr algn="l"/>
            <a:r>
              <a:rPr sz="770" b="0">
                <a:solidFill>
                  <a:srgbClr val="141C26"/>
                </a:solidFill>
                <a:latin typeface="Aptos Mono"/>
              </a:rPr>
              <a:t>git drs remote add anvil terra</a:t>
            </a:r>
            <a:br/>
            <a:r>
              <a:rPr sz="770" b="0">
                <a:solidFill>
                  <a:srgbClr val="141C26"/>
                </a:solidFill>
                <a:latin typeface="Aptos Mono"/>
              </a:rPr>
              <a:t>--checkout hydrate</a:t>
            </a:r>
          </a:p>
        </p:txBody>
      </p:sp>
      <p:sp>
        <p:nvSpPr>
          <p:cNvPr id="46" name="Rounded Rectangle 45"/>
          <p:cNvSpPr/>
          <p:nvPr/>
        </p:nvSpPr>
        <p:spPr>
          <a:xfrm>
            <a:off x="5925312" y="4315968"/>
            <a:ext cx="2304288" cy="768096"/>
          </a:xfrm>
          <a:prstGeom prst="roundRect">
            <a:avLst/>
          </a:prstGeom>
          <a:solidFill>
            <a:srgbClr val="F8FCFC"/>
          </a:solidFill>
          <a:ln w="12700">
            <a:solidFill>
              <a:srgbClr val="653A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044184" y="4389120"/>
            <a:ext cx="2066543" cy="566928"/>
          </a:xfrm>
          <a:prstGeom prst="rect">
            <a:avLst/>
          </a:prstGeom>
          <a:noFill/>
        </p:spPr>
        <p:txBody>
          <a:bodyPr wrap="square" anchor="ctr">
            <a:spAutoFit/>
          </a:bodyPr>
          <a:lstStyle/>
          <a:p>
            <a:pPr algn="l"/>
            <a:r>
              <a:rPr sz="750" b="0">
                <a:solidFill>
                  <a:srgbClr val="141C26"/>
                </a:solidFill>
                <a:latin typeface="Aptos Mono"/>
              </a:rPr>
              <a:t>git drs pull -I "*.tsv"</a:t>
            </a:r>
            <a:br/>
            <a:br/>
            <a:r>
              <a:rPr sz="750" b="0">
                <a:solidFill>
                  <a:srgbClr val="141C26"/>
                </a:solidFill>
                <a:latin typeface="Aptos Mono"/>
              </a:rPr>
              <a:t># or</a:t>
            </a:r>
            <a:br/>
            <a:r>
              <a:rPr sz="750" b="0">
                <a:solidFill>
                  <a:srgbClr val="141C26"/>
                </a:solidFill>
                <a:latin typeface="Aptos Mono"/>
              </a:rPr>
              <a:t>git drs pull -I "sample.tsv"</a:t>
            </a:r>
          </a:p>
        </p:txBody>
      </p:sp>
      <p:sp>
        <p:nvSpPr>
          <p:cNvPr id="48" name="TextBox 47"/>
          <p:cNvSpPr txBox="1"/>
          <p:nvPr/>
        </p:nvSpPr>
        <p:spPr>
          <a:xfrm>
            <a:off x="749808" y="5358384"/>
            <a:ext cx="530352" cy="347472"/>
          </a:xfrm>
          <a:prstGeom prst="rect">
            <a:avLst/>
          </a:prstGeom>
          <a:noFill/>
        </p:spPr>
        <p:txBody>
          <a:bodyPr wrap="square" anchor="ctr">
            <a:spAutoFit/>
          </a:bodyPr>
          <a:lstStyle/>
          <a:p>
            <a:pPr algn="ctr"/>
            <a:r>
              <a:rPr sz="2500" b="1">
                <a:solidFill>
                  <a:srgbClr val="041F4F"/>
                </a:solidFill>
                <a:latin typeface="Aptos"/>
              </a:rPr>
              <a:t>▱</a:t>
            </a:r>
          </a:p>
        </p:txBody>
      </p:sp>
      <p:cxnSp>
        <p:nvCxnSpPr>
          <p:cNvPr id="49" name="Connector 48"/>
          <p:cNvCxnSpPr/>
          <p:nvPr/>
        </p:nvCxnSpPr>
        <p:spPr>
          <a:xfrm>
            <a:off x="1344168" y="5532120"/>
            <a:ext cx="274320" cy="0"/>
          </a:xfrm>
          <a:prstGeom prst="line">
            <a:avLst/>
          </a:prstGeom>
          <a:ln w="16510">
            <a:solidFill>
              <a:srgbClr val="DAE0E6"/>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664208" y="5358384"/>
            <a:ext cx="475488" cy="347472"/>
          </a:xfrm>
          <a:prstGeom prst="rect">
            <a:avLst/>
          </a:prstGeom>
          <a:noFill/>
        </p:spPr>
        <p:txBody>
          <a:bodyPr wrap="square" anchor="ctr">
            <a:spAutoFit/>
          </a:bodyPr>
          <a:lstStyle/>
          <a:p>
            <a:pPr algn="ctr"/>
            <a:r>
              <a:rPr sz="2300" b="1">
                <a:solidFill>
                  <a:srgbClr val="653A93"/>
                </a:solidFill>
                <a:latin typeface="Aptos"/>
              </a:rPr>
              <a:t>▤</a:t>
            </a:r>
          </a:p>
        </p:txBody>
      </p:sp>
      <p:sp>
        <p:nvSpPr>
          <p:cNvPr id="51" name="TextBox 50"/>
          <p:cNvSpPr txBox="1"/>
          <p:nvPr/>
        </p:nvSpPr>
        <p:spPr>
          <a:xfrm>
            <a:off x="502920" y="5724144"/>
            <a:ext cx="2121408" cy="365760"/>
          </a:xfrm>
          <a:prstGeom prst="rect">
            <a:avLst/>
          </a:prstGeom>
          <a:noFill/>
        </p:spPr>
        <p:txBody>
          <a:bodyPr wrap="square" anchor="ctr">
            <a:spAutoFit/>
          </a:bodyPr>
          <a:lstStyle/>
          <a:p>
            <a:pPr algn="ctr"/>
            <a:r>
              <a:rPr sz="830" b="0">
                <a:solidFill>
                  <a:srgbClr val="141C26"/>
                </a:solidFill>
                <a:latin typeface="Aptos"/>
              </a:rPr>
              <a:t>Your repository contains DRS</a:t>
            </a:r>
            <a:br/>
            <a:r>
              <a:rPr sz="830" b="0">
                <a:solidFill>
                  <a:srgbClr val="141C26"/>
                </a:solidFill>
                <a:latin typeface="Aptos"/>
              </a:rPr>
              <a:t>pointers, not data.</a:t>
            </a:r>
          </a:p>
        </p:txBody>
      </p:sp>
      <p:sp>
        <p:nvSpPr>
          <p:cNvPr id="52" name="TextBox 51"/>
          <p:cNvSpPr txBox="1"/>
          <p:nvPr/>
        </p:nvSpPr>
        <p:spPr>
          <a:xfrm>
            <a:off x="3840480" y="5248656"/>
            <a:ext cx="1051560" cy="566928"/>
          </a:xfrm>
          <a:prstGeom prst="rect">
            <a:avLst/>
          </a:prstGeom>
          <a:noFill/>
        </p:spPr>
        <p:txBody>
          <a:bodyPr wrap="square" anchor="ctr">
            <a:spAutoFit/>
          </a:bodyPr>
          <a:lstStyle/>
          <a:p>
            <a:pPr algn="ctr"/>
            <a:r>
              <a:rPr sz="1800" b="1">
                <a:solidFill>
                  <a:srgbClr val="1053A9"/>
                </a:solidFill>
                <a:latin typeface="Aptos"/>
              </a:rPr>
              <a:t>☁</a:t>
            </a:r>
            <a:br/>
            <a:r>
              <a:rPr sz="1800" b="1">
                <a:solidFill>
                  <a:srgbClr val="1053A9"/>
                </a:solidFill>
                <a:latin typeface="Aptos"/>
              </a:rPr>
              <a:t>🔒</a:t>
            </a:r>
          </a:p>
        </p:txBody>
      </p:sp>
      <p:sp>
        <p:nvSpPr>
          <p:cNvPr id="53" name="TextBox 52"/>
          <p:cNvSpPr txBox="1"/>
          <p:nvPr/>
        </p:nvSpPr>
        <p:spPr>
          <a:xfrm>
            <a:off x="3429000" y="5724144"/>
            <a:ext cx="1874519" cy="365760"/>
          </a:xfrm>
          <a:prstGeom prst="rect">
            <a:avLst/>
          </a:prstGeom>
          <a:noFill/>
        </p:spPr>
        <p:txBody>
          <a:bodyPr wrap="square" anchor="ctr">
            <a:spAutoFit/>
          </a:bodyPr>
          <a:lstStyle/>
          <a:p>
            <a:pPr algn="ctr"/>
            <a:r>
              <a:rPr sz="830" b="0">
                <a:solidFill>
                  <a:srgbClr val="141C26"/>
                </a:solidFill>
                <a:latin typeface="Aptos"/>
              </a:rPr>
              <a:t>Authentication via</a:t>
            </a:r>
            <a:br/>
            <a:r>
              <a:rPr sz="830" b="0">
                <a:solidFill>
                  <a:srgbClr val="141C26"/>
                </a:solidFill>
                <a:latin typeface="Aptos"/>
              </a:rPr>
              <a:t>Google ADC</a:t>
            </a:r>
          </a:p>
        </p:txBody>
      </p:sp>
      <p:sp>
        <p:nvSpPr>
          <p:cNvPr id="54" name="TextBox 53"/>
          <p:cNvSpPr txBox="1"/>
          <p:nvPr/>
        </p:nvSpPr>
        <p:spPr>
          <a:xfrm>
            <a:off x="6108192" y="5321808"/>
            <a:ext cx="384048" cy="365760"/>
          </a:xfrm>
          <a:prstGeom prst="rect">
            <a:avLst/>
          </a:prstGeom>
          <a:noFill/>
        </p:spPr>
        <p:txBody>
          <a:bodyPr wrap="square" anchor="ctr">
            <a:spAutoFit/>
          </a:bodyPr>
          <a:lstStyle/>
          <a:p>
            <a:pPr algn="ctr"/>
            <a:r>
              <a:rPr sz="2100" b="1">
                <a:solidFill>
                  <a:srgbClr val="653A93"/>
                </a:solidFill>
                <a:latin typeface="Aptos"/>
              </a:rPr>
              <a:t>▤</a:t>
            </a:r>
          </a:p>
        </p:txBody>
      </p:sp>
      <p:cxnSp>
        <p:nvCxnSpPr>
          <p:cNvPr id="55" name="Connector 54"/>
          <p:cNvCxnSpPr/>
          <p:nvPr/>
        </p:nvCxnSpPr>
        <p:spPr>
          <a:xfrm>
            <a:off x="6510528" y="5504688"/>
            <a:ext cx="301752" cy="0"/>
          </a:xfrm>
          <a:prstGeom prst="line">
            <a:avLst/>
          </a:prstGeom>
          <a:ln w="16510">
            <a:solidFill>
              <a:srgbClr val="008280"/>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6830568" y="5276088"/>
            <a:ext cx="438912" cy="438912"/>
          </a:xfrm>
          <a:prstGeom prst="ellipse">
            <a:avLst/>
          </a:prstGeom>
          <a:solidFill>
            <a:srgbClr val="008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830568" y="5276088"/>
            <a:ext cx="438912" cy="438912"/>
          </a:xfrm>
          <a:prstGeom prst="rect">
            <a:avLst/>
          </a:prstGeom>
          <a:noFill/>
        </p:spPr>
        <p:txBody>
          <a:bodyPr wrap="square" anchor="ctr">
            <a:spAutoFit/>
          </a:bodyPr>
          <a:lstStyle/>
          <a:p>
            <a:pPr algn="ctr"/>
            <a:r>
              <a:rPr sz="750" b="1">
                <a:solidFill>
                  <a:srgbClr val="FFFFFF"/>
                </a:solidFill>
                <a:latin typeface="Aptos"/>
              </a:rPr>
              <a:t>git-</a:t>
            </a:r>
            <a:br/>
            <a:r>
              <a:rPr sz="750" b="1">
                <a:solidFill>
                  <a:srgbClr val="FFFFFF"/>
                </a:solidFill>
                <a:latin typeface="Aptos"/>
              </a:rPr>
              <a:t>drs</a:t>
            </a:r>
          </a:p>
        </p:txBody>
      </p:sp>
      <p:cxnSp>
        <p:nvCxnSpPr>
          <p:cNvPr id="58" name="Connector 57"/>
          <p:cNvCxnSpPr/>
          <p:nvPr/>
        </p:nvCxnSpPr>
        <p:spPr>
          <a:xfrm>
            <a:off x="7296912" y="5504688"/>
            <a:ext cx="274319" cy="0"/>
          </a:xfrm>
          <a:prstGeom prst="line">
            <a:avLst/>
          </a:prstGeom>
          <a:ln w="16510">
            <a:solidFill>
              <a:srgbClr val="DAE0E6"/>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598664" y="5321808"/>
            <a:ext cx="384048" cy="365760"/>
          </a:xfrm>
          <a:prstGeom prst="rect">
            <a:avLst/>
          </a:prstGeom>
          <a:noFill/>
        </p:spPr>
        <p:txBody>
          <a:bodyPr wrap="square" anchor="ctr">
            <a:spAutoFit/>
          </a:bodyPr>
          <a:lstStyle/>
          <a:p>
            <a:pPr algn="ctr"/>
            <a:r>
              <a:rPr sz="2100" b="1">
                <a:solidFill>
                  <a:srgbClr val="438F18"/>
                </a:solidFill>
                <a:latin typeface="Aptos"/>
              </a:rPr>
              <a:t>▤</a:t>
            </a:r>
          </a:p>
        </p:txBody>
      </p:sp>
      <p:sp>
        <p:nvSpPr>
          <p:cNvPr id="60" name="TextBox 59"/>
          <p:cNvSpPr txBox="1"/>
          <p:nvPr/>
        </p:nvSpPr>
        <p:spPr>
          <a:xfrm>
            <a:off x="6062472" y="5724144"/>
            <a:ext cx="2103120" cy="365760"/>
          </a:xfrm>
          <a:prstGeom prst="rect">
            <a:avLst/>
          </a:prstGeom>
          <a:noFill/>
        </p:spPr>
        <p:txBody>
          <a:bodyPr wrap="square" anchor="ctr">
            <a:spAutoFit/>
          </a:bodyPr>
          <a:lstStyle/>
          <a:p>
            <a:pPr algn="ctr"/>
            <a:r>
              <a:rPr sz="830" b="0">
                <a:solidFill>
                  <a:srgbClr val="141C26"/>
                </a:solidFill>
                <a:latin typeface="Aptos"/>
              </a:rPr>
              <a:t>DRS resolves, downloads,</a:t>
            </a:r>
            <a:br/>
            <a:r>
              <a:rPr sz="830" b="0">
                <a:solidFill>
                  <a:srgbClr val="141C26"/>
                </a:solidFill>
                <a:latin typeface="Aptos"/>
              </a:rPr>
              <a:t>verifies, and hydrates.</a:t>
            </a:r>
          </a:p>
        </p:txBody>
      </p:sp>
      <p:sp>
        <p:nvSpPr>
          <p:cNvPr id="61" name="Rounded Rectangle 60"/>
          <p:cNvSpPr/>
          <p:nvPr/>
        </p:nvSpPr>
        <p:spPr>
          <a:xfrm>
            <a:off x="8549640" y="3291840"/>
            <a:ext cx="2926080" cy="2944368"/>
          </a:xfrm>
          <a:prstGeom prst="roundRect">
            <a:avLst/>
          </a:prstGeom>
          <a:solidFill>
            <a:srgbClr val="F3FAFB"/>
          </a:solidFill>
          <a:ln w="12700">
            <a:solidFill>
              <a:srgbClr val="A0CE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8805672" y="3493008"/>
            <a:ext cx="365760" cy="365760"/>
          </a:xfrm>
          <a:prstGeom prst="ellipse">
            <a:avLst/>
          </a:prstGeom>
          <a:solidFill>
            <a:srgbClr val="008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805672" y="3493008"/>
            <a:ext cx="365760" cy="365760"/>
          </a:xfrm>
          <a:prstGeom prst="rect">
            <a:avLst/>
          </a:prstGeom>
          <a:noFill/>
        </p:spPr>
        <p:txBody>
          <a:bodyPr wrap="square" anchor="ctr">
            <a:spAutoFit/>
          </a:bodyPr>
          <a:lstStyle/>
          <a:p>
            <a:pPr algn="ctr"/>
            <a:r>
              <a:rPr sz="1500" b="1">
                <a:solidFill>
                  <a:srgbClr val="FFFFFF"/>
                </a:solidFill>
                <a:latin typeface="Aptos"/>
              </a:rPr>
              <a:t>★</a:t>
            </a:r>
          </a:p>
        </p:txBody>
      </p:sp>
      <p:sp>
        <p:nvSpPr>
          <p:cNvPr id="64" name="TextBox 63"/>
          <p:cNvSpPr txBox="1"/>
          <p:nvPr/>
        </p:nvSpPr>
        <p:spPr>
          <a:xfrm>
            <a:off x="9253728" y="3493008"/>
            <a:ext cx="1600200" cy="320040"/>
          </a:xfrm>
          <a:prstGeom prst="rect">
            <a:avLst/>
          </a:prstGeom>
          <a:noFill/>
        </p:spPr>
        <p:txBody>
          <a:bodyPr wrap="square" anchor="ctr">
            <a:spAutoFit/>
          </a:bodyPr>
          <a:lstStyle/>
          <a:p>
            <a:pPr algn="l"/>
            <a:r>
              <a:rPr sz="1400" b="1">
                <a:solidFill>
                  <a:srgbClr val="008280"/>
                </a:solidFill>
                <a:latin typeface="Aptos"/>
              </a:rPr>
              <a:t>Why git-drs?</a:t>
            </a:r>
          </a:p>
        </p:txBody>
      </p:sp>
      <p:sp>
        <p:nvSpPr>
          <p:cNvPr id="65" name="Oval 64"/>
          <p:cNvSpPr/>
          <p:nvPr/>
        </p:nvSpPr>
        <p:spPr>
          <a:xfrm>
            <a:off x="8823960" y="3977639"/>
            <a:ext cx="210312" cy="210312"/>
          </a:xfrm>
          <a:prstGeom prst="ellipse">
            <a:avLst/>
          </a:prstGeom>
          <a:solidFill>
            <a:srgbClr val="FFFFFF"/>
          </a:solidFill>
          <a:ln>
            <a:solidFill>
              <a:srgbClr val="008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823960" y="3977639"/>
            <a:ext cx="210312" cy="210312"/>
          </a:xfrm>
          <a:prstGeom prst="rect">
            <a:avLst/>
          </a:prstGeom>
          <a:noFill/>
        </p:spPr>
        <p:txBody>
          <a:bodyPr wrap="square" anchor="ctr">
            <a:spAutoFit/>
          </a:bodyPr>
          <a:lstStyle/>
          <a:p>
            <a:pPr algn="ctr"/>
            <a:r>
              <a:rPr sz="900" b="1">
                <a:solidFill>
                  <a:srgbClr val="008280"/>
                </a:solidFill>
                <a:latin typeface="Aptos"/>
              </a:rPr>
              <a:t>✓</a:t>
            </a:r>
          </a:p>
        </p:txBody>
      </p:sp>
      <p:sp>
        <p:nvSpPr>
          <p:cNvPr id="67" name="TextBox 66"/>
          <p:cNvSpPr txBox="1"/>
          <p:nvPr/>
        </p:nvSpPr>
        <p:spPr>
          <a:xfrm>
            <a:off x="9125712" y="3950207"/>
            <a:ext cx="2057400" cy="201168"/>
          </a:xfrm>
          <a:prstGeom prst="rect">
            <a:avLst/>
          </a:prstGeom>
          <a:noFill/>
        </p:spPr>
        <p:txBody>
          <a:bodyPr wrap="square" anchor="ctr">
            <a:spAutoFit/>
          </a:bodyPr>
          <a:lstStyle/>
          <a:p>
            <a:pPr algn="l"/>
            <a:r>
              <a:rPr sz="940" b="1">
                <a:solidFill>
                  <a:srgbClr val="141C26"/>
                </a:solidFill>
                <a:latin typeface="Aptos"/>
              </a:rPr>
              <a:t>Scales to any size</a:t>
            </a:r>
          </a:p>
        </p:txBody>
      </p:sp>
      <p:sp>
        <p:nvSpPr>
          <p:cNvPr id="68" name="TextBox 67"/>
          <p:cNvSpPr txBox="1"/>
          <p:nvPr/>
        </p:nvSpPr>
        <p:spPr>
          <a:xfrm>
            <a:off x="9125712" y="4160520"/>
            <a:ext cx="2084831" cy="347472"/>
          </a:xfrm>
          <a:prstGeom prst="rect">
            <a:avLst/>
          </a:prstGeom>
          <a:noFill/>
        </p:spPr>
        <p:txBody>
          <a:bodyPr wrap="square" anchor="ctr">
            <a:spAutoFit/>
          </a:bodyPr>
          <a:lstStyle/>
          <a:p>
            <a:pPr algn="l"/>
            <a:r>
              <a:rPr sz="800" b="0">
                <a:solidFill>
                  <a:srgbClr val="141C26"/>
                </a:solidFill>
                <a:latin typeface="Aptos"/>
              </a:rPr>
              <a:t>Reference large datasets without moving them.</a:t>
            </a:r>
          </a:p>
        </p:txBody>
      </p:sp>
      <p:sp>
        <p:nvSpPr>
          <p:cNvPr id="69" name="Oval 68"/>
          <p:cNvSpPr/>
          <p:nvPr/>
        </p:nvSpPr>
        <p:spPr>
          <a:xfrm>
            <a:off x="8823960" y="4544568"/>
            <a:ext cx="210312" cy="210312"/>
          </a:xfrm>
          <a:prstGeom prst="ellipse">
            <a:avLst/>
          </a:prstGeom>
          <a:solidFill>
            <a:srgbClr val="FFFFFF"/>
          </a:solidFill>
          <a:ln>
            <a:solidFill>
              <a:srgbClr val="008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823960" y="4544568"/>
            <a:ext cx="210312" cy="210312"/>
          </a:xfrm>
          <a:prstGeom prst="rect">
            <a:avLst/>
          </a:prstGeom>
          <a:noFill/>
        </p:spPr>
        <p:txBody>
          <a:bodyPr wrap="square" anchor="ctr">
            <a:spAutoFit/>
          </a:bodyPr>
          <a:lstStyle/>
          <a:p>
            <a:pPr algn="ctr"/>
            <a:r>
              <a:rPr sz="900" b="1">
                <a:solidFill>
                  <a:srgbClr val="008280"/>
                </a:solidFill>
                <a:latin typeface="Aptos"/>
              </a:rPr>
              <a:t>✓</a:t>
            </a:r>
          </a:p>
        </p:txBody>
      </p:sp>
      <p:sp>
        <p:nvSpPr>
          <p:cNvPr id="71" name="TextBox 70"/>
          <p:cNvSpPr txBox="1"/>
          <p:nvPr/>
        </p:nvSpPr>
        <p:spPr>
          <a:xfrm>
            <a:off x="9125712" y="4517136"/>
            <a:ext cx="2057400" cy="201168"/>
          </a:xfrm>
          <a:prstGeom prst="rect">
            <a:avLst/>
          </a:prstGeom>
          <a:noFill/>
        </p:spPr>
        <p:txBody>
          <a:bodyPr wrap="square" anchor="ctr">
            <a:spAutoFit/>
          </a:bodyPr>
          <a:lstStyle/>
          <a:p>
            <a:pPr algn="l"/>
            <a:r>
              <a:rPr sz="940" b="1">
                <a:solidFill>
                  <a:srgbClr val="141C26"/>
                </a:solidFill>
                <a:latin typeface="Aptos"/>
              </a:rPr>
              <a:t>Always up to date</a:t>
            </a:r>
          </a:p>
        </p:txBody>
      </p:sp>
      <p:sp>
        <p:nvSpPr>
          <p:cNvPr id="72" name="TextBox 71"/>
          <p:cNvSpPr txBox="1"/>
          <p:nvPr/>
        </p:nvSpPr>
        <p:spPr>
          <a:xfrm>
            <a:off x="9125712" y="4727448"/>
            <a:ext cx="2084831" cy="347472"/>
          </a:xfrm>
          <a:prstGeom prst="rect">
            <a:avLst/>
          </a:prstGeom>
          <a:noFill/>
        </p:spPr>
        <p:txBody>
          <a:bodyPr wrap="square" anchor="ctr">
            <a:spAutoFit/>
          </a:bodyPr>
          <a:lstStyle/>
          <a:p>
            <a:pPr algn="l"/>
            <a:r>
              <a:rPr sz="800" b="0">
                <a:solidFill>
                  <a:srgbClr val="141C26"/>
                </a:solidFill>
                <a:latin typeface="Aptos"/>
              </a:rPr>
              <a:t>Fresh metadata and access at the time of use.</a:t>
            </a:r>
          </a:p>
        </p:txBody>
      </p:sp>
      <p:sp>
        <p:nvSpPr>
          <p:cNvPr id="73" name="Oval 72"/>
          <p:cNvSpPr/>
          <p:nvPr/>
        </p:nvSpPr>
        <p:spPr>
          <a:xfrm>
            <a:off x="8823960" y="5111496"/>
            <a:ext cx="210312" cy="210312"/>
          </a:xfrm>
          <a:prstGeom prst="ellipse">
            <a:avLst/>
          </a:prstGeom>
          <a:solidFill>
            <a:srgbClr val="FFFFFF"/>
          </a:solidFill>
          <a:ln>
            <a:solidFill>
              <a:srgbClr val="008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823960" y="5111496"/>
            <a:ext cx="210312" cy="210312"/>
          </a:xfrm>
          <a:prstGeom prst="rect">
            <a:avLst/>
          </a:prstGeom>
          <a:noFill/>
        </p:spPr>
        <p:txBody>
          <a:bodyPr wrap="square" anchor="ctr">
            <a:spAutoFit/>
          </a:bodyPr>
          <a:lstStyle/>
          <a:p>
            <a:pPr algn="ctr"/>
            <a:r>
              <a:rPr sz="900" b="1">
                <a:solidFill>
                  <a:srgbClr val="008280"/>
                </a:solidFill>
                <a:latin typeface="Aptos"/>
              </a:rPr>
              <a:t>✓</a:t>
            </a:r>
          </a:p>
        </p:txBody>
      </p:sp>
      <p:sp>
        <p:nvSpPr>
          <p:cNvPr id="75" name="TextBox 74"/>
          <p:cNvSpPr txBox="1"/>
          <p:nvPr/>
        </p:nvSpPr>
        <p:spPr>
          <a:xfrm>
            <a:off x="9125712" y="5084064"/>
            <a:ext cx="2057400" cy="201168"/>
          </a:xfrm>
          <a:prstGeom prst="rect">
            <a:avLst/>
          </a:prstGeom>
          <a:noFill/>
        </p:spPr>
        <p:txBody>
          <a:bodyPr wrap="square" anchor="ctr">
            <a:spAutoFit/>
          </a:bodyPr>
          <a:lstStyle/>
          <a:p>
            <a:pPr algn="l"/>
            <a:r>
              <a:rPr sz="940" b="1">
                <a:solidFill>
                  <a:srgbClr val="141C26"/>
                </a:solidFill>
                <a:latin typeface="Aptos"/>
              </a:rPr>
              <a:t>Integrity guaranteed</a:t>
            </a:r>
          </a:p>
        </p:txBody>
      </p:sp>
      <p:sp>
        <p:nvSpPr>
          <p:cNvPr id="76" name="TextBox 75"/>
          <p:cNvSpPr txBox="1"/>
          <p:nvPr/>
        </p:nvSpPr>
        <p:spPr>
          <a:xfrm>
            <a:off x="9125712" y="5294376"/>
            <a:ext cx="2084831" cy="347472"/>
          </a:xfrm>
          <a:prstGeom prst="rect">
            <a:avLst/>
          </a:prstGeom>
          <a:noFill/>
        </p:spPr>
        <p:txBody>
          <a:bodyPr wrap="square" anchor="ctr">
            <a:spAutoFit/>
          </a:bodyPr>
          <a:lstStyle/>
          <a:p>
            <a:pPr algn="l"/>
            <a:r>
              <a:rPr sz="800" b="0">
                <a:solidFill>
                  <a:srgbClr val="141C26"/>
                </a:solidFill>
                <a:latin typeface="Aptos"/>
              </a:rPr>
              <a:t>Size and SHA256 verified before use.</a:t>
            </a:r>
          </a:p>
        </p:txBody>
      </p:sp>
      <p:sp>
        <p:nvSpPr>
          <p:cNvPr id="77" name="Oval 76"/>
          <p:cNvSpPr/>
          <p:nvPr/>
        </p:nvSpPr>
        <p:spPr>
          <a:xfrm>
            <a:off x="8823960" y="5678424"/>
            <a:ext cx="210312" cy="210312"/>
          </a:xfrm>
          <a:prstGeom prst="ellipse">
            <a:avLst/>
          </a:prstGeom>
          <a:solidFill>
            <a:srgbClr val="FFFFFF"/>
          </a:solidFill>
          <a:ln>
            <a:solidFill>
              <a:srgbClr val="008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823960" y="5678424"/>
            <a:ext cx="210312" cy="210312"/>
          </a:xfrm>
          <a:prstGeom prst="rect">
            <a:avLst/>
          </a:prstGeom>
          <a:noFill/>
        </p:spPr>
        <p:txBody>
          <a:bodyPr wrap="square" anchor="ctr">
            <a:spAutoFit/>
          </a:bodyPr>
          <a:lstStyle/>
          <a:p>
            <a:pPr algn="ctr"/>
            <a:r>
              <a:rPr sz="900" b="1">
                <a:solidFill>
                  <a:srgbClr val="008280"/>
                </a:solidFill>
                <a:latin typeface="Aptos"/>
              </a:rPr>
              <a:t>✓</a:t>
            </a:r>
          </a:p>
        </p:txBody>
      </p:sp>
      <p:sp>
        <p:nvSpPr>
          <p:cNvPr id="79" name="TextBox 78"/>
          <p:cNvSpPr txBox="1"/>
          <p:nvPr/>
        </p:nvSpPr>
        <p:spPr>
          <a:xfrm>
            <a:off x="9125712" y="5650992"/>
            <a:ext cx="2057400" cy="201168"/>
          </a:xfrm>
          <a:prstGeom prst="rect">
            <a:avLst/>
          </a:prstGeom>
          <a:noFill/>
        </p:spPr>
        <p:txBody>
          <a:bodyPr wrap="square" anchor="ctr">
            <a:spAutoFit/>
          </a:bodyPr>
          <a:lstStyle/>
          <a:p>
            <a:pPr algn="l"/>
            <a:r>
              <a:rPr sz="940" b="1">
                <a:solidFill>
                  <a:srgbClr val="141C26"/>
                </a:solidFill>
                <a:latin typeface="Aptos"/>
              </a:rPr>
              <a:t>Fits your workflow</a:t>
            </a:r>
          </a:p>
        </p:txBody>
      </p:sp>
      <p:sp>
        <p:nvSpPr>
          <p:cNvPr id="80" name="TextBox 79"/>
          <p:cNvSpPr txBox="1"/>
          <p:nvPr/>
        </p:nvSpPr>
        <p:spPr>
          <a:xfrm>
            <a:off x="9125712" y="5861304"/>
            <a:ext cx="2084831" cy="347472"/>
          </a:xfrm>
          <a:prstGeom prst="rect">
            <a:avLst/>
          </a:prstGeom>
          <a:noFill/>
        </p:spPr>
        <p:txBody>
          <a:bodyPr wrap="square" anchor="ctr">
            <a:spAutoFit/>
          </a:bodyPr>
          <a:lstStyle/>
          <a:p>
            <a:pPr algn="l"/>
            <a:r>
              <a:rPr sz="800" b="0">
                <a:solidFill>
                  <a:srgbClr val="141C26"/>
                </a:solidFill>
                <a:latin typeface="Aptos"/>
              </a:rPr>
              <a:t>Git for versioning; git-drs for access.</a:t>
            </a:r>
          </a:p>
        </p:txBody>
      </p:sp>
      <p:sp>
        <p:nvSpPr>
          <p:cNvPr id="82" name="TextBox 81"/>
          <p:cNvSpPr txBox="1"/>
          <p:nvPr/>
        </p:nvSpPr>
        <p:spPr>
          <a:xfrm>
            <a:off x="566928" y="6345936"/>
            <a:ext cx="10652760" cy="201168"/>
          </a:xfrm>
          <a:prstGeom prst="rect">
            <a:avLst/>
          </a:prstGeom>
          <a:noFill/>
        </p:spPr>
        <p:txBody>
          <a:bodyPr wrap="square" anchor="ctr">
            <a:spAutoFit/>
          </a:bodyPr>
          <a:lstStyle/>
          <a:p>
            <a:pPr algn="l"/>
            <a:r>
              <a:rPr sz="1550" b="1">
                <a:solidFill>
                  <a:srgbClr val="FFFFFF"/>
                </a:solidFill>
                <a:latin typeface="Aptos"/>
              </a:rPr>
              <a:t>Clone the references.  Hydrate the data.  Reproduce the results.</a:t>
            </a:r>
          </a:p>
        </p:txBody>
      </p:sp>
      <p:sp>
        <p:nvSpPr>
          <p:cNvPr id="83" name="TextBox 82"/>
          <p:cNvSpPr txBox="1"/>
          <p:nvPr/>
        </p:nvSpPr>
        <p:spPr>
          <a:xfrm>
            <a:off x="8183879" y="6537960"/>
            <a:ext cx="2743200" cy="137160"/>
          </a:xfrm>
          <a:prstGeom prst="rect">
            <a:avLst/>
          </a:prstGeom>
          <a:noFill/>
        </p:spPr>
        <p:txBody>
          <a:bodyPr wrap="square" anchor="ctr">
            <a:spAutoFit/>
          </a:bodyPr>
          <a:lstStyle/>
          <a:p>
            <a:pPr algn="l"/>
            <a:endParaRPr/>
          </a:p>
        </p:txBody>
      </p:sp>
      <p:sp>
        <p:nvSpPr>
          <p:cNvPr id="85" name="TextBox 84">
            <a:extLst>
              <a:ext uri="{FF2B5EF4-FFF2-40B4-BE49-F238E27FC236}">
                <a16:creationId xmlns:a16="http://schemas.microsoft.com/office/drawing/2014/main" id="{D1406366-345F-878D-C2B2-BDC67F5CCCC5}"/>
              </a:ext>
            </a:extLst>
          </p:cNvPr>
          <p:cNvSpPr txBox="1"/>
          <p:nvPr/>
        </p:nvSpPr>
        <p:spPr>
          <a:xfrm rot="2738292">
            <a:off x="10839423" y="379756"/>
            <a:ext cx="1492049" cy="300082"/>
          </a:xfrm>
          <a:prstGeom prst="rect">
            <a:avLst/>
          </a:prstGeom>
          <a:noFill/>
        </p:spPr>
        <p:txBody>
          <a:bodyPr wrap="square">
            <a:spAutoFit/>
          </a:bodyPr>
          <a:lstStyle/>
          <a:p>
            <a:r>
              <a:rPr lang="en-US" sz="1350" b="1" dirty="0">
                <a:solidFill>
                  <a:srgbClr val="041F4F"/>
                </a:solidFill>
                <a:highlight>
                  <a:srgbClr val="FFFF00"/>
                </a:highlight>
                <a:latin typeface="Aptos"/>
              </a:rPr>
              <a:t>Data Consumer </a:t>
            </a:r>
            <a:endParaRPr lang="en-US" dirty="0">
              <a:highlight>
                <a:srgbClr val="FFFF00"/>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640080"/>
          </a:xfrm>
          <a:prstGeom prst="rect">
            <a:avLst/>
          </a:prstGeom>
          <a:noFill/>
        </p:spPr>
        <p:txBody>
          <a:bodyPr wrap="square">
            <a:spAutoFit/>
          </a:bodyPr>
          <a:lstStyle/>
          <a:p>
            <a:pPr algn="l">
              <a:spcAft>
                <a:spcPts val="300"/>
              </a:spcAft>
              <a:defRPr sz="2800" b="1">
                <a:solidFill>
                  <a:srgbClr val="10253E"/>
                </a:solidFill>
              </a:defRPr>
            </a:pPr>
            <a:r>
              <a:rPr sz="2500" b="1">
                <a:solidFill>
                  <a:srgbClr val="14304A"/>
                </a:solidFill>
                <a:latin typeface="Aptos"/>
              </a:rPr>
              <a:t>DRS: object metadata + live access</a:t>
            </a:r>
          </a:p>
        </p:txBody>
      </p:sp>
      <p:sp>
        <p:nvSpPr>
          <p:cNvPr id="9" name="TextBox 8"/>
          <p:cNvSpPr txBox="1"/>
          <p:nvPr/>
        </p:nvSpPr>
        <p:spPr>
          <a:xfrm>
            <a:off x="822960" y="5029200"/>
            <a:ext cx="10424160" cy="640080"/>
          </a:xfrm>
          <a:prstGeom prst="rect">
            <a:avLst/>
          </a:prstGeom>
          <a:noFill/>
        </p:spPr>
        <p:txBody>
          <a:bodyPr wrap="square" lIns="8" tIns="6" rIns="8" bIns="6">
            <a:spAutoFit/>
          </a:bodyPr>
          <a:lstStyle/>
          <a:p>
            <a:pPr algn="l">
              <a:spcAft>
                <a:spcPts val="300"/>
              </a:spcAft>
              <a:defRPr sz="1200" b="0">
                <a:solidFill>
                  <a:srgbClr val="1D70A2"/>
                </a:solidFill>
                <a:latin typeface="Aptos"/>
              </a:defRPr>
            </a:pPr>
            <a:r>
              <a:rPr sz="1450" b="0">
                <a:solidFill>
                  <a:srgbClr val="273746"/>
                </a:solidFill>
                <a:latin typeface="Aptos"/>
              </a:rPr>
              <a:t>Reference schema work: GA4GH DRS schemas and the writable DRS upload prototype branch.</a:t>
            </a:r>
          </a:p>
        </p:txBody>
      </p:sp>
      <p:sp>
        <p:nvSpPr>
          <p:cNvPr id="10" name="TextBox 9"/>
          <p:cNvSpPr txBox="1"/>
          <p:nvPr/>
        </p:nvSpPr>
        <p:spPr>
          <a:xfrm>
            <a:off x="731520" y="5486400"/>
            <a:ext cx="10789920" cy="914400"/>
          </a:xfrm>
          <a:prstGeom prst="rect">
            <a:avLst/>
          </a:prstGeom>
          <a:noFill/>
        </p:spPr>
        <p:txBody>
          <a:bodyPr wrap="square">
            <a:spAutoFit/>
          </a:bodyPr>
          <a:lstStyle/>
          <a:p>
            <a:pPr>
              <a:spcAft>
                <a:spcPts val="300"/>
              </a:spcAft>
              <a:defRPr sz="1600">
                <a:solidFill>
                  <a:srgbClr val="152334"/>
                </a:solidFill>
                <a:latin typeface="Aptos"/>
              </a:defRPr>
            </a:pPr>
            <a:r>
              <a:rPr sz="1450" b="0">
                <a:solidFill>
                  <a:srgbClr val="273746"/>
                </a:solidFill>
                <a:latin typeface="Aptos"/>
              </a:rPr>
              <a:t>Git stores a stable reference to a DRS object, not the bytes.</a:t>
            </a:r>
          </a:p>
          <a:p>
            <a:pPr>
              <a:spcAft>
                <a:spcPts val="300"/>
              </a:spcAft>
              <a:defRPr sz="1600">
                <a:solidFill>
                  <a:srgbClr val="152334"/>
                </a:solidFill>
                <a:latin typeface="Aptos"/>
              </a:defRPr>
            </a:pPr>
            <a:r>
              <a:rPr sz="1450" b="0">
                <a:solidFill>
                  <a:srgbClr val="273746"/>
                </a:solidFill>
                <a:latin typeface="Aptos"/>
              </a:rPr>
              <a:t>DRS records describe object identity, metadata, and live access methods.</a:t>
            </a:r>
          </a:p>
          <a:p>
            <a:pPr>
              <a:spcAft>
                <a:spcPts val="300"/>
              </a:spcAft>
              <a:defRPr sz="1600">
                <a:solidFill>
                  <a:srgbClr val="152334"/>
                </a:solidFill>
                <a:latin typeface="Aptos"/>
              </a:defRPr>
            </a:pPr>
            <a:r>
              <a:rPr sz="1450" b="0">
                <a:solidFill>
                  <a:srgbClr val="273746"/>
                </a:solidFill>
                <a:latin typeface="Aptos"/>
              </a:rPr>
              <a:t>Clients resolve a fresh access URL at read time and validate size/checksum before hydration.</a:t>
            </a:r>
          </a:p>
        </p:txBody>
      </p:sp>
      <p:sp>
        <p:nvSpPr>
          <p:cNvPr id="11" name="Rectangle 10"/>
          <p:cNvSpPr/>
          <p:nvPr/>
        </p:nvSpPr>
        <p:spPr>
          <a:xfrm>
            <a:off x="548640" y="960120"/>
            <a:ext cx="1143000" cy="54864"/>
          </a:xfrm>
          <a:prstGeom prst="rect">
            <a:avLst/>
          </a:prstGeom>
          <a:solidFill>
            <a:srgbClr val="21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881360" y="6510528"/>
            <a:ext cx="731520" cy="182880"/>
          </a:xfrm>
          <a:prstGeom prst="rect">
            <a:avLst/>
          </a:prstGeom>
          <a:noFill/>
        </p:spPr>
        <p:txBody>
          <a:bodyPr wrap="square">
            <a:spAutoFit/>
          </a:bodyPr>
          <a:lstStyle/>
          <a:p>
            <a:pPr algn="r">
              <a:spcAft>
                <a:spcPts val="300"/>
              </a:spcAft>
            </a:pPr>
            <a:r>
              <a:rPr sz="1800" b="1">
                <a:solidFill>
                  <a:srgbClr val="14304A"/>
                </a:solidFill>
                <a:latin typeface="Aptos"/>
              </a:rPr>
              <a:t>02</a:t>
            </a:r>
          </a:p>
        </p:txBody>
      </p:sp>
      <p:cxnSp>
        <p:nvCxnSpPr>
          <p:cNvPr id="13" name="Connector 12"/>
          <p:cNvCxnSpPr/>
          <p:nvPr/>
        </p:nvCxnSpPr>
        <p:spPr>
          <a:xfrm>
            <a:off x="2450592" y="2267712"/>
            <a:ext cx="3035808" cy="0"/>
          </a:xfrm>
          <a:prstGeom prst="line">
            <a:avLst/>
          </a:prstGeom>
          <a:ln w="25400">
            <a:solidFill>
              <a:srgbClr val="1C979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675120" y="2267712"/>
            <a:ext cx="2999232" cy="0"/>
          </a:xfrm>
          <a:prstGeom prst="line">
            <a:avLst/>
          </a:prstGeom>
          <a:ln w="25400">
            <a:solidFill>
              <a:srgbClr val="1C979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499616" y="1847088"/>
            <a:ext cx="841248" cy="841248"/>
          </a:xfrm>
          <a:prstGeom prst="ellipse">
            <a:avLst/>
          </a:prstGeom>
          <a:solidFill>
            <a:srgbClr val="E7F7F6"/>
          </a:solidFill>
          <a:ln w="15875">
            <a:solidFill>
              <a:srgbClr val="1C97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41829" y="1370749"/>
            <a:ext cx="1325880" cy="411480"/>
          </a:xfrm>
          <a:prstGeom prst="rect">
            <a:avLst/>
          </a:prstGeom>
          <a:noFill/>
        </p:spPr>
        <p:txBody>
          <a:bodyPr wrap="none" anchor="ctr">
            <a:spAutoFit/>
          </a:bodyPr>
          <a:lstStyle/>
          <a:p>
            <a:pPr algn="l"/>
            <a:r>
              <a:rPr sz="1600" b="1">
                <a:solidFill>
                  <a:srgbClr val="1C9793"/>
                </a:solidFill>
                <a:latin typeface="Aptos"/>
              </a:rPr>
              <a:t>Git repo</a:t>
            </a:r>
          </a:p>
        </p:txBody>
      </p:sp>
      <p:sp>
        <p:nvSpPr>
          <p:cNvPr id="18" name="Rounded Rectangle 17"/>
          <p:cNvSpPr/>
          <p:nvPr/>
        </p:nvSpPr>
        <p:spPr>
          <a:xfrm>
            <a:off x="749807" y="3072384"/>
            <a:ext cx="2889497" cy="1188720"/>
          </a:xfrm>
          <a:prstGeom prst="roundRect">
            <a:avLst/>
          </a:prstGeom>
          <a:solidFill>
            <a:srgbClr val="E7F7F6"/>
          </a:solidFill>
          <a:ln w="14604">
            <a:solidFill>
              <a:srgbClr val="1C97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3395989"/>
            <a:ext cx="2197974" cy="523220"/>
          </a:xfrm>
          <a:prstGeom prst="rect">
            <a:avLst/>
          </a:prstGeom>
          <a:noFill/>
        </p:spPr>
        <p:txBody>
          <a:bodyPr wrap="none" anchor="ctr">
            <a:spAutoFit/>
          </a:bodyPr>
          <a:lstStyle/>
          <a:p>
            <a:pPr algn="l"/>
            <a:r>
              <a:rPr sz="1400" b="0" dirty="0">
                <a:solidFill>
                  <a:srgbClr val="233445"/>
                </a:solidFill>
                <a:latin typeface="Aptos" panose="020B0004020202020204" pitchFamily="34" charset="0"/>
              </a:rPr>
              <a:t>Git stores a stable</a:t>
            </a:r>
            <a:br>
              <a:rPr sz="1400" dirty="0">
                <a:latin typeface="Aptos" panose="020B0004020202020204" pitchFamily="34" charset="0"/>
              </a:rPr>
            </a:br>
            <a:r>
              <a:rPr sz="1400" dirty="0">
                <a:latin typeface="Aptos" panose="020B0004020202020204" pitchFamily="34" charset="0"/>
              </a:rPr>
              <a:t>reference to a DRS object.</a:t>
            </a:r>
          </a:p>
        </p:txBody>
      </p:sp>
      <p:cxnSp>
        <p:nvCxnSpPr>
          <p:cNvPr id="20" name="Connector 19"/>
          <p:cNvCxnSpPr/>
          <p:nvPr/>
        </p:nvCxnSpPr>
        <p:spPr>
          <a:xfrm>
            <a:off x="1920240" y="2688336"/>
            <a:ext cx="0" cy="384048"/>
          </a:xfrm>
          <a:prstGeom prst="line">
            <a:avLst/>
          </a:prstGeom>
          <a:ln w="15875">
            <a:solidFill>
              <a:srgbClr val="1C979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660136" y="1847088"/>
            <a:ext cx="841248" cy="841248"/>
          </a:xfrm>
          <a:prstGeom prst="ellipse">
            <a:avLst/>
          </a:prstGeom>
          <a:solidFill>
            <a:srgbClr val="EBF1FA"/>
          </a:solidFill>
          <a:ln w="15875">
            <a:solidFill>
              <a:srgbClr val="306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788152" y="1956816"/>
            <a:ext cx="585216" cy="566928"/>
          </a:xfrm>
          <a:prstGeom prst="rect">
            <a:avLst/>
          </a:prstGeom>
          <a:noFill/>
        </p:spPr>
        <p:txBody>
          <a:bodyPr wrap="none" anchor="ctr">
            <a:spAutoFit/>
          </a:bodyPr>
          <a:lstStyle/>
          <a:p>
            <a:pPr algn="ctr"/>
            <a:r>
              <a:rPr sz="2400" b="1">
                <a:solidFill>
                  <a:srgbClr val="3067B7"/>
                </a:solidFill>
                <a:latin typeface="Aptos"/>
              </a:rPr>
              <a:t>▤</a:t>
            </a:r>
          </a:p>
        </p:txBody>
      </p:sp>
      <p:sp>
        <p:nvSpPr>
          <p:cNvPr id="23" name="TextBox 22"/>
          <p:cNvSpPr txBox="1"/>
          <p:nvPr/>
        </p:nvSpPr>
        <p:spPr>
          <a:xfrm>
            <a:off x="5463540" y="1316736"/>
            <a:ext cx="1325880" cy="411480"/>
          </a:xfrm>
          <a:prstGeom prst="rect">
            <a:avLst/>
          </a:prstGeom>
          <a:noFill/>
        </p:spPr>
        <p:txBody>
          <a:bodyPr wrap="none" anchor="ctr">
            <a:spAutoFit/>
          </a:bodyPr>
          <a:lstStyle/>
          <a:p>
            <a:pPr algn="l"/>
            <a:r>
              <a:rPr sz="1600" b="1" dirty="0">
                <a:solidFill>
                  <a:srgbClr val="3067B7"/>
                </a:solidFill>
                <a:latin typeface="Aptos"/>
              </a:rPr>
              <a:t>DRS registry</a:t>
            </a:r>
          </a:p>
        </p:txBody>
      </p:sp>
      <p:sp>
        <p:nvSpPr>
          <p:cNvPr id="24" name="Rounded Rectangle 23"/>
          <p:cNvSpPr/>
          <p:nvPr/>
        </p:nvSpPr>
        <p:spPr>
          <a:xfrm>
            <a:off x="4800600" y="3072384"/>
            <a:ext cx="2560320" cy="1188720"/>
          </a:xfrm>
          <a:prstGeom prst="roundRect">
            <a:avLst/>
          </a:prstGeom>
          <a:solidFill>
            <a:srgbClr val="EBF1FA"/>
          </a:solidFill>
          <a:ln w="14604">
            <a:solidFill>
              <a:srgbClr val="306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65192" y="3288268"/>
            <a:ext cx="2383922" cy="738664"/>
          </a:xfrm>
          <a:prstGeom prst="rect">
            <a:avLst/>
          </a:prstGeom>
          <a:noFill/>
        </p:spPr>
        <p:txBody>
          <a:bodyPr wrap="none" anchor="ctr">
            <a:spAutoFit/>
          </a:bodyPr>
          <a:lstStyle/>
          <a:p>
            <a:pPr algn="l"/>
            <a:r>
              <a:rPr sz="1400" b="0" dirty="0">
                <a:solidFill>
                  <a:srgbClr val="233445"/>
                </a:solidFill>
                <a:latin typeface="Aptos" panose="020B0004020202020204" pitchFamily="34" charset="0"/>
              </a:rPr>
              <a:t>DRS records describe object</a:t>
            </a:r>
            <a:br>
              <a:rPr sz="1400" dirty="0">
                <a:latin typeface="Aptos" panose="020B0004020202020204" pitchFamily="34" charset="0"/>
              </a:rPr>
            </a:br>
            <a:r>
              <a:rPr sz="1400" dirty="0">
                <a:latin typeface="Aptos" panose="020B0004020202020204" pitchFamily="34" charset="0"/>
              </a:rPr>
              <a:t>identity, metadata, and</a:t>
            </a:r>
            <a:br>
              <a:rPr sz="1400" dirty="0">
                <a:latin typeface="Aptos" panose="020B0004020202020204" pitchFamily="34" charset="0"/>
              </a:rPr>
            </a:br>
            <a:r>
              <a:rPr sz="1400" dirty="0">
                <a:latin typeface="Aptos" panose="020B0004020202020204" pitchFamily="34" charset="0"/>
              </a:rPr>
              <a:t>access methods.</a:t>
            </a:r>
          </a:p>
        </p:txBody>
      </p:sp>
      <p:cxnSp>
        <p:nvCxnSpPr>
          <p:cNvPr id="26" name="Connector 25"/>
          <p:cNvCxnSpPr/>
          <p:nvPr/>
        </p:nvCxnSpPr>
        <p:spPr>
          <a:xfrm>
            <a:off x="6080760" y="2688336"/>
            <a:ext cx="0" cy="384048"/>
          </a:xfrm>
          <a:prstGeom prst="line">
            <a:avLst/>
          </a:prstGeom>
          <a:ln w="15875">
            <a:solidFill>
              <a:srgbClr val="3067B7"/>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9802367" y="1847088"/>
            <a:ext cx="841248" cy="841248"/>
          </a:xfrm>
          <a:prstGeom prst="ellipse">
            <a:avLst/>
          </a:prstGeom>
          <a:solidFill>
            <a:srgbClr val="E7F7F6"/>
          </a:solidFill>
          <a:ln w="15875">
            <a:solidFill>
              <a:srgbClr val="1C97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587590" y="1242733"/>
            <a:ext cx="1325880" cy="411480"/>
          </a:xfrm>
          <a:prstGeom prst="rect">
            <a:avLst/>
          </a:prstGeom>
          <a:noFill/>
        </p:spPr>
        <p:txBody>
          <a:bodyPr wrap="none" anchor="ctr">
            <a:spAutoFit/>
          </a:bodyPr>
          <a:lstStyle/>
          <a:p>
            <a:pPr algn="l"/>
            <a:r>
              <a:rPr sz="1600" b="1" dirty="0">
                <a:solidFill>
                  <a:srgbClr val="1C9793"/>
                </a:solidFill>
                <a:latin typeface="Aptos"/>
              </a:rPr>
              <a:t>Access layer</a:t>
            </a:r>
          </a:p>
        </p:txBody>
      </p:sp>
      <p:sp>
        <p:nvSpPr>
          <p:cNvPr id="30" name="Rounded Rectangle 29"/>
          <p:cNvSpPr/>
          <p:nvPr/>
        </p:nvSpPr>
        <p:spPr>
          <a:xfrm>
            <a:off x="9052559" y="3072384"/>
            <a:ext cx="2560311" cy="1188720"/>
          </a:xfrm>
          <a:prstGeom prst="roundRect">
            <a:avLst/>
          </a:prstGeom>
          <a:solidFill>
            <a:srgbClr val="E7F7F6"/>
          </a:solidFill>
          <a:ln w="14604">
            <a:solidFill>
              <a:srgbClr val="1C97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217152" y="3395990"/>
            <a:ext cx="2351028" cy="523220"/>
          </a:xfrm>
          <a:prstGeom prst="rect">
            <a:avLst/>
          </a:prstGeom>
          <a:noFill/>
        </p:spPr>
        <p:txBody>
          <a:bodyPr wrap="none" anchor="ctr">
            <a:spAutoFit/>
          </a:bodyPr>
          <a:lstStyle/>
          <a:p>
            <a:pPr algn="l"/>
            <a:r>
              <a:rPr sz="1400" b="0" dirty="0">
                <a:solidFill>
                  <a:srgbClr val="233445"/>
                </a:solidFill>
                <a:latin typeface="Aptos"/>
              </a:rPr>
              <a:t>Clients resolve fresh access</a:t>
            </a:r>
            <a:br>
              <a:rPr sz="1400" dirty="0"/>
            </a:br>
            <a:r>
              <a:rPr sz="1400" dirty="0"/>
              <a:t>and verify before use.</a:t>
            </a:r>
          </a:p>
        </p:txBody>
      </p:sp>
      <p:cxnSp>
        <p:nvCxnSpPr>
          <p:cNvPr id="32" name="Connector 31"/>
          <p:cNvCxnSpPr/>
          <p:nvPr/>
        </p:nvCxnSpPr>
        <p:spPr>
          <a:xfrm>
            <a:off x="10222992" y="2688336"/>
            <a:ext cx="0" cy="384048"/>
          </a:xfrm>
          <a:prstGeom prst="line">
            <a:avLst/>
          </a:prstGeom>
          <a:ln w="15875">
            <a:solidFill>
              <a:srgbClr val="1C9793"/>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487168" y="2487168"/>
            <a:ext cx="2487168" cy="310896"/>
          </a:xfrm>
          <a:prstGeom prst="rect">
            <a:avLst/>
          </a:prstGeom>
          <a:noFill/>
        </p:spPr>
        <p:txBody>
          <a:bodyPr wrap="none" anchor="ctr">
            <a:spAutoFit/>
          </a:bodyPr>
          <a:lstStyle/>
          <a:p>
            <a:pPr algn="ctr"/>
            <a:r>
              <a:rPr sz="1100" b="0">
                <a:solidFill>
                  <a:srgbClr val="4C6070"/>
                </a:solidFill>
                <a:latin typeface="Aptos"/>
              </a:rPr>
              <a:t>stable reference</a:t>
            </a:r>
          </a:p>
        </p:txBody>
      </p:sp>
      <p:sp>
        <p:nvSpPr>
          <p:cNvPr id="34" name="TextBox 33"/>
          <p:cNvSpPr txBox="1"/>
          <p:nvPr/>
        </p:nvSpPr>
        <p:spPr>
          <a:xfrm>
            <a:off x="6693408" y="2487168"/>
            <a:ext cx="2487168" cy="310896"/>
          </a:xfrm>
          <a:prstGeom prst="rect">
            <a:avLst/>
          </a:prstGeom>
          <a:noFill/>
        </p:spPr>
        <p:txBody>
          <a:bodyPr wrap="none" anchor="ctr">
            <a:spAutoFit/>
          </a:bodyPr>
          <a:lstStyle/>
          <a:p>
            <a:pPr algn="ctr"/>
            <a:r>
              <a:rPr sz="1100" b="0">
                <a:solidFill>
                  <a:srgbClr val="4C6070"/>
                </a:solidFill>
                <a:latin typeface="Aptos"/>
              </a:rPr>
              <a:t>live resolution</a:t>
            </a:r>
          </a:p>
        </p:txBody>
      </p:sp>
      <p:pic>
        <p:nvPicPr>
          <p:cNvPr id="3" name="Picture 2" descr="File:Git icon.svg - Wikimedia Commons">
            <a:extLst>
              <a:ext uri="{FF2B5EF4-FFF2-40B4-BE49-F238E27FC236}">
                <a16:creationId xmlns:a16="http://schemas.microsoft.com/office/drawing/2014/main" id="{E57BBFB9-222C-2336-DD9F-426F0D759CD1}"/>
              </a:ext>
            </a:extLst>
          </p:cNvPr>
          <p:cNvPicPr>
            <a:picLocks noChangeAspect="1"/>
          </p:cNvPicPr>
          <p:nvPr/>
        </p:nvPicPr>
        <p:blipFill>
          <a:blip r:embed="rId2"/>
          <a:stretch>
            <a:fillRect/>
          </a:stretch>
        </p:blipFill>
        <p:spPr>
          <a:xfrm>
            <a:off x="1684278" y="2009447"/>
            <a:ext cx="462780" cy="462780"/>
          </a:xfrm>
          <a:prstGeom prst="rect">
            <a:avLst/>
          </a:prstGeom>
        </p:spPr>
      </p:pic>
      <p:pic>
        <p:nvPicPr>
          <p:cNvPr id="6" name="Picture 5" descr="Data transfer - Free communications icons">
            <a:extLst>
              <a:ext uri="{FF2B5EF4-FFF2-40B4-BE49-F238E27FC236}">
                <a16:creationId xmlns:a16="http://schemas.microsoft.com/office/drawing/2014/main" id="{265D3A4D-2382-AC1E-A77B-16F2F49FEE0B}"/>
              </a:ext>
            </a:extLst>
          </p:cNvPr>
          <p:cNvPicPr>
            <a:picLocks noChangeAspect="1"/>
          </p:cNvPicPr>
          <p:nvPr/>
        </p:nvPicPr>
        <p:blipFill>
          <a:blip r:embed="rId3"/>
          <a:stretch>
            <a:fillRect/>
          </a:stretch>
        </p:blipFill>
        <p:spPr>
          <a:xfrm>
            <a:off x="9989820" y="2071116"/>
            <a:ext cx="411480" cy="411480"/>
          </a:xfrm>
          <a:prstGeom prst="rect">
            <a:avLst/>
          </a:prstGeom>
        </p:spPr>
      </p:pic>
      <p:sp>
        <p:nvSpPr>
          <p:cNvPr id="8" name="TextBox 7">
            <a:extLst>
              <a:ext uri="{FF2B5EF4-FFF2-40B4-BE49-F238E27FC236}">
                <a16:creationId xmlns:a16="http://schemas.microsoft.com/office/drawing/2014/main" id="{80F7E202-5803-3C44-138F-5034690BB168}"/>
              </a:ext>
            </a:extLst>
          </p:cNvPr>
          <p:cNvSpPr txBox="1"/>
          <p:nvPr/>
        </p:nvSpPr>
        <p:spPr>
          <a:xfrm>
            <a:off x="63488" y="6528052"/>
            <a:ext cx="6097772" cy="369332"/>
          </a:xfrm>
          <a:prstGeom prst="rect">
            <a:avLst/>
          </a:prstGeom>
          <a:noFill/>
        </p:spPr>
        <p:txBody>
          <a:bodyPr wrap="square">
            <a:spAutoFit/>
          </a:bodyPr>
          <a:lstStyle/>
          <a:p>
            <a:r>
              <a:rPr lang="en-US" dirty="0"/>
              <a:t>https://</a:t>
            </a:r>
            <a:r>
              <a:rPr lang="en-US" dirty="0" err="1"/>
              <a:t>github.com</a:t>
            </a:r>
            <a:r>
              <a:rPr lang="en-US" dirty="0"/>
              <a:t>/ga4gh/data-repository-service-schemas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472" y="156341"/>
            <a:ext cx="1691640" cy="384048"/>
          </a:xfrm>
          <a:prstGeom prst="rect">
            <a:avLst/>
          </a:prstGeom>
          <a:noFill/>
        </p:spPr>
        <p:txBody>
          <a:bodyPr wrap="square" anchor="ctr">
            <a:spAutoFit/>
          </a:bodyPr>
          <a:lstStyle/>
          <a:p>
            <a:pPr algn="l"/>
            <a:r>
              <a:rPr sz="3000" b="1">
                <a:solidFill>
                  <a:srgbClr val="008280"/>
                </a:solidFill>
                <a:latin typeface="Aptos"/>
              </a:rPr>
              <a:t>git-drs</a:t>
            </a:r>
          </a:p>
        </p:txBody>
      </p:sp>
      <p:sp>
        <p:nvSpPr>
          <p:cNvPr id="3" name="TextBox 2"/>
          <p:cNvSpPr txBox="1"/>
          <p:nvPr/>
        </p:nvSpPr>
        <p:spPr>
          <a:xfrm>
            <a:off x="1920240" y="163699"/>
            <a:ext cx="6903720" cy="369332"/>
          </a:xfrm>
          <a:prstGeom prst="rect">
            <a:avLst/>
          </a:prstGeom>
          <a:noFill/>
        </p:spPr>
        <p:txBody>
          <a:bodyPr wrap="square" anchor="ctr">
            <a:spAutoFit/>
          </a:bodyPr>
          <a:lstStyle/>
          <a:p>
            <a:pPr algn="l"/>
            <a:r>
              <a:rPr b="1" dirty="0">
                <a:solidFill>
                  <a:srgbClr val="041F4F"/>
                </a:solidFill>
                <a:latin typeface="Aptos"/>
              </a:rPr>
              <a:t>publish datasets with Git</a:t>
            </a:r>
            <a:r>
              <a:rPr lang="en-US" b="1" dirty="0">
                <a:solidFill>
                  <a:srgbClr val="041F4F"/>
                </a:solidFill>
                <a:latin typeface="Aptos"/>
              </a:rPr>
              <a:t> - </a:t>
            </a:r>
            <a:r>
              <a:rPr b="1" dirty="0">
                <a:solidFill>
                  <a:srgbClr val="041F4F"/>
                </a:solidFill>
                <a:latin typeface="Aptos"/>
              </a:rPr>
              <a:t>without publishing the data to Git.</a:t>
            </a:r>
          </a:p>
        </p:txBody>
      </p:sp>
      <p:sp>
        <p:nvSpPr>
          <p:cNvPr id="4" name="Rectangle 3"/>
          <p:cNvSpPr/>
          <p:nvPr/>
        </p:nvSpPr>
        <p:spPr>
          <a:xfrm>
            <a:off x="365760" y="1170432"/>
            <a:ext cx="841248" cy="41148"/>
          </a:xfrm>
          <a:prstGeom prst="rect">
            <a:avLst/>
          </a:prstGeom>
          <a:solidFill>
            <a:srgbClr val="008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25880"/>
            <a:ext cx="8046720" cy="566928"/>
          </a:xfrm>
          <a:prstGeom prst="rect">
            <a:avLst/>
          </a:prstGeom>
          <a:noFill/>
        </p:spPr>
        <p:txBody>
          <a:bodyPr wrap="square" anchor="ctr">
            <a:spAutoFit/>
          </a:bodyPr>
          <a:lstStyle/>
          <a:p>
            <a:pPr algn="l"/>
            <a:r>
              <a:rPr sz="1130" b="0">
                <a:solidFill>
                  <a:srgbClr val="191F27"/>
                </a:solidFill>
                <a:latin typeface="Aptos"/>
              </a:rPr>
              <a:t>Add local or existing data once, and git-drs records stable DRS references, checksums,</a:t>
            </a:r>
            <a:br/>
            <a:r>
              <a:rPr sz="1130" b="0">
                <a:solidFill>
                  <a:srgbClr val="191F27"/>
                </a:solidFill>
                <a:latin typeface="Aptos"/>
              </a:rPr>
              <a:t>and dataset structure. Then use ordinary Git to commit, version, and share the dataset</a:t>
            </a:r>
            <a:br/>
            <a:r>
              <a:rPr sz="1130" b="0">
                <a:solidFill>
                  <a:srgbClr val="191F27"/>
                </a:solidFill>
                <a:latin typeface="Aptos"/>
              </a:rPr>
              <a:t>definition—while the bytes remain in the right data repository.</a:t>
            </a:r>
          </a:p>
        </p:txBody>
      </p:sp>
      <p:sp>
        <p:nvSpPr>
          <p:cNvPr id="12" name="Oval 11"/>
          <p:cNvSpPr/>
          <p:nvPr/>
        </p:nvSpPr>
        <p:spPr>
          <a:xfrm>
            <a:off x="384048" y="2148840"/>
            <a:ext cx="438912" cy="438912"/>
          </a:xfrm>
          <a:prstGeom prst="ellipse">
            <a:avLst/>
          </a:prstGeom>
          <a:solidFill>
            <a:srgbClr val="FFFFFF"/>
          </a:solidFill>
          <a:ln>
            <a:solidFill>
              <a:srgbClr val="188B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048" y="2148840"/>
            <a:ext cx="438912" cy="438912"/>
          </a:xfrm>
          <a:prstGeom prst="rect">
            <a:avLst/>
          </a:prstGeom>
          <a:noFill/>
        </p:spPr>
        <p:txBody>
          <a:bodyPr wrap="square" anchor="ctr">
            <a:spAutoFit/>
          </a:bodyPr>
          <a:lstStyle/>
          <a:p>
            <a:pPr algn="ctr"/>
            <a:r>
              <a:rPr sz="1400" b="1">
                <a:solidFill>
                  <a:srgbClr val="188B69"/>
                </a:solidFill>
                <a:latin typeface="Aptos"/>
              </a:rPr>
              <a:t>🔒</a:t>
            </a:r>
          </a:p>
        </p:txBody>
      </p:sp>
      <p:sp>
        <p:nvSpPr>
          <p:cNvPr id="14" name="TextBox 13"/>
          <p:cNvSpPr txBox="1"/>
          <p:nvPr/>
        </p:nvSpPr>
        <p:spPr>
          <a:xfrm>
            <a:off x="932688" y="2112264"/>
            <a:ext cx="1600200" cy="246888"/>
          </a:xfrm>
          <a:prstGeom prst="rect">
            <a:avLst/>
          </a:prstGeom>
          <a:noFill/>
        </p:spPr>
        <p:txBody>
          <a:bodyPr wrap="square" anchor="ctr">
            <a:spAutoFit/>
          </a:bodyPr>
          <a:lstStyle/>
          <a:p>
            <a:pPr algn="l"/>
            <a:r>
              <a:rPr sz="980" b="1">
                <a:solidFill>
                  <a:srgbClr val="188B69"/>
                </a:solidFill>
                <a:latin typeface="Aptos"/>
              </a:rPr>
              <a:t>Safe &amp; Responsible</a:t>
            </a:r>
          </a:p>
        </p:txBody>
      </p:sp>
      <p:sp>
        <p:nvSpPr>
          <p:cNvPr id="15" name="TextBox 14"/>
          <p:cNvSpPr txBox="1"/>
          <p:nvPr/>
        </p:nvSpPr>
        <p:spPr>
          <a:xfrm>
            <a:off x="932688" y="2377440"/>
            <a:ext cx="1627632" cy="594360"/>
          </a:xfrm>
          <a:prstGeom prst="rect">
            <a:avLst/>
          </a:prstGeom>
          <a:noFill/>
        </p:spPr>
        <p:txBody>
          <a:bodyPr wrap="square" anchor="ctr">
            <a:spAutoFit/>
          </a:bodyPr>
          <a:lstStyle/>
          <a:p>
            <a:pPr algn="l"/>
            <a:r>
              <a:rPr sz="810" b="0">
                <a:solidFill>
                  <a:srgbClr val="191F27"/>
                </a:solidFill>
                <a:latin typeface="Aptos"/>
              </a:rPr>
              <a:t>Data stays in approved</a:t>
            </a:r>
            <a:br/>
            <a:r>
              <a:rPr sz="810" b="0">
                <a:solidFill>
                  <a:srgbClr val="191F27"/>
                </a:solidFill>
                <a:latin typeface="Aptos"/>
              </a:rPr>
              <a:t>repositories with proper</a:t>
            </a:r>
            <a:br/>
            <a:r>
              <a:rPr sz="810" b="0">
                <a:solidFill>
                  <a:srgbClr val="191F27"/>
                </a:solidFill>
                <a:latin typeface="Aptos"/>
              </a:rPr>
              <a:t>access controls.</a:t>
            </a:r>
          </a:p>
        </p:txBody>
      </p:sp>
      <p:sp>
        <p:nvSpPr>
          <p:cNvPr id="16" name="Oval 15"/>
          <p:cNvSpPr/>
          <p:nvPr/>
        </p:nvSpPr>
        <p:spPr>
          <a:xfrm>
            <a:off x="2697480" y="2148840"/>
            <a:ext cx="438912" cy="438912"/>
          </a:xfrm>
          <a:prstGeom prst="ellipse">
            <a:avLst/>
          </a:prstGeom>
          <a:solidFill>
            <a:srgbClr val="FFFFFF"/>
          </a:solidFill>
          <a:ln>
            <a:solidFill>
              <a:srgbClr val="1253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97480" y="2148840"/>
            <a:ext cx="438912" cy="438912"/>
          </a:xfrm>
          <a:prstGeom prst="rect">
            <a:avLst/>
          </a:prstGeom>
          <a:noFill/>
        </p:spPr>
        <p:txBody>
          <a:bodyPr wrap="square" anchor="ctr">
            <a:spAutoFit/>
          </a:bodyPr>
          <a:lstStyle/>
          <a:p>
            <a:pPr algn="ctr"/>
            <a:r>
              <a:rPr sz="1400" b="1">
                <a:solidFill>
                  <a:srgbClr val="1253A9"/>
                </a:solidFill>
                <a:latin typeface="Aptos"/>
              </a:rPr>
              <a:t>⌘</a:t>
            </a:r>
          </a:p>
        </p:txBody>
      </p:sp>
      <p:sp>
        <p:nvSpPr>
          <p:cNvPr id="18" name="TextBox 17"/>
          <p:cNvSpPr txBox="1"/>
          <p:nvPr/>
        </p:nvSpPr>
        <p:spPr>
          <a:xfrm>
            <a:off x="3246120" y="2112264"/>
            <a:ext cx="1600200" cy="246888"/>
          </a:xfrm>
          <a:prstGeom prst="rect">
            <a:avLst/>
          </a:prstGeom>
          <a:noFill/>
        </p:spPr>
        <p:txBody>
          <a:bodyPr wrap="square" anchor="ctr">
            <a:spAutoFit/>
          </a:bodyPr>
          <a:lstStyle/>
          <a:p>
            <a:pPr algn="l"/>
            <a:r>
              <a:rPr sz="980" b="1">
                <a:solidFill>
                  <a:srgbClr val="1253A9"/>
                </a:solidFill>
                <a:latin typeface="Aptos"/>
              </a:rPr>
              <a:t>Versioned &amp; Reproducible</a:t>
            </a:r>
          </a:p>
        </p:txBody>
      </p:sp>
      <p:sp>
        <p:nvSpPr>
          <p:cNvPr id="19" name="TextBox 18"/>
          <p:cNvSpPr txBox="1"/>
          <p:nvPr/>
        </p:nvSpPr>
        <p:spPr>
          <a:xfrm>
            <a:off x="3246120" y="2377440"/>
            <a:ext cx="1627632" cy="594360"/>
          </a:xfrm>
          <a:prstGeom prst="rect">
            <a:avLst/>
          </a:prstGeom>
          <a:noFill/>
        </p:spPr>
        <p:txBody>
          <a:bodyPr wrap="square" anchor="ctr">
            <a:spAutoFit/>
          </a:bodyPr>
          <a:lstStyle/>
          <a:p>
            <a:pPr algn="l"/>
            <a:r>
              <a:rPr sz="810" b="0">
                <a:solidFill>
                  <a:srgbClr val="191F27"/>
                </a:solidFill>
                <a:latin typeface="Aptos"/>
              </a:rPr>
              <a:t>Git versions the dataset</a:t>
            </a:r>
            <a:br/>
            <a:r>
              <a:rPr sz="810" b="0">
                <a:solidFill>
                  <a:srgbClr val="191F27"/>
                </a:solidFill>
                <a:latin typeface="Aptos"/>
              </a:rPr>
              <a:t>structure and references,</a:t>
            </a:r>
            <a:br/>
            <a:r>
              <a:rPr sz="810" b="0">
                <a:solidFill>
                  <a:srgbClr val="191F27"/>
                </a:solidFill>
                <a:latin typeface="Aptos"/>
              </a:rPr>
              <a:t>so every release can be</a:t>
            </a:r>
            <a:br/>
            <a:r>
              <a:rPr sz="810" b="0">
                <a:solidFill>
                  <a:srgbClr val="191F27"/>
                </a:solidFill>
                <a:latin typeface="Aptos"/>
              </a:rPr>
              <a:t>reproduced.</a:t>
            </a:r>
          </a:p>
        </p:txBody>
      </p:sp>
      <p:sp>
        <p:nvSpPr>
          <p:cNvPr id="20" name="Oval 19"/>
          <p:cNvSpPr/>
          <p:nvPr/>
        </p:nvSpPr>
        <p:spPr>
          <a:xfrm>
            <a:off x="5010912" y="2148840"/>
            <a:ext cx="438912" cy="438912"/>
          </a:xfrm>
          <a:prstGeom prst="ellipse">
            <a:avLst/>
          </a:prstGeom>
          <a:solidFill>
            <a:srgbClr val="FFFFFF"/>
          </a:solidFill>
          <a:ln>
            <a:solidFill>
              <a:srgbClr val="663A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10912" y="2148840"/>
            <a:ext cx="438912" cy="438912"/>
          </a:xfrm>
          <a:prstGeom prst="rect">
            <a:avLst/>
          </a:prstGeom>
          <a:noFill/>
        </p:spPr>
        <p:txBody>
          <a:bodyPr wrap="square" anchor="ctr">
            <a:spAutoFit/>
          </a:bodyPr>
          <a:lstStyle/>
          <a:p>
            <a:pPr algn="ctr"/>
            <a:r>
              <a:rPr sz="1400" b="1">
                <a:solidFill>
                  <a:srgbClr val="663A94"/>
                </a:solidFill>
                <a:latin typeface="Aptos"/>
              </a:rPr>
              <a:t>●●●</a:t>
            </a:r>
          </a:p>
        </p:txBody>
      </p:sp>
      <p:sp>
        <p:nvSpPr>
          <p:cNvPr id="22" name="TextBox 21"/>
          <p:cNvSpPr txBox="1"/>
          <p:nvPr/>
        </p:nvSpPr>
        <p:spPr>
          <a:xfrm>
            <a:off x="5559552" y="2112264"/>
            <a:ext cx="1600200" cy="246888"/>
          </a:xfrm>
          <a:prstGeom prst="rect">
            <a:avLst/>
          </a:prstGeom>
          <a:noFill/>
        </p:spPr>
        <p:txBody>
          <a:bodyPr wrap="square" anchor="ctr">
            <a:spAutoFit/>
          </a:bodyPr>
          <a:lstStyle/>
          <a:p>
            <a:pPr algn="l"/>
            <a:r>
              <a:rPr sz="980" b="1">
                <a:solidFill>
                  <a:srgbClr val="663A94"/>
                </a:solidFill>
                <a:latin typeface="Aptos"/>
              </a:rPr>
              <a:t>Shareable</a:t>
            </a:r>
          </a:p>
        </p:txBody>
      </p:sp>
      <p:sp>
        <p:nvSpPr>
          <p:cNvPr id="23" name="TextBox 22"/>
          <p:cNvSpPr txBox="1"/>
          <p:nvPr/>
        </p:nvSpPr>
        <p:spPr>
          <a:xfrm>
            <a:off x="5559552" y="2377440"/>
            <a:ext cx="1627632" cy="594360"/>
          </a:xfrm>
          <a:prstGeom prst="rect">
            <a:avLst/>
          </a:prstGeom>
          <a:noFill/>
        </p:spPr>
        <p:txBody>
          <a:bodyPr wrap="square" anchor="ctr">
            <a:spAutoFit/>
          </a:bodyPr>
          <a:lstStyle/>
          <a:p>
            <a:pPr algn="l"/>
            <a:r>
              <a:rPr sz="810" b="0">
                <a:solidFill>
                  <a:srgbClr val="191F27"/>
                </a:solidFill>
                <a:latin typeface="Aptos"/>
              </a:rPr>
              <a:t>Share a lightweight repo,</a:t>
            </a:r>
            <a:br/>
            <a:r>
              <a:rPr sz="810" b="0">
                <a:solidFill>
                  <a:srgbClr val="191F27"/>
                </a:solidFill>
                <a:latin typeface="Aptos"/>
              </a:rPr>
              <a:t>not the data. Collaborators</a:t>
            </a:r>
            <a:br/>
            <a:r>
              <a:rPr sz="810" b="0">
                <a:solidFill>
                  <a:srgbClr val="191F27"/>
                </a:solidFill>
                <a:latin typeface="Aptos"/>
              </a:rPr>
              <a:t>hydrate with their own</a:t>
            </a:r>
            <a:br/>
            <a:r>
              <a:rPr sz="810" b="0">
                <a:solidFill>
                  <a:srgbClr val="191F27"/>
                </a:solidFill>
                <a:latin typeface="Aptos"/>
              </a:rPr>
              <a:t>access.</a:t>
            </a:r>
          </a:p>
        </p:txBody>
      </p:sp>
      <p:sp>
        <p:nvSpPr>
          <p:cNvPr id="24" name="Oval 23"/>
          <p:cNvSpPr/>
          <p:nvPr/>
        </p:nvSpPr>
        <p:spPr>
          <a:xfrm>
            <a:off x="7223760" y="2148840"/>
            <a:ext cx="438912" cy="438912"/>
          </a:xfrm>
          <a:prstGeom prst="ellipse">
            <a:avLst/>
          </a:prstGeom>
          <a:solidFill>
            <a:srgbClr val="FFFFFF"/>
          </a:solidFill>
          <a:ln>
            <a:solidFill>
              <a:srgbClr val="E65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223760" y="2148840"/>
            <a:ext cx="438912" cy="438912"/>
          </a:xfrm>
          <a:prstGeom prst="rect">
            <a:avLst/>
          </a:prstGeom>
          <a:noFill/>
        </p:spPr>
        <p:txBody>
          <a:bodyPr wrap="square" anchor="ctr">
            <a:spAutoFit/>
          </a:bodyPr>
          <a:lstStyle/>
          <a:p>
            <a:pPr algn="ctr"/>
            <a:r>
              <a:rPr sz="1400" b="1">
                <a:solidFill>
                  <a:srgbClr val="E65C00"/>
                </a:solidFill>
                <a:latin typeface="Aptos"/>
              </a:rPr>
              <a:t>☁</a:t>
            </a:r>
          </a:p>
        </p:txBody>
      </p:sp>
      <p:sp>
        <p:nvSpPr>
          <p:cNvPr id="26" name="TextBox 25"/>
          <p:cNvSpPr txBox="1"/>
          <p:nvPr/>
        </p:nvSpPr>
        <p:spPr>
          <a:xfrm>
            <a:off x="7772400" y="2112264"/>
            <a:ext cx="1600200" cy="246888"/>
          </a:xfrm>
          <a:prstGeom prst="rect">
            <a:avLst/>
          </a:prstGeom>
          <a:noFill/>
        </p:spPr>
        <p:txBody>
          <a:bodyPr wrap="square" anchor="ctr">
            <a:spAutoFit/>
          </a:bodyPr>
          <a:lstStyle/>
          <a:p>
            <a:pPr algn="l"/>
            <a:r>
              <a:rPr sz="980" b="1">
                <a:solidFill>
                  <a:srgbClr val="E65C00"/>
                </a:solidFill>
                <a:latin typeface="Aptos"/>
              </a:rPr>
              <a:t>Repository Agnostic</a:t>
            </a:r>
          </a:p>
        </p:txBody>
      </p:sp>
      <p:sp>
        <p:nvSpPr>
          <p:cNvPr id="27" name="TextBox 26"/>
          <p:cNvSpPr txBox="1"/>
          <p:nvPr/>
        </p:nvSpPr>
        <p:spPr>
          <a:xfrm>
            <a:off x="7772400" y="2377440"/>
            <a:ext cx="1627632" cy="594360"/>
          </a:xfrm>
          <a:prstGeom prst="rect">
            <a:avLst/>
          </a:prstGeom>
          <a:noFill/>
        </p:spPr>
        <p:txBody>
          <a:bodyPr wrap="square" anchor="ctr">
            <a:spAutoFit/>
          </a:bodyPr>
          <a:lstStyle/>
          <a:p>
            <a:pPr algn="l"/>
            <a:r>
              <a:rPr sz="810" b="0">
                <a:solidFill>
                  <a:srgbClr val="191F27"/>
                </a:solidFill>
                <a:latin typeface="Aptos"/>
              </a:rPr>
              <a:t>Works with any DRS-</a:t>
            </a:r>
            <a:br/>
            <a:r>
              <a:rPr sz="810" b="0">
                <a:solidFill>
                  <a:srgbClr val="191F27"/>
                </a:solidFill>
                <a:latin typeface="Aptos"/>
              </a:rPr>
              <a:t>enabled repository or</a:t>
            </a:r>
            <a:br/>
            <a:r>
              <a:rPr sz="810" b="0">
                <a:solidFill>
                  <a:srgbClr val="191F27"/>
                </a:solidFill>
                <a:latin typeface="Aptos"/>
              </a:rPr>
              <a:t>cloud backend.</a:t>
            </a:r>
          </a:p>
        </p:txBody>
      </p:sp>
      <p:sp>
        <p:nvSpPr>
          <p:cNvPr id="28" name="Oval 27"/>
          <p:cNvSpPr/>
          <p:nvPr/>
        </p:nvSpPr>
        <p:spPr>
          <a:xfrm>
            <a:off x="9436608" y="2148840"/>
            <a:ext cx="438912" cy="438912"/>
          </a:xfrm>
          <a:prstGeom prst="ellipse">
            <a:avLst/>
          </a:prstGeom>
          <a:solidFill>
            <a:srgbClr val="FFFFFF"/>
          </a:solidFill>
          <a:ln>
            <a:solidFill>
              <a:srgbClr val="008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36608" y="2148840"/>
            <a:ext cx="438912" cy="438912"/>
          </a:xfrm>
          <a:prstGeom prst="rect">
            <a:avLst/>
          </a:prstGeom>
          <a:noFill/>
        </p:spPr>
        <p:txBody>
          <a:bodyPr wrap="square" anchor="ctr">
            <a:spAutoFit/>
          </a:bodyPr>
          <a:lstStyle/>
          <a:p>
            <a:pPr algn="ctr"/>
            <a:r>
              <a:rPr sz="1400" b="1">
                <a:solidFill>
                  <a:srgbClr val="008280"/>
                </a:solidFill>
                <a:latin typeface="Aptos"/>
              </a:rPr>
              <a:t>✓</a:t>
            </a:r>
          </a:p>
        </p:txBody>
      </p:sp>
      <p:sp>
        <p:nvSpPr>
          <p:cNvPr id="30" name="TextBox 29"/>
          <p:cNvSpPr txBox="1"/>
          <p:nvPr/>
        </p:nvSpPr>
        <p:spPr>
          <a:xfrm>
            <a:off x="9985248" y="2112264"/>
            <a:ext cx="1600200" cy="246888"/>
          </a:xfrm>
          <a:prstGeom prst="rect">
            <a:avLst/>
          </a:prstGeom>
          <a:noFill/>
        </p:spPr>
        <p:txBody>
          <a:bodyPr wrap="square" anchor="ctr">
            <a:spAutoFit/>
          </a:bodyPr>
          <a:lstStyle/>
          <a:p>
            <a:pPr algn="l"/>
            <a:r>
              <a:rPr sz="980" b="1">
                <a:solidFill>
                  <a:srgbClr val="008280"/>
                </a:solidFill>
                <a:latin typeface="Aptos"/>
              </a:rPr>
              <a:t>Integrity by Design</a:t>
            </a:r>
          </a:p>
        </p:txBody>
      </p:sp>
      <p:sp>
        <p:nvSpPr>
          <p:cNvPr id="31" name="TextBox 30"/>
          <p:cNvSpPr txBox="1"/>
          <p:nvPr/>
        </p:nvSpPr>
        <p:spPr>
          <a:xfrm>
            <a:off x="9985248" y="2377440"/>
            <a:ext cx="1627632" cy="594360"/>
          </a:xfrm>
          <a:prstGeom prst="rect">
            <a:avLst/>
          </a:prstGeom>
          <a:noFill/>
        </p:spPr>
        <p:txBody>
          <a:bodyPr wrap="square" anchor="ctr">
            <a:spAutoFit/>
          </a:bodyPr>
          <a:lstStyle/>
          <a:p>
            <a:pPr algn="l"/>
            <a:r>
              <a:rPr sz="810" b="0">
                <a:solidFill>
                  <a:srgbClr val="191F27"/>
                </a:solidFill>
                <a:latin typeface="Aptos"/>
              </a:rPr>
              <a:t>References include size</a:t>
            </a:r>
            <a:br/>
            <a:r>
              <a:rPr sz="810" b="0">
                <a:solidFill>
                  <a:srgbClr val="191F27"/>
                </a:solidFill>
                <a:latin typeface="Aptos"/>
              </a:rPr>
              <a:t>and SHA256. Consumers</a:t>
            </a:r>
            <a:br/>
            <a:r>
              <a:rPr sz="810" b="0">
                <a:solidFill>
                  <a:srgbClr val="191F27"/>
                </a:solidFill>
                <a:latin typeface="Aptos"/>
              </a:rPr>
              <a:t>verify before using.</a:t>
            </a:r>
          </a:p>
        </p:txBody>
      </p:sp>
      <p:sp>
        <p:nvSpPr>
          <p:cNvPr id="32" name="TextBox 31"/>
          <p:cNvSpPr txBox="1"/>
          <p:nvPr/>
        </p:nvSpPr>
        <p:spPr>
          <a:xfrm>
            <a:off x="2788920" y="3246120"/>
            <a:ext cx="3840480" cy="256032"/>
          </a:xfrm>
          <a:prstGeom prst="rect">
            <a:avLst/>
          </a:prstGeom>
          <a:noFill/>
        </p:spPr>
        <p:txBody>
          <a:bodyPr wrap="square" anchor="ctr">
            <a:spAutoFit/>
          </a:bodyPr>
          <a:lstStyle/>
          <a:p>
            <a:pPr algn="l"/>
            <a:r>
              <a:rPr sz="1300" b="1">
                <a:solidFill>
                  <a:srgbClr val="041F4F"/>
                </a:solidFill>
                <a:latin typeface="Aptos"/>
              </a:rPr>
              <a:t>The git-drs Data Publisher Workflow</a:t>
            </a:r>
          </a:p>
        </p:txBody>
      </p:sp>
      <p:cxnSp>
        <p:nvCxnSpPr>
          <p:cNvPr id="33" name="Connector 32"/>
          <p:cNvCxnSpPr/>
          <p:nvPr/>
        </p:nvCxnSpPr>
        <p:spPr>
          <a:xfrm>
            <a:off x="384048" y="3374136"/>
            <a:ext cx="2221992" cy="0"/>
          </a:xfrm>
          <a:prstGeom prst="line">
            <a:avLst/>
          </a:prstGeom>
          <a:ln>
            <a:solidFill>
              <a:srgbClr val="D9DFE5"/>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675120" y="3374136"/>
            <a:ext cx="1572768" cy="0"/>
          </a:xfrm>
          <a:prstGeom prst="line">
            <a:avLst/>
          </a:prstGeom>
          <a:ln>
            <a:solidFill>
              <a:srgbClr val="D9DFE5"/>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457200" y="3685032"/>
            <a:ext cx="265176" cy="265176"/>
          </a:xfrm>
          <a:prstGeom prst="ellipse">
            <a:avLst/>
          </a:prstGeom>
          <a:solidFill>
            <a:srgbClr val="008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7200" y="3685032"/>
            <a:ext cx="265176" cy="265176"/>
          </a:xfrm>
          <a:prstGeom prst="rect">
            <a:avLst/>
          </a:prstGeom>
          <a:noFill/>
        </p:spPr>
        <p:txBody>
          <a:bodyPr wrap="square" anchor="ctr">
            <a:spAutoFit/>
          </a:bodyPr>
          <a:lstStyle/>
          <a:p>
            <a:pPr algn="ctr"/>
            <a:r>
              <a:rPr sz="950" b="1">
                <a:solidFill>
                  <a:srgbClr val="FFFFFF"/>
                </a:solidFill>
                <a:latin typeface="Aptos"/>
              </a:rPr>
              <a:t>1</a:t>
            </a:r>
          </a:p>
        </p:txBody>
      </p:sp>
      <p:sp>
        <p:nvSpPr>
          <p:cNvPr id="37" name="TextBox 36"/>
          <p:cNvSpPr txBox="1"/>
          <p:nvPr/>
        </p:nvSpPr>
        <p:spPr>
          <a:xfrm>
            <a:off x="822960" y="3639312"/>
            <a:ext cx="1938528" cy="228600"/>
          </a:xfrm>
          <a:prstGeom prst="rect">
            <a:avLst/>
          </a:prstGeom>
          <a:noFill/>
        </p:spPr>
        <p:txBody>
          <a:bodyPr wrap="square" anchor="ctr">
            <a:spAutoFit/>
          </a:bodyPr>
          <a:lstStyle/>
          <a:p>
            <a:pPr algn="l"/>
            <a:r>
              <a:rPr sz="1019" b="1">
                <a:solidFill>
                  <a:srgbClr val="008280"/>
                </a:solidFill>
                <a:latin typeface="Aptos"/>
              </a:rPr>
              <a:t>Add Data</a:t>
            </a:r>
          </a:p>
        </p:txBody>
      </p:sp>
      <p:sp>
        <p:nvSpPr>
          <p:cNvPr id="38" name="TextBox 37"/>
          <p:cNvSpPr txBox="1"/>
          <p:nvPr/>
        </p:nvSpPr>
        <p:spPr>
          <a:xfrm>
            <a:off x="822960" y="3886200"/>
            <a:ext cx="2084831" cy="338328"/>
          </a:xfrm>
          <a:prstGeom prst="rect">
            <a:avLst/>
          </a:prstGeom>
          <a:noFill/>
        </p:spPr>
        <p:txBody>
          <a:bodyPr wrap="square" anchor="ctr">
            <a:spAutoFit/>
          </a:bodyPr>
          <a:lstStyle/>
          <a:p>
            <a:pPr algn="l"/>
            <a:r>
              <a:rPr sz="830" b="0">
                <a:solidFill>
                  <a:srgbClr val="191F27"/>
                </a:solidFill>
                <a:latin typeface="Aptos"/>
              </a:rPr>
              <a:t>Add local files or existing DRS</a:t>
            </a:r>
            <a:br/>
            <a:r>
              <a:rPr sz="830" b="0">
                <a:solidFill>
                  <a:srgbClr val="191F27"/>
                </a:solidFill>
                <a:latin typeface="Aptos"/>
              </a:rPr>
              <a:t>objects to the repository.</a:t>
            </a:r>
          </a:p>
        </p:txBody>
      </p:sp>
      <p:sp>
        <p:nvSpPr>
          <p:cNvPr id="39" name="Oval 38"/>
          <p:cNvSpPr/>
          <p:nvPr/>
        </p:nvSpPr>
        <p:spPr>
          <a:xfrm>
            <a:off x="3182112" y="3685032"/>
            <a:ext cx="265176" cy="265176"/>
          </a:xfrm>
          <a:prstGeom prst="ellipse">
            <a:avLst/>
          </a:prstGeom>
          <a:solidFill>
            <a:srgbClr val="1253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182112" y="3685032"/>
            <a:ext cx="265176" cy="265176"/>
          </a:xfrm>
          <a:prstGeom prst="rect">
            <a:avLst/>
          </a:prstGeom>
          <a:noFill/>
        </p:spPr>
        <p:txBody>
          <a:bodyPr wrap="square" anchor="ctr">
            <a:spAutoFit/>
          </a:bodyPr>
          <a:lstStyle/>
          <a:p>
            <a:pPr algn="ctr"/>
            <a:r>
              <a:rPr sz="950" b="1">
                <a:solidFill>
                  <a:srgbClr val="FFFFFF"/>
                </a:solidFill>
                <a:latin typeface="Aptos"/>
              </a:rPr>
              <a:t>2</a:t>
            </a:r>
          </a:p>
        </p:txBody>
      </p:sp>
      <p:sp>
        <p:nvSpPr>
          <p:cNvPr id="41" name="TextBox 40"/>
          <p:cNvSpPr txBox="1"/>
          <p:nvPr/>
        </p:nvSpPr>
        <p:spPr>
          <a:xfrm>
            <a:off x="3547872" y="3639312"/>
            <a:ext cx="1938528" cy="228600"/>
          </a:xfrm>
          <a:prstGeom prst="rect">
            <a:avLst/>
          </a:prstGeom>
          <a:noFill/>
        </p:spPr>
        <p:txBody>
          <a:bodyPr wrap="square" anchor="ctr">
            <a:spAutoFit/>
          </a:bodyPr>
          <a:lstStyle/>
          <a:p>
            <a:pPr algn="l"/>
            <a:r>
              <a:rPr sz="1019" b="1">
                <a:solidFill>
                  <a:srgbClr val="1253A9"/>
                </a:solidFill>
                <a:latin typeface="Aptos"/>
              </a:rPr>
              <a:t>Commit &amp; Version</a:t>
            </a:r>
          </a:p>
        </p:txBody>
      </p:sp>
      <p:sp>
        <p:nvSpPr>
          <p:cNvPr id="42" name="TextBox 41"/>
          <p:cNvSpPr txBox="1"/>
          <p:nvPr/>
        </p:nvSpPr>
        <p:spPr>
          <a:xfrm>
            <a:off x="3547872" y="3886200"/>
            <a:ext cx="2084831" cy="338328"/>
          </a:xfrm>
          <a:prstGeom prst="rect">
            <a:avLst/>
          </a:prstGeom>
          <a:noFill/>
        </p:spPr>
        <p:txBody>
          <a:bodyPr wrap="square" anchor="ctr">
            <a:spAutoFit/>
          </a:bodyPr>
          <a:lstStyle/>
          <a:p>
            <a:pPr algn="l"/>
            <a:r>
              <a:rPr sz="830" b="0">
                <a:solidFill>
                  <a:srgbClr val="191F27"/>
                </a:solidFill>
                <a:latin typeface="Aptos"/>
              </a:rPr>
              <a:t>Git versions the references and</a:t>
            </a:r>
            <a:br/>
            <a:r>
              <a:rPr sz="830" b="0">
                <a:solidFill>
                  <a:srgbClr val="191F27"/>
                </a:solidFill>
                <a:latin typeface="Aptos"/>
              </a:rPr>
              <a:t>dataset structure.</a:t>
            </a:r>
          </a:p>
        </p:txBody>
      </p:sp>
      <p:sp>
        <p:nvSpPr>
          <p:cNvPr id="43" name="Oval 42"/>
          <p:cNvSpPr/>
          <p:nvPr/>
        </p:nvSpPr>
        <p:spPr>
          <a:xfrm>
            <a:off x="6053328" y="3685032"/>
            <a:ext cx="265176" cy="265176"/>
          </a:xfrm>
          <a:prstGeom prst="ellipse">
            <a:avLst/>
          </a:prstGeom>
          <a:solidFill>
            <a:srgbClr val="663A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053328" y="3685032"/>
            <a:ext cx="265176" cy="265176"/>
          </a:xfrm>
          <a:prstGeom prst="rect">
            <a:avLst/>
          </a:prstGeom>
          <a:noFill/>
        </p:spPr>
        <p:txBody>
          <a:bodyPr wrap="square" anchor="ctr">
            <a:spAutoFit/>
          </a:bodyPr>
          <a:lstStyle/>
          <a:p>
            <a:pPr algn="ctr"/>
            <a:r>
              <a:rPr sz="950" b="1">
                <a:solidFill>
                  <a:srgbClr val="FFFFFF"/>
                </a:solidFill>
                <a:latin typeface="Aptos"/>
              </a:rPr>
              <a:t>3</a:t>
            </a:r>
          </a:p>
        </p:txBody>
      </p:sp>
      <p:sp>
        <p:nvSpPr>
          <p:cNvPr id="45" name="TextBox 44"/>
          <p:cNvSpPr txBox="1"/>
          <p:nvPr/>
        </p:nvSpPr>
        <p:spPr>
          <a:xfrm>
            <a:off x="6419088" y="3639312"/>
            <a:ext cx="1938528" cy="228600"/>
          </a:xfrm>
          <a:prstGeom prst="rect">
            <a:avLst/>
          </a:prstGeom>
          <a:noFill/>
        </p:spPr>
        <p:txBody>
          <a:bodyPr wrap="square" anchor="ctr">
            <a:spAutoFit/>
          </a:bodyPr>
          <a:lstStyle/>
          <a:p>
            <a:pPr algn="l"/>
            <a:r>
              <a:rPr sz="1019" b="1">
                <a:solidFill>
                  <a:srgbClr val="663A94"/>
                </a:solidFill>
                <a:latin typeface="Aptos"/>
              </a:rPr>
              <a:t>Push &amp; Share</a:t>
            </a:r>
          </a:p>
        </p:txBody>
      </p:sp>
      <p:sp>
        <p:nvSpPr>
          <p:cNvPr id="46" name="TextBox 45"/>
          <p:cNvSpPr txBox="1"/>
          <p:nvPr/>
        </p:nvSpPr>
        <p:spPr>
          <a:xfrm>
            <a:off x="6419088" y="3886200"/>
            <a:ext cx="2084831" cy="338328"/>
          </a:xfrm>
          <a:prstGeom prst="rect">
            <a:avLst/>
          </a:prstGeom>
          <a:noFill/>
        </p:spPr>
        <p:txBody>
          <a:bodyPr wrap="square" anchor="ctr">
            <a:spAutoFit/>
          </a:bodyPr>
          <a:lstStyle/>
          <a:p>
            <a:pPr algn="l"/>
            <a:r>
              <a:rPr sz="830" b="0">
                <a:solidFill>
                  <a:srgbClr val="191F27"/>
                </a:solidFill>
                <a:latin typeface="Aptos"/>
              </a:rPr>
              <a:t>Push to your remote and share</a:t>
            </a:r>
            <a:br/>
            <a:r>
              <a:rPr sz="830" b="0">
                <a:solidFill>
                  <a:srgbClr val="191F27"/>
                </a:solidFill>
                <a:latin typeface="Aptos"/>
              </a:rPr>
              <a:t>like any other Git repository.</a:t>
            </a:r>
          </a:p>
        </p:txBody>
      </p:sp>
      <p:cxnSp>
        <p:nvCxnSpPr>
          <p:cNvPr id="47" name="Connector 46"/>
          <p:cNvCxnSpPr/>
          <p:nvPr/>
        </p:nvCxnSpPr>
        <p:spPr>
          <a:xfrm>
            <a:off x="2596896" y="3794760"/>
            <a:ext cx="402336" cy="0"/>
          </a:xfrm>
          <a:prstGeom prst="line">
            <a:avLst/>
          </a:prstGeom>
          <a:ln w="21590">
            <a:solidFill>
              <a:srgbClr val="9AA0A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404104" y="3794760"/>
            <a:ext cx="411480" cy="0"/>
          </a:xfrm>
          <a:prstGeom prst="line">
            <a:avLst/>
          </a:prstGeom>
          <a:ln w="21590">
            <a:solidFill>
              <a:srgbClr val="9AA0A8"/>
            </a:solidFill>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347472" y="4297680"/>
            <a:ext cx="2423160" cy="822960"/>
          </a:xfrm>
          <a:prstGeom prst="roundRect">
            <a:avLst/>
          </a:prstGeom>
          <a:solidFill>
            <a:srgbClr val="F9FCFC"/>
          </a:solidFill>
          <a:ln w="12700">
            <a:solidFill>
              <a:srgbClr val="008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75488" y="4361688"/>
            <a:ext cx="2176272" cy="640080"/>
          </a:xfrm>
          <a:prstGeom prst="rect">
            <a:avLst/>
          </a:prstGeom>
          <a:noFill/>
        </p:spPr>
        <p:txBody>
          <a:bodyPr wrap="square" anchor="ctr">
            <a:spAutoFit/>
          </a:bodyPr>
          <a:lstStyle/>
          <a:p>
            <a:pPr algn="l"/>
            <a:r>
              <a:rPr sz="740" b="0">
                <a:solidFill>
                  <a:srgbClr val="191F27"/>
                </a:solidFill>
                <a:latin typeface="Aptos Mono"/>
              </a:rPr>
              <a:t>git drs add data/</a:t>
            </a:r>
            <a:br/>
            <a:r>
              <a:rPr sz="740" b="0">
                <a:solidFill>
                  <a:srgbClr val="191F27"/>
                </a:solidFill>
                <a:latin typeface="Aptos Mono"/>
              </a:rPr>
              <a:t># or add existing DRS URIs</a:t>
            </a:r>
            <a:br/>
            <a:r>
              <a:rPr sz="740" b="0">
                <a:solidFill>
                  <a:srgbClr val="191F27"/>
                </a:solidFill>
                <a:latin typeface="Aptos Mono"/>
              </a:rPr>
              <a:t>git drs add-ref drs://drs.anv...</a:t>
            </a:r>
            <a:br/>
            <a:r>
              <a:rPr sz="740" b="0">
                <a:solidFill>
                  <a:srgbClr val="191F27"/>
                </a:solidFill>
                <a:latin typeface="Aptos Mono"/>
              </a:rPr>
              <a:t>  dataset.tsv</a:t>
            </a:r>
          </a:p>
        </p:txBody>
      </p:sp>
      <p:sp>
        <p:nvSpPr>
          <p:cNvPr id="51" name="Rounded Rectangle 50"/>
          <p:cNvSpPr/>
          <p:nvPr/>
        </p:nvSpPr>
        <p:spPr>
          <a:xfrm>
            <a:off x="3090672" y="4297680"/>
            <a:ext cx="2514600" cy="731520"/>
          </a:xfrm>
          <a:prstGeom prst="roundRect">
            <a:avLst/>
          </a:prstGeom>
          <a:solidFill>
            <a:srgbClr val="F9FCFC"/>
          </a:solidFill>
          <a:ln w="12700">
            <a:solidFill>
              <a:srgbClr val="1253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218688" y="4370832"/>
            <a:ext cx="2249424" cy="530352"/>
          </a:xfrm>
          <a:prstGeom prst="rect">
            <a:avLst/>
          </a:prstGeom>
          <a:noFill/>
        </p:spPr>
        <p:txBody>
          <a:bodyPr wrap="square" anchor="ctr">
            <a:spAutoFit/>
          </a:bodyPr>
          <a:lstStyle/>
          <a:p>
            <a:pPr algn="l"/>
            <a:r>
              <a:rPr sz="760" b="0">
                <a:solidFill>
                  <a:srgbClr val="191F27"/>
                </a:solidFill>
                <a:latin typeface="Aptos Mono"/>
              </a:rPr>
              <a:t>git add .</a:t>
            </a:r>
            <a:br/>
            <a:r>
              <a:rPr sz="760" b="0">
                <a:solidFill>
                  <a:srgbClr val="191F27"/>
                </a:solidFill>
                <a:latin typeface="Aptos Mono"/>
              </a:rPr>
              <a:t>git commit -m "Add 1000G dataset"</a:t>
            </a:r>
            <a:br/>
            <a:r>
              <a:rPr sz="760" b="0">
                <a:solidFill>
                  <a:srgbClr val="191F27"/>
                </a:solidFill>
                <a:latin typeface="Aptos Mono"/>
              </a:rPr>
              <a:t>git tag v1.0.0</a:t>
            </a:r>
          </a:p>
        </p:txBody>
      </p:sp>
      <p:sp>
        <p:nvSpPr>
          <p:cNvPr id="53" name="Rounded Rectangle 52"/>
          <p:cNvSpPr/>
          <p:nvPr/>
        </p:nvSpPr>
        <p:spPr>
          <a:xfrm>
            <a:off x="5943600" y="4297680"/>
            <a:ext cx="2331720" cy="658368"/>
          </a:xfrm>
          <a:prstGeom prst="roundRect">
            <a:avLst/>
          </a:prstGeom>
          <a:solidFill>
            <a:srgbClr val="F9FCFC"/>
          </a:solidFill>
          <a:ln w="12700">
            <a:solidFill>
              <a:srgbClr val="663A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080760" y="4370832"/>
            <a:ext cx="2048256" cy="457200"/>
          </a:xfrm>
          <a:prstGeom prst="rect">
            <a:avLst/>
          </a:prstGeom>
          <a:noFill/>
        </p:spPr>
        <p:txBody>
          <a:bodyPr wrap="square" anchor="ctr">
            <a:spAutoFit/>
          </a:bodyPr>
          <a:lstStyle/>
          <a:p>
            <a:pPr algn="l"/>
            <a:r>
              <a:rPr sz="770" b="0">
                <a:solidFill>
                  <a:srgbClr val="191F27"/>
                </a:solidFill>
                <a:latin typeface="Aptos Mono"/>
              </a:rPr>
              <a:t>git push origin main</a:t>
            </a:r>
            <a:br/>
            <a:r>
              <a:rPr sz="770" b="0">
                <a:solidFill>
                  <a:srgbClr val="191F27"/>
                </a:solidFill>
                <a:latin typeface="Aptos Mono"/>
              </a:rPr>
              <a:t>git push origin v1.0.0</a:t>
            </a:r>
          </a:p>
        </p:txBody>
      </p:sp>
      <p:sp>
        <p:nvSpPr>
          <p:cNvPr id="55" name="TextBox 54"/>
          <p:cNvSpPr txBox="1"/>
          <p:nvPr/>
        </p:nvSpPr>
        <p:spPr>
          <a:xfrm>
            <a:off x="502920" y="5212080"/>
            <a:ext cx="384048" cy="347472"/>
          </a:xfrm>
          <a:prstGeom prst="rect">
            <a:avLst/>
          </a:prstGeom>
          <a:noFill/>
        </p:spPr>
        <p:txBody>
          <a:bodyPr wrap="square" anchor="ctr">
            <a:spAutoFit/>
          </a:bodyPr>
          <a:lstStyle/>
          <a:p>
            <a:pPr algn="ctr"/>
            <a:r>
              <a:rPr sz="2100" b="1">
                <a:solidFill>
                  <a:srgbClr val="188B69"/>
                </a:solidFill>
                <a:latin typeface="Aptos"/>
              </a:rPr>
              <a:t>▤</a:t>
            </a:r>
          </a:p>
        </p:txBody>
      </p:sp>
      <p:cxnSp>
        <p:nvCxnSpPr>
          <p:cNvPr id="56" name="Connector 55"/>
          <p:cNvCxnSpPr/>
          <p:nvPr/>
        </p:nvCxnSpPr>
        <p:spPr>
          <a:xfrm>
            <a:off x="932688" y="5394960"/>
            <a:ext cx="301752" cy="0"/>
          </a:xfrm>
          <a:prstGeom prst="line">
            <a:avLst/>
          </a:prstGeom>
          <a:ln w="15240">
            <a:solidFill>
              <a:srgbClr val="008280"/>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1261872" y="5184648"/>
            <a:ext cx="438912" cy="438912"/>
          </a:xfrm>
          <a:prstGeom prst="ellipse">
            <a:avLst/>
          </a:prstGeom>
          <a:solidFill>
            <a:srgbClr val="008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261872" y="5184648"/>
            <a:ext cx="438912" cy="438912"/>
          </a:xfrm>
          <a:prstGeom prst="rect">
            <a:avLst/>
          </a:prstGeom>
          <a:noFill/>
        </p:spPr>
        <p:txBody>
          <a:bodyPr wrap="square" anchor="ctr">
            <a:spAutoFit/>
          </a:bodyPr>
          <a:lstStyle/>
          <a:p>
            <a:pPr algn="ctr"/>
            <a:r>
              <a:rPr sz="700" b="1">
                <a:solidFill>
                  <a:srgbClr val="FFFFFF"/>
                </a:solidFill>
                <a:latin typeface="Aptos"/>
              </a:rPr>
              <a:t>git-</a:t>
            </a:r>
            <a:br/>
            <a:r>
              <a:rPr sz="700" b="1">
                <a:solidFill>
                  <a:srgbClr val="FFFFFF"/>
                </a:solidFill>
                <a:latin typeface="Aptos"/>
              </a:rPr>
              <a:t>drs</a:t>
            </a:r>
          </a:p>
        </p:txBody>
      </p:sp>
      <p:cxnSp>
        <p:nvCxnSpPr>
          <p:cNvPr id="59" name="Connector 58"/>
          <p:cNvCxnSpPr/>
          <p:nvPr/>
        </p:nvCxnSpPr>
        <p:spPr>
          <a:xfrm>
            <a:off x="1728216" y="5394960"/>
            <a:ext cx="265176" cy="0"/>
          </a:xfrm>
          <a:prstGeom prst="line">
            <a:avLst/>
          </a:prstGeom>
          <a:ln w="15240">
            <a:solidFill>
              <a:srgbClr val="008280"/>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2011680" y="5212080"/>
            <a:ext cx="384048" cy="347472"/>
          </a:xfrm>
          <a:prstGeom prst="rect">
            <a:avLst/>
          </a:prstGeom>
          <a:noFill/>
        </p:spPr>
        <p:txBody>
          <a:bodyPr wrap="square" anchor="ctr">
            <a:spAutoFit/>
          </a:bodyPr>
          <a:lstStyle/>
          <a:p>
            <a:pPr algn="ctr"/>
            <a:r>
              <a:rPr sz="1500" b="1">
                <a:solidFill>
                  <a:srgbClr val="041F4F"/>
                </a:solidFill>
                <a:latin typeface="Aptos"/>
              </a:rPr>
              <a:t>{}</a:t>
            </a:r>
          </a:p>
        </p:txBody>
      </p:sp>
      <p:sp>
        <p:nvSpPr>
          <p:cNvPr id="61" name="TextBox 60"/>
          <p:cNvSpPr txBox="1"/>
          <p:nvPr/>
        </p:nvSpPr>
        <p:spPr>
          <a:xfrm>
            <a:off x="438912" y="5596128"/>
            <a:ext cx="2267712" cy="338328"/>
          </a:xfrm>
          <a:prstGeom prst="rect">
            <a:avLst/>
          </a:prstGeom>
          <a:noFill/>
        </p:spPr>
        <p:txBody>
          <a:bodyPr wrap="square" anchor="ctr">
            <a:spAutoFit/>
          </a:bodyPr>
          <a:lstStyle/>
          <a:p>
            <a:pPr algn="ctr"/>
            <a:r>
              <a:rPr sz="800" b="0">
                <a:solidFill>
                  <a:srgbClr val="191F27"/>
                </a:solidFill>
                <a:latin typeface="Aptos"/>
              </a:rPr>
              <a:t>Files become DRS references</a:t>
            </a:r>
            <a:br/>
            <a:r>
              <a:rPr sz="800" b="0">
                <a:solidFill>
                  <a:srgbClr val="191F27"/>
                </a:solidFill>
                <a:latin typeface="Aptos"/>
              </a:rPr>
              <a:t>with size and SHA256.</a:t>
            </a:r>
          </a:p>
        </p:txBody>
      </p:sp>
      <p:sp>
        <p:nvSpPr>
          <p:cNvPr id="62" name="Diamond 61"/>
          <p:cNvSpPr/>
          <p:nvPr/>
        </p:nvSpPr>
        <p:spPr>
          <a:xfrm>
            <a:off x="4050791" y="5248656"/>
            <a:ext cx="548640" cy="384048"/>
          </a:xfrm>
          <a:prstGeom prst="diamond">
            <a:avLst/>
          </a:prstGeom>
          <a:solidFill>
            <a:srgbClr val="1253A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Diamond 62"/>
          <p:cNvSpPr/>
          <p:nvPr/>
        </p:nvSpPr>
        <p:spPr>
          <a:xfrm>
            <a:off x="4050791" y="5175504"/>
            <a:ext cx="548640" cy="384048"/>
          </a:xfrm>
          <a:prstGeom prst="diamond">
            <a:avLst/>
          </a:prstGeom>
          <a:solidFill>
            <a:srgbClr val="1253A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Diamond 63"/>
          <p:cNvSpPr/>
          <p:nvPr/>
        </p:nvSpPr>
        <p:spPr>
          <a:xfrm>
            <a:off x="4050791" y="5102352"/>
            <a:ext cx="548640" cy="384048"/>
          </a:xfrm>
          <a:prstGeom prst="diamond">
            <a:avLst/>
          </a:prstGeom>
          <a:solidFill>
            <a:srgbClr val="1253A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050791" y="5029200"/>
            <a:ext cx="548640" cy="384048"/>
          </a:xfrm>
          <a:prstGeom prst="rect">
            <a:avLst/>
          </a:prstGeom>
          <a:noFill/>
        </p:spPr>
        <p:txBody>
          <a:bodyPr wrap="square" anchor="ctr">
            <a:spAutoFit/>
          </a:bodyPr>
          <a:lstStyle/>
          <a:p>
            <a:pPr algn="ctr"/>
            <a:r>
              <a:rPr sz="1400" b="1">
                <a:solidFill>
                  <a:srgbClr val="FFFFFF"/>
                </a:solidFill>
                <a:latin typeface="Aptos"/>
              </a:rPr>
              <a:t>⌘</a:t>
            </a:r>
          </a:p>
        </p:txBody>
      </p:sp>
      <p:sp>
        <p:nvSpPr>
          <p:cNvPr id="66" name="TextBox 65"/>
          <p:cNvSpPr txBox="1"/>
          <p:nvPr/>
        </p:nvSpPr>
        <p:spPr>
          <a:xfrm>
            <a:off x="3291840" y="5596128"/>
            <a:ext cx="2057400" cy="338328"/>
          </a:xfrm>
          <a:prstGeom prst="rect">
            <a:avLst/>
          </a:prstGeom>
          <a:noFill/>
        </p:spPr>
        <p:txBody>
          <a:bodyPr wrap="square" anchor="ctr">
            <a:spAutoFit/>
          </a:bodyPr>
          <a:lstStyle/>
          <a:p>
            <a:pPr algn="ctr"/>
            <a:r>
              <a:rPr sz="800" b="0">
                <a:solidFill>
                  <a:srgbClr val="191F27"/>
                </a:solidFill>
                <a:latin typeface="Aptos"/>
              </a:rPr>
              <a:t>Every commit captures exactly</a:t>
            </a:r>
            <a:br/>
            <a:r>
              <a:rPr sz="800" b="0">
                <a:solidFill>
                  <a:srgbClr val="191F27"/>
                </a:solidFill>
                <a:latin typeface="Aptos"/>
              </a:rPr>
              <a:t>which data, and which version.</a:t>
            </a:r>
          </a:p>
        </p:txBody>
      </p:sp>
      <p:sp>
        <p:nvSpPr>
          <p:cNvPr id="67" name="TextBox 66"/>
          <p:cNvSpPr txBox="1"/>
          <p:nvPr/>
        </p:nvSpPr>
        <p:spPr>
          <a:xfrm>
            <a:off x="6620256" y="5102352"/>
            <a:ext cx="640080" cy="502920"/>
          </a:xfrm>
          <a:prstGeom prst="rect">
            <a:avLst/>
          </a:prstGeom>
          <a:noFill/>
        </p:spPr>
        <p:txBody>
          <a:bodyPr wrap="square" anchor="ctr">
            <a:spAutoFit/>
          </a:bodyPr>
          <a:lstStyle/>
          <a:p>
            <a:pPr algn="ctr"/>
            <a:r>
              <a:rPr sz="2800" b="1">
                <a:solidFill>
                  <a:srgbClr val="663A94"/>
                </a:solidFill>
                <a:latin typeface="Aptos"/>
              </a:rPr>
              <a:t>☁</a:t>
            </a:r>
          </a:p>
        </p:txBody>
      </p:sp>
      <p:sp>
        <p:nvSpPr>
          <p:cNvPr id="68" name="TextBox 67"/>
          <p:cNvSpPr txBox="1"/>
          <p:nvPr/>
        </p:nvSpPr>
        <p:spPr>
          <a:xfrm>
            <a:off x="6757416" y="5285232"/>
            <a:ext cx="365760" cy="274320"/>
          </a:xfrm>
          <a:prstGeom prst="rect">
            <a:avLst/>
          </a:prstGeom>
          <a:noFill/>
        </p:spPr>
        <p:txBody>
          <a:bodyPr wrap="square" anchor="ctr">
            <a:spAutoFit/>
          </a:bodyPr>
          <a:lstStyle/>
          <a:p>
            <a:pPr algn="ctr"/>
            <a:r>
              <a:rPr sz="1300" b="1">
                <a:solidFill>
                  <a:srgbClr val="663A94"/>
                </a:solidFill>
                <a:latin typeface="Aptos"/>
              </a:rPr>
              <a:t>▤</a:t>
            </a:r>
          </a:p>
        </p:txBody>
      </p:sp>
      <p:sp>
        <p:nvSpPr>
          <p:cNvPr id="69" name="TextBox 68"/>
          <p:cNvSpPr txBox="1"/>
          <p:nvPr/>
        </p:nvSpPr>
        <p:spPr>
          <a:xfrm>
            <a:off x="6053328" y="5596128"/>
            <a:ext cx="2176272" cy="338328"/>
          </a:xfrm>
          <a:prstGeom prst="rect">
            <a:avLst/>
          </a:prstGeom>
          <a:noFill/>
        </p:spPr>
        <p:txBody>
          <a:bodyPr wrap="square" anchor="ctr">
            <a:spAutoFit/>
          </a:bodyPr>
          <a:lstStyle/>
          <a:p>
            <a:pPr algn="ctr"/>
            <a:r>
              <a:rPr sz="800" b="0">
                <a:solidFill>
                  <a:srgbClr val="191F27"/>
                </a:solidFill>
                <a:latin typeface="Aptos"/>
              </a:rPr>
              <a:t>Collaborators clone the repo</a:t>
            </a:r>
            <a:br/>
            <a:r>
              <a:rPr sz="800" b="0">
                <a:solidFill>
                  <a:srgbClr val="191F27"/>
                </a:solidFill>
                <a:latin typeface="Aptos"/>
              </a:rPr>
              <a:t>and hydrate with their own access.</a:t>
            </a:r>
          </a:p>
        </p:txBody>
      </p:sp>
      <p:sp>
        <p:nvSpPr>
          <p:cNvPr id="70" name="Rounded Rectangle 69"/>
          <p:cNvSpPr/>
          <p:nvPr/>
        </p:nvSpPr>
        <p:spPr>
          <a:xfrm>
            <a:off x="8613648" y="3246120"/>
            <a:ext cx="3063240" cy="2651760"/>
          </a:xfrm>
          <a:prstGeom prst="roundRect">
            <a:avLst/>
          </a:prstGeom>
          <a:solidFill>
            <a:srgbClr val="F6FBFB"/>
          </a:solidFill>
          <a:ln w="12700">
            <a:solidFill>
              <a:srgbClr val="9D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8851392" y="3456432"/>
            <a:ext cx="338328" cy="338328"/>
          </a:xfrm>
          <a:prstGeom prst="ellipse">
            <a:avLst/>
          </a:prstGeom>
          <a:solidFill>
            <a:srgbClr val="008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851392" y="3456432"/>
            <a:ext cx="338328" cy="338328"/>
          </a:xfrm>
          <a:prstGeom prst="rect">
            <a:avLst/>
          </a:prstGeom>
          <a:noFill/>
        </p:spPr>
        <p:txBody>
          <a:bodyPr wrap="square" anchor="ctr">
            <a:spAutoFit/>
          </a:bodyPr>
          <a:lstStyle/>
          <a:p>
            <a:pPr algn="ctr"/>
            <a:r>
              <a:rPr sz="1400" b="1">
                <a:solidFill>
                  <a:srgbClr val="FFFFFF"/>
                </a:solidFill>
                <a:latin typeface="Aptos"/>
              </a:rPr>
              <a:t>★</a:t>
            </a:r>
          </a:p>
        </p:txBody>
      </p:sp>
      <p:sp>
        <p:nvSpPr>
          <p:cNvPr id="73" name="TextBox 72"/>
          <p:cNvSpPr txBox="1"/>
          <p:nvPr/>
        </p:nvSpPr>
        <p:spPr>
          <a:xfrm>
            <a:off x="9281160" y="3447288"/>
            <a:ext cx="2057400" cy="274320"/>
          </a:xfrm>
          <a:prstGeom prst="rect">
            <a:avLst/>
          </a:prstGeom>
          <a:noFill/>
        </p:spPr>
        <p:txBody>
          <a:bodyPr wrap="square" anchor="ctr">
            <a:spAutoFit/>
          </a:bodyPr>
          <a:lstStyle/>
          <a:p>
            <a:pPr algn="l"/>
            <a:r>
              <a:rPr sz="1280" b="1">
                <a:solidFill>
                  <a:srgbClr val="008280"/>
                </a:solidFill>
                <a:latin typeface="Aptos"/>
              </a:rPr>
              <a:t>Why publish with git-drs?</a:t>
            </a:r>
          </a:p>
        </p:txBody>
      </p:sp>
      <p:sp>
        <p:nvSpPr>
          <p:cNvPr id="74" name="Oval 73"/>
          <p:cNvSpPr/>
          <p:nvPr/>
        </p:nvSpPr>
        <p:spPr>
          <a:xfrm>
            <a:off x="8851392" y="3867912"/>
            <a:ext cx="192024" cy="192024"/>
          </a:xfrm>
          <a:prstGeom prst="ellipse">
            <a:avLst/>
          </a:prstGeom>
          <a:solidFill>
            <a:srgbClr val="FFFFFF"/>
          </a:solidFill>
          <a:ln>
            <a:solidFill>
              <a:srgbClr val="008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851392" y="3867912"/>
            <a:ext cx="192024" cy="192024"/>
          </a:xfrm>
          <a:prstGeom prst="rect">
            <a:avLst/>
          </a:prstGeom>
          <a:noFill/>
        </p:spPr>
        <p:txBody>
          <a:bodyPr wrap="square" anchor="ctr">
            <a:spAutoFit/>
          </a:bodyPr>
          <a:lstStyle/>
          <a:p>
            <a:pPr algn="ctr"/>
            <a:r>
              <a:rPr sz="850" b="1">
                <a:solidFill>
                  <a:srgbClr val="008280"/>
                </a:solidFill>
                <a:latin typeface="Aptos"/>
              </a:rPr>
              <a:t>✓</a:t>
            </a:r>
          </a:p>
        </p:txBody>
      </p:sp>
      <p:sp>
        <p:nvSpPr>
          <p:cNvPr id="76" name="TextBox 75"/>
          <p:cNvSpPr txBox="1"/>
          <p:nvPr/>
        </p:nvSpPr>
        <p:spPr>
          <a:xfrm>
            <a:off x="9144000" y="3840480"/>
            <a:ext cx="2157984" cy="182880"/>
          </a:xfrm>
          <a:prstGeom prst="rect">
            <a:avLst/>
          </a:prstGeom>
          <a:noFill/>
        </p:spPr>
        <p:txBody>
          <a:bodyPr wrap="square" anchor="ctr">
            <a:spAutoFit/>
          </a:bodyPr>
          <a:lstStyle/>
          <a:p>
            <a:pPr algn="l"/>
            <a:r>
              <a:rPr sz="890" b="1">
                <a:solidFill>
                  <a:srgbClr val="191F27"/>
                </a:solidFill>
                <a:latin typeface="Aptos"/>
              </a:rPr>
              <a:t>Lightweight to share</a:t>
            </a:r>
          </a:p>
        </p:txBody>
      </p:sp>
      <p:sp>
        <p:nvSpPr>
          <p:cNvPr id="77" name="TextBox 76"/>
          <p:cNvSpPr txBox="1"/>
          <p:nvPr/>
        </p:nvSpPr>
        <p:spPr>
          <a:xfrm>
            <a:off x="9144000" y="4023360"/>
            <a:ext cx="2194560" cy="283464"/>
          </a:xfrm>
          <a:prstGeom prst="rect">
            <a:avLst/>
          </a:prstGeom>
          <a:noFill/>
        </p:spPr>
        <p:txBody>
          <a:bodyPr wrap="square" anchor="ctr">
            <a:spAutoFit/>
          </a:bodyPr>
          <a:lstStyle/>
          <a:p>
            <a:pPr algn="l"/>
            <a:r>
              <a:rPr sz="750" b="0">
                <a:solidFill>
                  <a:srgbClr val="191F27"/>
                </a:solidFill>
                <a:latin typeface="Aptos"/>
              </a:rPr>
              <a:t>Share a small repo, not terabytes.</a:t>
            </a:r>
          </a:p>
        </p:txBody>
      </p:sp>
      <p:sp>
        <p:nvSpPr>
          <p:cNvPr id="78" name="Oval 77"/>
          <p:cNvSpPr/>
          <p:nvPr/>
        </p:nvSpPr>
        <p:spPr>
          <a:xfrm>
            <a:off x="8851392" y="4352544"/>
            <a:ext cx="192024" cy="192024"/>
          </a:xfrm>
          <a:prstGeom prst="ellipse">
            <a:avLst/>
          </a:prstGeom>
          <a:solidFill>
            <a:srgbClr val="FFFFFF"/>
          </a:solidFill>
          <a:ln>
            <a:solidFill>
              <a:srgbClr val="008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8851392" y="4352544"/>
            <a:ext cx="192024" cy="192024"/>
          </a:xfrm>
          <a:prstGeom prst="rect">
            <a:avLst/>
          </a:prstGeom>
          <a:noFill/>
        </p:spPr>
        <p:txBody>
          <a:bodyPr wrap="square" anchor="ctr">
            <a:spAutoFit/>
          </a:bodyPr>
          <a:lstStyle/>
          <a:p>
            <a:pPr algn="ctr"/>
            <a:r>
              <a:rPr sz="850" b="1">
                <a:solidFill>
                  <a:srgbClr val="008280"/>
                </a:solidFill>
                <a:latin typeface="Aptos"/>
              </a:rPr>
              <a:t>✓</a:t>
            </a:r>
          </a:p>
        </p:txBody>
      </p:sp>
      <p:sp>
        <p:nvSpPr>
          <p:cNvPr id="80" name="TextBox 79"/>
          <p:cNvSpPr txBox="1"/>
          <p:nvPr/>
        </p:nvSpPr>
        <p:spPr>
          <a:xfrm>
            <a:off x="9144000" y="4325112"/>
            <a:ext cx="2157984" cy="182880"/>
          </a:xfrm>
          <a:prstGeom prst="rect">
            <a:avLst/>
          </a:prstGeom>
          <a:noFill/>
        </p:spPr>
        <p:txBody>
          <a:bodyPr wrap="square" anchor="ctr">
            <a:spAutoFit/>
          </a:bodyPr>
          <a:lstStyle/>
          <a:p>
            <a:pPr algn="l"/>
            <a:r>
              <a:rPr sz="890" b="1">
                <a:solidFill>
                  <a:srgbClr val="191F27"/>
                </a:solidFill>
                <a:latin typeface="Aptos"/>
              </a:rPr>
              <a:t>Built for data scale</a:t>
            </a:r>
          </a:p>
        </p:txBody>
      </p:sp>
      <p:sp>
        <p:nvSpPr>
          <p:cNvPr id="81" name="TextBox 80"/>
          <p:cNvSpPr txBox="1"/>
          <p:nvPr/>
        </p:nvSpPr>
        <p:spPr>
          <a:xfrm>
            <a:off x="9144000" y="4507992"/>
            <a:ext cx="2194560" cy="283464"/>
          </a:xfrm>
          <a:prstGeom prst="rect">
            <a:avLst/>
          </a:prstGeom>
          <a:noFill/>
        </p:spPr>
        <p:txBody>
          <a:bodyPr wrap="square" anchor="ctr">
            <a:spAutoFit/>
          </a:bodyPr>
          <a:lstStyle/>
          <a:p>
            <a:pPr algn="l"/>
            <a:r>
              <a:rPr sz="750" b="0">
                <a:solidFill>
                  <a:srgbClr val="191F27"/>
                </a:solidFill>
                <a:latin typeface="Aptos"/>
              </a:rPr>
              <a:t>DRS handles secure, scalable data access—Git handles everything else.</a:t>
            </a:r>
          </a:p>
        </p:txBody>
      </p:sp>
      <p:sp>
        <p:nvSpPr>
          <p:cNvPr id="82" name="Oval 81"/>
          <p:cNvSpPr/>
          <p:nvPr/>
        </p:nvSpPr>
        <p:spPr>
          <a:xfrm>
            <a:off x="8851392" y="4837176"/>
            <a:ext cx="192024" cy="192024"/>
          </a:xfrm>
          <a:prstGeom prst="ellipse">
            <a:avLst/>
          </a:prstGeom>
          <a:solidFill>
            <a:srgbClr val="FFFFFF"/>
          </a:solidFill>
          <a:ln>
            <a:solidFill>
              <a:srgbClr val="008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851392" y="4837176"/>
            <a:ext cx="192024" cy="192024"/>
          </a:xfrm>
          <a:prstGeom prst="rect">
            <a:avLst/>
          </a:prstGeom>
          <a:noFill/>
        </p:spPr>
        <p:txBody>
          <a:bodyPr wrap="square" anchor="ctr">
            <a:spAutoFit/>
          </a:bodyPr>
          <a:lstStyle/>
          <a:p>
            <a:pPr algn="ctr"/>
            <a:r>
              <a:rPr sz="850" b="1">
                <a:solidFill>
                  <a:srgbClr val="008280"/>
                </a:solidFill>
                <a:latin typeface="Aptos"/>
              </a:rPr>
              <a:t>✓</a:t>
            </a:r>
          </a:p>
        </p:txBody>
      </p:sp>
      <p:sp>
        <p:nvSpPr>
          <p:cNvPr id="84" name="TextBox 83"/>
          <p:cNvSpPr txBox="1"/>
          <p:nvPr/>
        </p:nvSpPr>
        <p:spPr>
          <a:xfrm>
            <a:off x="9144000" y="4809744"/>
            <a:ext cx="2157984" cy="182880"/>
          </a:xfrm>
          <a:prstGeom prst="rect">
            <a:avLst/>
          </a:prstGeom>
          <a:noFill/>
        </p:spPr>
        <p:txBody>
          <a:bodyPr wrap="square" anchor="ctr">
            <a:spAutoFit/>
          </a:bodyPr>
          <a:lstStyle/>
          <a:p>
            <a:pPr algn="l"/>
            <a:r>
              <a:rPr sz="890" b="1">
                <a:solidFill>
                  <a:srgbClr val="191F27"/>
                </a:solidFill>
                <a:latin typeface="Aptos"/>
              </a:rPr>
              <a:t>Future-proof</a:t>
            </a:r>
          </a:p>
        </p:txBody>
      </p:sp>
      <p:sp>
        <p:nvSpPr>
          <p:cNvPr id="85" name="TextBox 84"/>
          <p:cNvSpPr txBox="1"/>
          <p:nvPr/>
        </p:nvSpPr>
        <p:spPr>
          <a:xfrm>
            <a:off x="9144000" y="4992624"/>
            <a:ext cx="2194560" cy="283464"/>
          </a:xfrm>
          <a:prstGeom prst="rect">
            <a:avLst/>
          </a:prstGeom>
          <a:noFill/>
        </p:spPr>
        <p:txBody>
          <a:bodyPr wrap="square" anchor="ctr">
            <a:spAutoFit/>
          </a:bodyPr>
          <a:lstStyle/>
          <a:p>
            <a:pPr algn="l"/>
            <a:r>
              <a:rPr sz="750" b="0">
                <a:solidFill>
                  <a:srgbClr val="191F27"/>
                </a:solidFill>
                <a:latin typeface="Aptos"/>
              </a:rPr>
              <a:t>DRS references are stable and portable across platforms and time.</a:t>
            </a:r>
          </a:p>
        </p:txBody>
      </p:sp>
      <p:sp>
        <p:nvSpPr>
          <p:cNvPr id="86" name="Oval 85"/>
          <p:cNvSpPr/>
          <p:nvPr/>
        </p:nvSpPr>
        <p:spPr>
          <a:xfrm>
            <a:off x="8851392" y="5321808"/>
            <a:ext cx="192024" cy="192024"/>
          </a:xfrm>
          <a:prstGeom prst="ellipse">
            <a:avLst/>
          </a:prstGeom>
          <a:solidFill>
            <a:srgbClr val="FFFFFF"/>
          </a:solidFill>
          <a:ln>
            <a:solidFill>
              <a:srgbClr val="008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8851392" y="5321808"/>
            <a:ext cx="192024" cy="192024"/>
          </a:xfrm>
          <a:prstGeom prst="rect">
            <a:avLst/>
          </a:prstGeom>
          <a:noFill/>
        </p:spPr>
        <p:txBody>
          <a:bodyPr wrap="square" anchor="ctr">
            <a:spAutoFit/>
          </a:bodyPr>
          <a:lstStyle/>
          <a:p>
            <a:pPr algn="ctr"/>
            <a:r>
              <a:rPr sz="850" b="1">
                <a:solidFill>
                  <a:srgbClr val="008280"/>
                </a:solidFill>
                <a:latin typeface="Aptos"/>
              </a:rPr>
              <a:t>✓</a:t>
            </a:r>
          </a:p>
        </p:txBody>
      </p:sp>
      <p:sp>
        <p:nvSpPr>
          <p:cNvPr id="88" name="TextBox 87"/>
          <p:cNvSpPr txBox="1"/>
          <p:nvPr/>
        </p:nvSpPr>
        <p:spPr>
          <a:xfrm>
            <a:off x="9144000" y="5294376"/>
            <a:ext cx="2157984" cy="182880"/>
          </a:xfrm>
          <a:prstGeom prst="rect">
            <a:avLst/>
          </a:prstGeom>
          <a:noFill/>
        </p:spPr>
        <p:txBody>
          <a:bodyPr wrap="square" anchor="ctr">
            <a:spAutoFit/>
          </a:bodyPr>
          <a:lstStyle/>
          <a:p>
            <a:pPr algn="l"/>
            <a:r>
              <a:rPr sz="890" b="1">
                <a:solidFill>
                  <a:srgbClr val="191F27"/>
                </a:solidFill>
                <a:latin typeface="Aptos"/>
              </a:rPr>
              <a:t>Fits your workflow</a:t>
            </a:r>
          </a:p>
        </p:txBody>
      </p:sp>
      <p:sp>
        <p:nvSpPr>
          <p:cNvPr id="89" name="TextBox 88"/>
          <p:cNvSpPr txBox="1"/>
          <p:nvPr/>
        </p:nvSpPr>
        <p:spPr>
          <a:xfrm>
            <a:off x="9144000" y="5477256"/>
            <a:ext cx="2194560" cy="283464"/>
          </a:xfrm>
          <a:prstGeom prst="rect">
            <a:avLst/>
          </a:prstGeom>
          <a:noFill/>
        </p:spPr>
        <p:txBody>
          <a:bodyPr wrap="square" anchor="ctr">
            <a:spAutoFit/>
          </a:bodyPr>
          <a:lstStyle/>
          <a:p>
            <a:pPr algn="l"/>
            <a:r>
              <a:rPr sz="750" b="0">
                <a:solidFill>
                  <a:srgbClr val="191F27"/>
                </a:solidFill>
                <a:latin typeface="Aptos"/>
              </a:rPr>
              <a:t>Use Git for versioning, review, automation, and releases.</a:t>
            </a:r>
          </a:p>
        </p:txBody>
      </p:sp>
      <p:sp>
        <p:nvSpPr>
          <p:cNvPr id="6" name="TextBox 5">
            <a:extLst>
              <a:ext uri="{FF2B5EF4-FFF2-40B4-BE49-F238E27FC236}">
                <a16:creationId xmlns:a16="http://schemas.microsoft.com/office/drawing/2014/main" id="{5B29691C-50FD-24CB-C306-F25E61BCE58D}"/>
              </a:ext>
            </a:extLst>
          </p:cNvPr>
          <p:cNvSpPr txBox="1"/>
          <p:nvPr/>
        </p:nvSpPr>
        <p:spPr>
          <a:xfrm rot="2738292">
            <a:off x="10839423" y="379756"/>
            <a:ext cx="1492049" cy="300082"/>
          </a:xfrm>
          <a:prstGeom prst="rect">
            <a:avLst/>
          </a:prstGeom>
          <a:noFill/>
        </p:spPr>
        <p:txBody>
          <a:bodyPr wrap="square">
            <a:spAutoFit/>
          </a:bodyPr>
          <a:lstStyle/>
          <a:p>
            <a:r>
              <a:rPr lang="en-US" sz="1350" b="1" dirty="0">
                <a:solidFill>
                  <a:srgbClr val="041F4F"/>
                </a:solidFill>
                <a:highlight>
                  <a:srgbClr val="FFFF00"/>
                </a:highlight>
                <a:latin typeface="Aptos"/>
              </a:rPr>
              <a:t>Data Producer </a:t>
            </a:r>
            <a:endParaRPr lang="en-US" dirty="0">
              <a:highlight>
                <a:srgbClr val="FFFF00"/>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640080"/>
          </a:xfrm>
          <a:prstGeom prst="rect">
            <a:avLst/>
          </a:prstGeom>
          <a:noFill/>
        </p:spPr>
        <p:txBody>
          <a:bodyPr wrap="square">
            <a:spAutoFit/>
          </a:bodyPr>
          <a:lstStyle/>
          <a:p>
            <a:pPr algn="l">
              <a:spcAft>
                <a:spcPts val="300"/>
              </a:spcAft>
              <a:defRPr sz="2800" b="1">
                <a:solidFill>
                  <a:srgbClr val="10253E"/>
                </a:solidFill>
              </a:defRPr>
            </a:pPr>
            <a:r>
              <a:rPr sz="2500" b="1">
                <a:solidFill>
                  <a:srgbClr val="14304A"/>
                </a:solidFill>
                <a:latin typeface="Aptos"/>
              </a:rPr>
              <a:t>Writable DRS: register, update, and resolve</a:t>
            </a:r>
          </a:p>
        </p:txBody>
      </p:sp>
      <p:sp>
        <p:nvSpPr>
          <p:cNvPr id="11" name="Rectangle 10"/>
          <p:cNvSpPr/>
          <p:nvPr/>
        </p:nvSpPr>
        <p:spPr>
          <a:xfrm>
            <a:off x="548640" y="960120"/>
            <a:ext cx="1143000" cy="54864"/>
          </a:xfrm>
          <a:prstGeom prst="rect">
            <a:avLst/>
          </a:prstGeom>
          <a:solidFill>
            <a:srgbClr val="21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881360" y="6510528"/>
            <a:ext cx="731520" cy="182880"/>
          </a:xfrm>
          <a:prstGeom prst="rect">
            <a:avLst/>
          </a:prstGeom>
          <a:noFill/>
        </p:spPr>
        <p:txBody>
          <a:bodyPr wrap="square">
            <a:spAutoFit/>
          </a:bodyPr>
          <a:lstStyle/>
          <a:p>
            <a:pPr algn="r">
              <a:spcAft>
                <a:spcPts val="300"/>
              </a:spcAft>
            </a:pPr>
            <a:r>
              <a:rPr sz="1800" b="1">
                <a:solidFill>
                  <a:srgbClr val="14304A"/>
                </a:solidFill>
                <a:latin typeface="Aptos"/>
              </a:rPr>
              <a:t>03</a:t>
            </a:r>
          </a:p>
        </p:txBody>
      </p:sp>
      <p:pic>
        <p:nvPicPr>
          <p:cNvPr id="13" name="Picture 12" descr="a_clean_infographic_diagram_on_a_white_light_backg.png">
            <a:extLst>
              <a:ext uri="{FF2B5EF4-FFF2-40B4-BE49-F238E27FC236}">
                <a16:creationId xmlns:a16="http://schemas.microsoft.com/office/drawing/2014/main" id="{37E78271-06EB-59C3-AD6F-BD36969294FA}"/>
              </a:ext>
            </a:extLst>
          </p:cNvPr>
          <p:cNvPicPr>
            <a:picLocks noChangeAspect="1"/>
          </p:cNvPicPr>
          <p:nvPr/>
        </p:nvPicPr>
        <p:blipFill>
          <a:blip r:embed="rId3"/>
          <a:stretch>
            <a:fillRect/>
          </a:stretch>
        </p:blipFill>
        <p:spPr>
          <a:xfrm>
            <a:off x="1391448" y="860032"/>
            <a:ext cx="8612904" cy="5741936"/>
          </a:xfrm>
          <a:prstGeom prst="rect">
            <a:avLst/>
          </a:prstGeom>
        </p:spPr>
      </p:pic>
      <p:sp>
        <p:nvSpPr>
          <p:cNvPr id="15" name="TextBox 14">
            <a:extLst>
              <a:ext uri="{FF2B5EF4-FFF2-40B4-BE49-F238E27FC236}">
                <a16:creationId xmlns:a16="http://schemas.microsoft.com/office/drawing/2014/main" id="{C88CA704-0022-D002-17B5-A5DD6E87A44E}"/>
              </a:ext>
            </a:extLst>
          </p:cNvPr>
          <p:cNvSpPr txBox="1"/>
          <p:nvPr/>
        </p:nvSpPr>
        <p:spPr>
          <a:xfrm>
            <a:off x="-1773" y="6510528"/>
            <a:ext cx="10644963" cy="369332"/>
          </a:xfrm>
          <a:prstGeom prst="rect">
            <a:avLst/>
          </a:prstGeom>
          <a:noFill/>
        </p:spPr>
        <p:txBody>
          <a:bodyPr wrap="square">
            <a:spAutoFit/>
          </a:bodyPr>
          <a:lstStyle/>
          <a:p>
            <a:r>
              <a:rPr lang="en-US" dirty="0"/>
              <a:t>https://</a:t>
            </a:r>
            <a:r>
              <a:rPr lang="en-US" dirty="0" err="1"/>
              <a:t>github.com</a:t>
            </a:r>
            <a:r>
              <a:rPr lang="en-US" dirty="0"/>
              <a:t>/ga4gh/data-repository-service-schemas/tree/feature/issue-416-drs-upload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640080"/>
          </a:xfrm>
          <a:prstGeom prst="rect">
            <a:avLst/>
          </a:prstGeom>
          <a:noFill/>
        </p:spPr>
        <p:txBody>
          <a:bodyPr wrap="square">
            <a:spAutoFit/>
          </a:bodyPr>
          <a:lstStyle/>
          <a:p>
            <a:pPr algn="l">
              <a:spcAft>
                <a:spcPts val="300"/>
              </a:spcAft>
              <a:defRPr sz="2800" b="1">
                <a:solidFill>
                  <a:srgbClr val="10253E"/>
                </a:solidFill>
              </a:defRPr>
            </a:pPr>
            <a:r>
              <a:rPr sz="2500" b="1" dirty="0">
                <a:solidFill>
                  <a:srgbClr val="14304A"/>
                </a:solidFill>
                <a:latin typeface="Aptos"/>
              </a:rPr>
              <a:t>Analyst-facing Git repo with DRS-backed local, </a:t>
            </a:r>
            <a:r>
              <a:rPr sz="2500" b="1" dirty="0" err="1">
                <a:solidFill>
                  <a:srgbClr val="14304A"/>
                </a:solidFill>
                <a:latin typeface="Aptos"/>
              </a:rPr>
              <a:t>AnVIL</a:t>
            </a:r>
            <a:r>
              <a:rPr sz="2500" b="1" dirty="0">
                <a:solidFill>
                  <a:srgbClr val="14304A"/>
                </a:solidFill>
                <a:latin typeface="Aptos"/>
              </a:rPr>
              <a:t>, and Globus data</a:t>
            </a:r>
          </a:p>
        </p:txBody>
      </p:sp>
      <p:sp>
        <p:nvSpPr>
          <p:cNvPr id="12" name="Rectangle 11"/>
          <p:cNvSpPr/>
          <p:nvPr/>
        </p:nvSpPr>
        <p:spPr>
          <a:xfrm>
            <a:off x="548640" y="960120"/>
            <a:ext cx="1143000" cy="54864"/>
          </a:xfrm>
          <a:prstGeom prst="rect">
            <a:avLst/>
          </a:prstGeom>
          <a:solidFill>
            <a:srgbClr val="21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881360" y="6510528"/>
            <a:ext cx="731520" cy="182880"/>
          </a:xfrm>
          <a:prstGeom prst="rect">
            <a:avLst/>
          </a:prstGeom>
          <a:noFill/>
        </p:spPr>
        <p:txBody>
          <a:bodyPr wrap="square">
            <a:spAutoFit/>
          </a:bodyPr>
          <a:lstStyle/>
          <a:p>
            <a:pPr algn="r">
              <a:spcAft>
                <a:spcPts val="300"/>
              </a:spcAft>
            </a:pPr>
            <a:r>
              <a:rPr sz="1800" b="1">
                <a:solidFill>
                  <a:srgbClr val="14304A"/>
                </a:solidFill>
                <a:latin typeface="Aptos"/>
              </a:rPr>
              <a:t>04</a:t>
            </a:r>
          </a:p>
        </p:txBody>
      </p:sp>
      <p:pic>
        <p:nvPicPr>
          <p:cNvPr id="14" name="Picture 13">
            <a:extLst>
              <a:ext uri="{FF2B5EF4-FFF2-40B4-BE49-F238E27FC236}">
                <a16:creationId xmlns:a16="http://schemas.microsoft.com/office/drawing/2014/main" id="{C8EB2BA3-86FF-1876-D30B-CC80ADB1CE8E}"/>
              </a:ext>
            </a:extLst>
          </p:cNvPr>
          <p:cNvPicPr>
            <a:picLocks noChangeAspect="1"/>
          </p:cNvPicPr>
          <p:nvPr/>
        </p:nvPicPr>
        <p:blipFill>
          <a:blip r:embed="rId3"/>
          <a:stretch>
            <a:fillRect/>
          </a:stretch>
        </p:blipFill>
        <p:spPr>
          <a:xfrm>
            <a:off x="1454971" y="1121664"/>
            <a:ext cx="7772400" cy="5181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4048" y="227817"/>
            <a:ext cx="5581271" cy="477054"/>
          </a:xfrm>
          <a:prstGeom prst="rect">
            <a:avLst/>
          </a:prstGeom>
          <a:noFill/>
        </p:spPr>
        <p:txBody>
          <a:bodyPr wrap="none" anchor="ctr">
            <a:spAutoFit/>
          </a:bodyPr>
          <a:lstStyle/>
          <a:p>
            <a:r>
              <a:rPr lang="en-US" sz="2500" dirty="0">
                <a:latin typeface="Aptos" panose="020B0004020202020204" pitchFamily="34" charset="0"/>
              </a:rPr>
              <a:t>Configure once. Work with ordinary Git.</a:t>
            </a:r>
            <a:endParaRPr sz="2500" b="1" dirty="0">
              <a:solidFill>
                <a:srgbClr val="12314D"/>
              </a:solidFill>
              <a:latin typeface="Aptos" panose="020B0004020202020204" pitchFamily="34" charset="0"/>
            </a:endParaRPr>
          </a:p>
        </p:txBody>
      </p:sp>
      <p:sp>
        <p:nvSpPr>
          <p:cNvPr id="3" name="Rectangle 2"/>
          <p:cNvSpPr/>
          <p:nvPr/>
        </p:nvSpPr>
        <p:spPr>
          <a:xfrm>
            <a:off x="384048" y="932688"/>
            <a:ext cx="1554480" cy="54864"/>
          </a:xfrm>
          <a:prstGeom prst="rect">
            <a:avLst/>
          </a:prstGeom>
          <a:solidFill>
            <a:srgbClr val="1C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84048" y="1481328"/>
            <a:ext cx="7086600" cy="4251960"/>
          </a:xfrm>
          <a:prstGeom prst="roundRect">
            <a:avLst/>
          </a:prstGeom>
          <a:solidFill>
            <a:srgbClr val="F2F6F9"/>
          </a:solidFill>
          <a:ln w="12700">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600200"/>
            <a:ext cx="6720840" cy="3977639"/>
          </a:xfrm>
          <a:prstGeom prst="rect">
            <a:avLst/>
          </a:prstGeom>
          <a:noFill/>
        </p:spPr>
        <p:txBody>
          <a:bodyPr wrap="none">
            <a:spAutoFit/>
          </a:bodyPr>
          <a:lstStyle/>
          <a:p>
            <a:pPr>
              <a:spcAft>
                <a:spcPts val="0"/>
              </a:spcAft>
            </a:pPr>
            <a:r>
              <a:rPr sz="1450">
                <a:solidFill>
                  <a:srgbClr val="253749"/>
                </a:solidFill>
                <a:latin typeface="Aptos Mono"/>
              </a:rPr>
              <a:t># standard anvil credentials</a:t>
            </a:r>
          </a:p>
          <a:p>
            <a:pPr>
              <a:spcAft>
                <a:spcPts val="0"/>
              </a:spcAft>
            </a:pPr>
            <a:r>
              <a:rPr sz="1450">
                <a:solidFill>
                  <a:srgbClr val="253749"/>
                </a:solidFill>
                <a:latin typeface="Aptos Mono"/>
              </a:rPr>
              <a:t>gcloud auth application-default login</a:t>
            </a:r>
          </a:p>
          <a:p>
            <a:pPr>
              <a:spcAft>
                <a:spcPts val="0"/>
              </a:spcAft>
            </a:pPr>
            <a:endParaRPr sz="1450">
              <a:solidFill>
                <a:srgbClr val="253749"/>
              </a:solidFill>
              <a:latin typeface="Aptos Mono"/>
            </a:endParaRPr>
          </a:p>
          <a:p>
            <a:pPr>
              <a:spcAft>
                <a:spcPts val="0"/>
              </a:spcAft>
            </a:pPr>
            <a:r>
              <a:rPr sz="1450">
                <a:solidFill>
                  <a:srgbClr val="253749"/>
                </a:solidFill>
                <a:latin typeface="Aptos Mono"/>
              </a:rPr>
              <a:t># Create and initialize git repository</a:t>
            </a:r>
          </a:p>
          <a:p>
            <a:pPr>
              <a:spcAft>
                <a:spcPts val="0"/>
              </a:spcAft>
            </a:pPr>
            <a:r>
              <a:rPr sz="1450">
                <a:solidFill>
                  <a:srgbClr val="253749"/>
                </a:solidFill>
                <a:latin typeface="Aptos Mono"/>
              </a:rPr>
              <a:t>mkdir my-anvil-repo</a:t>
            </a:r>
          </a:p>
          <a:p>
            <a:pPr>
              <a:spcAft>
                <a:spcPts val="0"/>
              </a:spcAft>
            </a:pPr>
            <a:r>
              <a:rPr sz="1450">
                <a:solidFill>
                  <a:srgbClr val="253749"/>
                </a:solidFill>
                <a:latin typeface="Aptos Mono"/>
              </a:rPr>
              <a:t>cd my-anvil-repo</a:t>
            </a:r>
          </a:p>
          <a:p>
            <a:pPr>
              <a:spcAft>
                <a:spcPts val="0"/>
              </a:spcAft>
            </a:pPr>
            <a:r>
              <a:rPr sz="1450">
                <a:solidFill>
                  <a:srgbClr val="253749"/>
                </a:solidFill>
                <a:latin typeface="Aptos Mono"/>
              </a:rPr>
              <a:t>git init</a:t>
            </a:r>
          </a:p>
          <a:p>
            <a:pPr>
              <a:spcAft>
                <a:spcPts val="0"/>
              </a:spcAft>
            </a:pPr>
            <a:r>
              <a:rPr sz="1450">
                <a:solidFill>
                  <a:srgbClr val="253749"/>
                </a:solidFill>
                <a:latin typeface="Aptos Mono"/>
              </a:rPr>
              <a:t>git drs init</a:t>
            </a:r>
          </a:p>
          <a:p>
            <a:pPr>
              <a:spcAft>
                <a:spcPts val="0"/>
              </a:spcAft>
            </a:pPr>
            <a:endParaRPr sz="1450">
              <a:solidFill>
                <a:srgbClr val="253749"/>
              </a:solidFill>
              <a:latin typeface="Aptos Mono"/>
            </a:endParaRPr>
          </a:p>
          <a:p>
            <a:pPr>
              <a:spcAft>
                <a:spcPts val="0"/>
              </a:spcAft>
            </a:pPr>
            <a:r>
              <a:rPr sz="1450">
                <a:solidFill>
                  <a:srgbClr val="253749"/>
                </a:solidFill>
                <a:latin typeface="Aptos Mono"/>
              </a:rPr>
              <a:t># Configure the default drs remote</a:t>
            </a:r>
          </a:p>
          <a:p>
            <a:pPr>
              <a:spcAft>
                <a:spcPts val="0"/>
              </a:spcAft>
            </a:pPr>
            <a:r>
              <a:rPr sz="1450">
                <a:solidFill>
                  <a:srgbClr val="253749"/>
                </a:solidFill>
                <a:latin typeface="Aptos Mono"/>
              </a:rPr>
              <a:t>git drs remote add anvil terra</a:t>
            </a:r>
          </a:p>
        </p:txBody>
      </p:sp>
      <p:sp>
        <p:nvSpPr>
          <p:cNvPr id="6" name="TextBox 5"/>
          <p:cNvSpPr txBox="1"/>
          <p:nvPr/>
        </p:nvSpPr>
        <p:spPr>
          <a:xfrm>
            <a:off x="7818120" y="1170432"/>
            <a:ext cx="3017520" cy="320040"/>
          </a:xfrm>
          <a:prstGeom prst="rect">
            <a:avLst/>
          </a:prstGeom>
          <a:noFill/>
        </p:spPr>
        <p:txBody>
          <a:bodyPr wrap="none" anchor="ctr">
            <a:spAutoFit/>
          </a:bodyPr>
          <a:lstStyle/>
          <a:p>
            <a:pPr algn="l"/>
            <a:r>
              <a:rPr sz="1600" b="1">
                <a:solidFill>
                  <a:srgbClr val="1C9D97"/>
                </a:solidFill>
                <a:latin typeface="Aptos"/>
              </a:rPr>
              <a:t>What this does</a:t>
            </a:r>
          </a:p>
        </p:txBody>
      </p:sp>
      <p:sp>
        <p:nvSpPr>
          <p:cNvPr id="7" name="Oval 6"/>
          <p:cNvSpPr/>
          <p:nvPr/>
        </p:nvSpPr>
        <p:spPr>
          <a:xfrm>
            <a:off x="7818120" y="1572768"/>
            <a:ext cx="438912" cy="438912"/>
          </a:xfrm>
          <a:prstGeom prst="ellipse">
            <a:avLst/>
          </a:prstGeom>
          <a:solidFill>
            <a:srgbClr val="FFFFFF"/>
          </a:solidFill>
          <a:ln>
            <a:solidFill>
              <a:srgbClr val="1C9D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18120" y="1572768"/>
            <a:ext cx="438912" cy="438912"/>
          </a:xfrm>
          <a:prstGeom prst="rect">
            <a:avLst/>
          </a:prstGeom>
          <a:noFill/>
        </p:spPr>
        <p:txBody>
          <a:bodyPr wrap="none" anchor="ctr">
            <a:spAutoFit/>
          </a:bodyPr>
          <a:lstStyle/>
          <a:p>
            <a:pPr algn="ctr"/>
            <a:r>
              <a:rPr sz="1300" b="1">
                <a:solidFill>
                  <a:srgbClr val="1C9D97"/>
                </a:solidFill>
                <a:latin typeface="Aptos"/>
              </a:rPr>
              <a:t>1</a:t>
            </a:r>
          </a:p>
        </p:txBody>
      </p:sp>
      <p:sp>
        <p:nvSpPr>
          <p:cNvPr id="9" name="Oval 8"/>
          <p:cNvSpPr/>
          <p:nvPr/>
        </p:nvSpPr>
        <p:spPr>
          <a:xfrm>
            <a:off x="8394192" y="1600200"/>
            <a:ext cx="146304" cy="146304"/>
          </a:xfrm>
          <a:prstGeom prst="ellipse">
            <a:avLst/>
          </a:prstGeom>
          <a:solidFill>
            <a:srgbClr val="1C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330183" y="1764792"/>
            <a:ext cx="274320" cy="155448"/>
          </a:xfrm>
          <a:prstGeom prst="roundRect">
            <a:avLst/>
          </a:prstGeom>
          <a:solidFill>
            <a:srgbClr val="1C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0" y="1554480"/>
            <a:ext cx="2743200" cy="347472"/>
          </a:xfrm>
          <a:prstGeom prst="rect">
            <a:avLst/>
          </a:prstGeom>
          <a:noFill/>
        </p:spPr>
        <p:txBody>
          <a:bodyPr wrap="none" anchor="ctr">
            <a:spAutoFit/>
          </a:bodyPr>
          <a:lstStyle/>
          <a:p>
            <a:pPr algn="l"/>
            <a:r>
              <a:rPr sz="1200" b="1">
                <a:solidFill>
                  <a:srgbClr val="12314D"/>
                </a:solidFill>
                <a:latin typeface="Aptos"/>
              </a:rPr>
              <a:t>Authenticate to AnVIL</a:t>
            </a:r>
          </a:p>
        </p:txBody>
      </p:sp>
      <p:sp>
        <p:nvSpPr>
          <p:cNvPr id="12" name="TextBox 11"/>
          <p:cNvSpPr txBox="1"/>
          <p:nvPr/>
        </p:nvSpPr>
        <p:spPr>
          <a:xfrm>
            <a:off x="8869680" y="1901952"/>
            <a:ext cx="2743200" cy="384048"/>
          </a:xfrm>
          <a:prstGeom prst="rect">
            <a:avLst/>
          </a:prstGeom>
          <a:noFill/>
        </p:spPr>
        <p:txBody>
          <a:bodyPr wrap="none" anchor="ctr">
            <a:spAutoFit/>
          </a:bodyPr>
          <a:lstStyle/>
          <a:p>
            <a:pPr algn="l"/>
            <a:r>
              <a:rPr sz="1050" b="0">
                <a:solidFill>
                  <a:srgbClr val="253749"/>
                </a:solidFill>
                <a:latin typeface="Aptos"/>
              </a:rPr>
              <a:t>Uses your standard</a:t>
            </a:r>
            <a:br/>
            <a:r>
              <a:rPr sz="1050" b="0">
                <a:solidFill>
                  <a:srgbClr val="253749"/>
                </a:solidFill>
                <a:latin typeface="Aptos"/>
              </a:rPr>
              <a:t>AnVIL credentials.</a:t>
            </a:r>
          </a:p>
        </p:txBody>
      </p:sp>
      <p:cxnSp>
        <p:nvCxnSpPr>
          <p:cNvPr id="13" name="Connector 12"/>
          <p:cNvCxnSpPr/>
          <p:nvPr/>
        </p:nvCxnSpPr>
        <p:spPr>
          <a:xfrm>
            <a:off x="8037575" y="2075688"/>
            <a:ext cx="0" cy="320040"/>
          </a:xfrm>
          <a:prstGeom prst="line">
            <a:avLst/>
          </a:prstGeom>
          <a:ln w="19050">
            <a:solidFill>
              <a:srgbClr val="1C9D97"/>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7818120" y="2487168"/>
            <a:ext cx="438912" cy="438912"/>
          </a:xfrm>
          <a:prstGeom prst="ellipse">
            <a:avLst/>
          </a:prstGeom>
          <a:solidFill>
            <a:srgbClr val="FFFFFF"/>
          </a:solidFill>
          <a:ln>
            <a:solidFill>
              <a:srgbClr val="1C9D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18120" y="2487168"/>
            <a:ext cx="438912" cy="438912"/>
          </a:xfrm>
          <a:prstGeom prst="rect">
            <a:avLst/>
          </a:prstGeom>
          <a:noFill/>
        </p:spPr>
        <p:txBody>
          <a:bodyPr wrap="none" anchor="ctr">
            <a:spAutoFit/>
          </a:bodyPr>
          <a:lstStyle/>
          <a:p>
            <a:pPr algn="ctr"/>
            <a:r>
              <a:rPr sz="1300" b="1">
                <a:solidFill>
                  <a:srgbClr val="1C9D97"/>
                </a:solidFill>
                <a:latin typeface="Aptos"/>
              </a:rPr>
              <a:t>2</a:t>
            </a:r>
          </a:p>
        </p:txBody>
      </p:sp>
      <p:sp>
        <p:nvSpPr>
          <p:cNvPr id="16" name="Rectangle 15"/>
          <p:cNvSpPr/>
          <p:nvPr/>
        </p:nvSpPr>
        <p:spPr>
          <a:xfrm>
            <a:off x="8302752" y="2578608"/>
            <a:ext cx="365760" cy="246888"/>
          </a:xfrm>
          <a:prstGeom prst="rect">
            <a:avLst/>
          </a:prstGeom>
          <a:solidFill>
            <a:srgbClr val="EAF8F7"/>
          </a:solidFill>
          <a:ln>
            <a:solidFill>
              <a:srgbClr val="1C9D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21040" y="2542032"/>
            <a:ext cx="146304" cy="73152"/>
          </a:xfrm>
          <a:prstGeom prst="rect">
            <a:avLst/>
          </a:prstGeom>
          <a:solidFill>
            <a:srgbClr val="1C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0" y="2468880"/>
            <a:ext cx="2743200" cy="347472"/>
          </a:xfrm>
          <a:prstGeom prst="rect">
            <a:avLst/>
          </a:prstGeom>
          <a:noFill/>
        </p:spPr>
        <p:txBody>
          <a:bodyPr wrap="none" anchor="ctr">
            <a:spAutoFit/>
          </a:bodyPr>
          <a:lstStyle/>
          <a:p>
            <a:pPr algn="l"/>
            <a:r>
              <a:rPr sz="1200" b="1">
                <a:solidFill>
                  <a:srgbClr val="12314D"/>
                </a:solidFill>
                <a:latin typeface="Aptos"/>
              </a:rPr>
              <a:t>Create repo</a:t>
            </a:r>
          </a:p>
        </p:txBody>
      </p:sp>
      <p:sp>
        <p:nvSpPr>
          <p:cNvPr id="19" name="TextBox 18"/>
          <p:cNvSpPr txBox="1"/>
          <p:nvPr/>
        </p:nvSpPr>
        <p:spPr>
          <a:xfrm>
            <a:off x="8869680" y="2816352"/>
            <a:ext cx="2743200" cy="384048"/>
          </a:xfrm>
          <a:prstGeom prst="rect">
            <a:avLst/>
          </a:prstGeom>
          <a:noFill/>
        </p:spPr>
        <p:txBody>
          <a:bodyPr wrap="none" anchor="ctr">
            <a:spAutoFit/>
          </a:bodyPr>
          <a:lstStyle/>
          <a:p>
            <a:pPr algn="l"/>
            <a:r>
              <a:rPr sz="1050" b="0">
                <a:solidFill>
                  <a:srgbClr val="253749"/>
                </a:solidFill>
                <a:latin typeface="Aptos"/>
              </a:rPr>
              <a:t>Start a new Git repository</a:t>
            </a:r>
            <a:br/>
            <a:r>
              <a:rPr sz="1050" b="0">
                <a:solidFill>
                  <a:srgbClr val="253749"/>
                </a:solidFill>
                <a:latin typeface="Aptos"/>
              </a:rPr>
              <a:t>and initialize git-drs.</a:t>
            </a:r>
          </a:p>
        </p:txBody>
      </p:sp>
      <p:cxnSp>
        <p:nvCxnSpPr>
          <p:cNvPr id="20" name="Connector 19"/>
          <p:cNvCxnSpPr/>
          <p:nvPr/>
        </p:nvCxnSpPr>
        <p:spPr>
          <a:xfrm>
            <a:off x="8037575" y="2990088"/>
            <a:ext cx="0" cy="320040"/>
          </a:xfrm>
          <a:prstGeom prst="line">
            <a:avLst/>
          </a:prstGeom>
          <a:ln w="19050">
            <a:solidFill>
              <a:srgbClr val="1C9D97"/>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818120" y="3401568"/>
            <a:ext cx="438912" cy="438912"/>
          </a:xfrm>
          <a:prstGeom prst="ellipse">
            <a:avLst/>
          </a:prstGeom>
          <a:solidFill>
            <a:srgbClr val="FFFFFF"/>
          </a:solidFill>
          <a:ln>
            <a:solidFill>
              <a:srgbClr val="1C9D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818120" y="3401568"/>
            <a:ext cx="438912" cy="438912"/>
          </a:xfrm>
          <a:prstGeom prst="rect">
            <a:avLst/>
          </a:prstGeom>
          <a:noFill/>
        </p:spPr>
        <p:txBody>
          <a:bodyPr wrap="none" anchor="ctr">
            <a:spAutoFit/>
          </a:bodyPr>
          <a:lstStyle/>
          <a:p>
            <a:pPr algn="ctr"/>
            <a:r>
              <a:rPr sz="1300" b="1">
                <a:solidFill>
                  <a:srgbClr val="1C9D97"/>
                </a:solidFill>
                <a:latin typeface="Aptos"/>
              </a:rPr>
              <a:t>3</a:t>
            </a:r>
          </a:p>
        </p:txBody>
      </p:sp>
      <p:sp>
        <p:nvSpPr>
          <p:cNvPr id="23" name="Hexagon 22"/>
          <p:cNvSpPr/>
          <p:nvPr/>
        </p:nvSpPr>
        <p:spPr>
          <a:xfrm>
            <a:off x="8284464" y="3410712"/>
            <a:ext cx="411480" cy="384048"/>
          </a:xfrm>
          <a:prstGeom prst="hexagon">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93608" y="3465576"/>
            <a:ext cx="393192" cy="256032"/>
          </a:xfrm>
          <a:prstGeom prst="rect">
            <a:avLst/>
          </a:prstGeom>
          <a:noFill/>
        </p:spPr>
        <p:txBody>
          <a:bodyPr wrap="none" anchor="ctr">
            <a:spAutoFit/>
          </a:bodyPr>
          <a:lstStyle/>
          <a:p>
            <a:pPr algn="ctr"/>
            <a:r>
              <a:rPr sz="750" b="1">
                <a:solidFill>
                  <a:srgbClr val="FFFFFF"/>
                </a:solidFill>
                <a:latin typeface="Aptos"/>
              </a:rPr>
              <a:t>Terra</a:t>
            </a:r>
          </a:p>
        </p:txBody>
      </p:sp>
      <p:sp>
        <p:nvSpPr>
          <p:cNvPr id="25" name="TextBox 24"/>
          <p:cNvSpPr txBox="1"/>
          <p:nvPr/>
        </p:nvSpPr>
        <p:spPr>
          <a:xfrm>
            <a:off x="8869680" y="3383280"/>
            <a:ext cx="2743200" cy="347472"/>
          </a:xfrm>
          <a:prstGeom prst="rect">
            <a:avLst/>
          </a:prstGeom>
          <a:noFill/>
        </p:spPr>
        <p:txBody>
          <a:bodyPr wrap="none" anchor="ctr">
            <a:spAutoFit/>
          </a:bodyPr>
          <a:lstStyle/>
          <a:p>
            <a:pPr algn="l"/>
            <a:r>
              <a:rPr sz="1200" b="1">
                <a:solidFill>
                  <a:srgbClr val="12314D"/>
                </a:solidFill>
                <a:latin typeface="Aptos"/>
              </a:rPr>
              <a:t>Add Terra (AnVIL) as</a:t>
            </a:r>
            <a:br/>
            <a:r>
              <a:rPr sz="1200" b="1">
                <a:solidFill>
                  <a:srgbClr val="12314D"/>
                </a:solidFill>
                <a:latin typeface="Aptos"/>
              </a:rPr>
              <a:t>the default DRS remote</a:t>
            </a:r>
          </a:p>
        </p:txBody>
      </p:sp>
      <p:sp>
        <p:nvSpPr>
          <p:cNvPr id="26" name="TextBox 25"/>
          <p:cNvSpPr txBox="1"/>
          <p:nvPr/>
        </p:nvSpPr>
        <p:spPr>
          <a:xfrm>
            <a:off x="8869680" y="3730752"/>
            <a:ext cx="2743200" cy="384048"/>
          </a:xfrm>
          <a:prstGeom prst="rect">
            <a:avLst/>
          </a:prstGeom>
          <a:noFill/>
        </p:spPr>
        <p:txBody>
          <a:bodyPr wrap="none" anchor="ctr">
            <a:spAutoFit/>
          </a:bodyPr>
          <a:lstStyle/>
          <a:p>
            <a:pPr algn="l"/>
            <a:r>
              <a:rPr sz="1050" b="0">
                <a:solidFill>
                  <a:srgbClr val="253749"/>
                </a:solidFill>
                <a:latin typeface="Aptos"/>
              </a:rPr>
              <a:t>Resolve AnVIL DRS objects</a:t>
            </a:r>
            <a:br/>
            <a:r>
              <a:rPr sz="1050" b="0">
                <a:solidFill>
                  <a:srgbClr val="253749"/>
                </a:solidFill>
                <a:latin typeface="Aptos"/>
              </a:rPr>
              <a:t>through the Terra provider.</a:t>
            </a:r>
          </a:p>
        </p:txBody>
      </p:sp>
      <p:cxnSp>
        <p:nvCxnSpPr>
          <p:cNvPr id="27" name="Connector 26"/>
          <p:cNvCxnSpPr/>
          <p:nvPr/>
        </p:nvCxnSpPr>
        <p:spPr>
          <a:xfrm>
            <a:off x="8037575" y="3904488"/>
            <a:ext cx="0" cy="411480"/>
          </a:xfrm>
          <a:prstGeom prst="line">
            <a:avLst/>
          </a:prstGeom>
          <a:ln w="19050">
            <a:solidFill>
              <a:srgbClr val="1C9D97"/>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7818120" y="4407408"/>
            <a:ext cx="438912" cy="438912"/>
          </a:xfrm>
          <a:prstGeom prst="ellipse">
            <a:avLst/>
          </a:prstGeom>
          <a:solidFill>
            <a:srgbClr val="FFFFFF"/>
          </a:solidFill>
          <a:ln>
            <a:solidFill>
              <a:srgbClr val="1C9D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818120" y="4407408"/>
            <a:ext cx="438912" cy="438912"/>
          </a:xfrm>
          <a:prstGeom prst="rect">
            <a:avLst/>
          </a:prstGeom>
          <a:noFill/>
        </p:spPr>
        <p:txBody>
          <a:bodyPr wrap="none" anchor="ctr">
            <a:spAutoFit/>
          </a:bodyPr>
          <a:lstStyle/>
          <a:p>
            <a:pPr algn="ctr"/>
            <a:r>
              <a:rPr sz="1300" b="1">
                <a:solidFill>
                  <a:srgbClr val="1C9D97"/>
                </a:solidFill>
                <a:latin typeface="Aptos"/>
              </a:rPr>
              <a:t>4</a:t>
            </a:r>
          </a:p>
        </p:txBody>
      </p:sp>
      <p:sp>
        <p:nvSpPr>
          <p:cNvPr id="30" name="Rectangle 29"/>
          <p:cNvSpPr/>
          <p:nvPr/>
        </p:nvSpPr>
        <p:spPr>
          <a:xfrm>
            <a:off x="8302752" y="4462272"/>
            <a:ext cx="365760" cy="246888"/>
          </a:xfrm>
          <a:prstGeom prst="rect">
            <a:avLst/>
          </a:prstGeom>
          <a:solidFill>
            <a:srgbClr val="FFFFFF"/>
          </a:solidFill>
          <a:ln>
            <a:solidFill>
              <a:srgbClr val="1C9D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257031" y="4727448"/>
            <a:ext cx="457200" cy="36576"/>
          </a:xfrm>
          <a:prstGeom prst="rect">
            <a:avLst/>
          </a:prstGeom>
          <a:solidFill>
            <a:srgbClr val="1C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69680" y="4389120"/>
            <a:ext cx="2743200" cy="347472"/>
          </a:xfrm>
          <a:prstGeom prst="rect">
            <a:avLst/>
          </a:prstGeom>
          <a:noFill/>
        </p:spPr>
        <p:txBody>
          <a:bodyPr wrap="none" anchor="ctr">
            <a:spAutoFit/>
          </a:bodyPr>
          <a:lstStyle/>
          <a:p>
            <a:pPr algn="l"/>
            <a:r>
              <a:rPr sz="1200" b="1">
                <a:solidFill>
                  <a:srgbClr val="12314D"/>
                </a:solidFill>
                <a:latin typeface="Aptos"/>
              </a:rPr>
              <a:t>Ready to add data</a:t>
            </a:r>
          </a:p>
        </p:txBody>
      </p:sp>
      <p:sp>
        <p:nvSpPr>
          <p:cNvPr id="33" name="TextBox 32"/>
          <p:cNvSpPr txBox="1"/>
          <p:nvPr/>
        </p:nvSpPr>
        <p:spPr>
          <a:xfrm>
            <a:off x="8869680" y="4736592"/>
            <a:ext cx="2743200" cy="384048"/>
          </a:xfrm>
          <a:prstGeom prst="rect">
            <a:avLst/>
          </a:prstGeom>
          <a:noFill/>
        </p:spPr>
        <p:txBody>
          <a:bodyPr wrap="none" anchor="ctr">
            <a:spAutoFit/>
          </a:bodyPr>
          <a:lstStyle/>
          <a:p>
            <a:pPr algn="l"/>
            <a:r>
              <a:rPr sz="1050" b="0">
                <a:solidFill>
                  <a:srgbClr val="253749"/>
                </a:solidFill>
                <a:latin typeface="Aptos"/>
              </a:rPr>
              <a:t>Add files/DRS references</a:t>
            </a:r>
            <a:br/>
            <a:r>
              <a:rPr sz="1050" b="0">
                <a:solidFill>
                  <a:srgbClr val="253749"/>
                </a:solidFill>
                <a:latin typeface="Aptos"/>
              </a:rPr>
              <a:t>and publish with ordinary Git.</a:t>
            </a:r>
          </a:p>
        </p:txBody>
      </p:sp>
      <p:sp>
        <p:nvSpPr>
          <p:cNvPr id="34" name="Rounded Rectangle 33"/>
          <p:cNvSpPr/>
          <p:nvPr/>
        </p:nvSpPr>
        <p:spPr>
          <a:xfrm>
            <a:off x="7790688" y="5230368"/>
            <a:ext cx="3886200" cy="658368"/>
          </a:xfrm>
          <a:prstGeom prst="roundRect">
            <a:avLst/>
          </a:prstGeom>
          <a:solidFill>
            <a:srgbClr val="EDF4FC"/>
          </a:solidFill>
          <a:ln w="12700">
            <a:solidFill>
              <a:srgbClr val="A7C4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7955279" y="5385816"/>
            <a:ext cx="237744" cy="237744"/>
          </a:xfrm>
          <a:prstGeom prst="ellipse">
            <a:avLst/>
          </a:prstGeom>
          <a:solidFill>
            <a:srgbClr val="286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955279" y="5385816"/>
            <a:ext cx="237744" cy="237744"/>
          </a:xfrm>
          <a:prstGeom prst="rect">
            <a:avLst/>
          </a:prstGeom>
          <a:noFill/>
        </p:spPr>
        <p:txBody>
          <a:bodyPr wrap="none" anchor="ctr">
            <a:spAutoFit/>
          </a:bodyPr>
          <a:lstStyle/>
          <a:p>
            <a:pPr algn="ctr"/>
            <a:r>
              <a:rPr sz="1100" b="1">
                <a:solidFill>
                  <a:srgbClr val="FFFFFF"/>
                </a:solidFill>
                <a:latin typeface="Aptos"/>
              </a:rPr>
              <a:t>i</a:t>
            </a:r>
          </a:p>
        </p:txBody>
      </p:sp>
      <p:sp>
        <p:nvSpPr>
          <p:cNvPr id="37" name="TextBox 36"/>
          <p:cNvSpPr txBox="1"/>
          <p:nvPr/>
        </p:nvSpPr>
        <p:spPr>
          <a:xfrm>
            <a:off x="8275320" y="5285232"/>
            <a:ext cx="1097280" cy="201168"/>
          </a:xfrm>
          <a:prstGeom prst="rect">
            <a:avLst/>
          </a:prstGeom>
          <a:noFill/>
        </p:spPr>
        <p:txBody>
          <a:bodyPr wrap="none" anchor="ctr">
            <a:spAutoFit/>
          </a:bodyPr>
          <a:lstStyle/>
          <a:p>
            <a:pPr algn="l"/>
            <a:r>
              <a:rPr sz="1050" b="1">
                <a:solidFill>
                  <a:srgbClr val="2868B9"/>
                </a:solidFill>
                <a:latin typeface="Aptos"/>
              </a:rPr>
              <a:t>Key idea</a:t>
            </a:r>
          </a:p>
        </p:txBody>
      </p:sp>
      <p:sp>
        <p:nvSpPr>
          <p:cNvPr id="38" name="TextBox 37"/>
          <p:cNvSpPr txBox="1"/>
          <p:nvPr/>
        </p:nvSpPr>
        <p:spPr>
          <a:xfrm>
            <a:off x="8275320" y="5504015"/>
            <a:ext cx="3197210" cy="384721"/>
          </a:xfrm>
          <a:prstGeom prst="rect">
            <a:avLst/>
          </a:prstGeom>
          <a:noFill/>
        </p:spPr>
        <p:txBody>
          <a:bodyPr wrap="square" anchor="ctr">
            <a:spAutoFit/>
          </a:bodyPr>
          <a:lstStyle/>
          <a:p>
            <a:pPr algn="l"/>
            <a:r>
              <a:rPr sz="950" b="0" dirty="0">
                <a:solidFill>
                  <a:srgbClr val="253749"/>
                </a:solidFill>
                <a:latin typeface="Aptos"/>
              </a:rPr>
              <a:t>Git versions stable DRS references; authorized bytes are resolved and hydrated only when needed.</a:t>
            </a:r>
          </a:p>
        </p:txBody>
      </p:sp>
      <p:sp>
        <p:nvSpPr>
          <p:cNvPr id="40" name="TextBox 39">
            <a:extLst>
              <a:ext uri="{FF2B5EF4-FFF2-40B4-BE49-F238E27FC236}">
                <a16:creationId xmlns:a16="http://schemas.microsoft.com/office/drawing/2014/main" id="{A3915BD9-6465-A330-EED5-3CB59A75D1A7}"/>
              </a:ext>
            </a:extLst>
          </p:cNvPr>
          <p:cNvSpPr txBox="1"/>
          <p:nvPr/>
        </p:nvSpPr>
        <p:spPr>
          <a:xfrm>
            <a:off x="1298449" y="6330767"/>
            <a:ext cx="7571231" cy="307777"/>
          </a:xfrm>
          <a:prstGeom prst="rect">
            <a:avLst/>
          </a:prstGeom>
          <a:noFill/>
        </p:spPr>
        <p:txBody>
          <a:bodyPr wrap="square">
            <a:spAutoFit/>
          </a:bodyPr>
          <a:lstStyle/>
          <a:p>
            <a:r>
              <a:rPr lang="en-US" sz="1400" dirty="0">
                <a:latin typeface="Aptos Mono" panose="020B0009020202020204" pitchFamily="49" charset="0"/>
              </a:rPr>
              <a:t>https://</a:t>
            </a:r>
            <a:r>
              <a:rPr lang="en-US" sz="1400" dirty="0" err="1">
                <a:latin typeface="Aptos Mono" panose="020B0009020202020204" pitchFamily="49" charset="0"/>
              </a:rPr>
              <a:t>github.com</a:t>
            </a:r>
            <a:r>
              <a:rPr lang="en-US" sz="1400" dirty="0">
                <a:latin typeface="Aptos Mono" panose="020B0009020202020204" pitchFamily="49" charset="0"/>
              </a:rPr>
              <a:t>/</a:t>
            </a:r>
            <a:r>
              <a:rPr lang="en-US" sz="1400" dirty="0" err="1">
                <a:latin typeface="Aptos Mono" panose="020B0009020202020204" pitchFamily="49" charset="0"/>
              </a:rPr>
              <a:t>EllrottLab</a:t>
            </a:r>
            <a:r>
              <a:rPr lang="en-US" sz="1400" dirty="0">
                <a:latin typeface="Aptos Mono" panose="020B0009020202020204" pitchFamily="49" charset="0"/>
              </a:rPr>
              <a:t>/ANVIL_1000G_PRIMED_data_model</a:t>
            </a:r>
          </a:p>
        </p:txBody>
      </p:sp>
      <p:pic>
        <p:nvPicPr>
          <p:cNvPr id="41" name="Picture 40" descr="Example - Free miscellaneous icons">
            <a:extLst>
              <a:ext uri="{FF2B5EF4-FFF2-40B4-BE49-F238E27FC236}">
                <a16:creationId xmlns:a16="http://schemas.microsoft.com/office/drawing/2014/main" id="{4CB3439C-5393-7720-46B0-687B8121396F}"/>
              </a:ext>
            </a:extLst>
          </p:cNvPr>
          <p:cNvPicPr>
            <a:picLocks noChangeAspect="1"/>
          </p:cNvPicPr>
          <p:nvPr/>
        </p:nvPicPr>
        <p:blipFill>
          <a:blip r:embed="rId2"/>
          <a:stretch>
            <a:fillRect/>
          </a:stretch>
        </p:blipFill>
        <p:spPr>
          <a:xfrm>
            <a:off x="384048" y="6072825"/>
            <a:ext cx="808559" cy="8085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472" y="109728"/>
            <a:ext cx="2011680" cy="256032"/>
          </a:xfrm>
          <a:prstGeom prst="rect">
            <a:avLst/>
          </a:prstGeom>
          <a:noFill/>
        </p:spPr>
        <p:txBody>
          <a:bodyPr wrap="square" anchor="ctr">
            <a:spAutoFit/>
          </a:bodyPr>
          <a:lstStyle/>
          <a:p>
            <a:pPr algn="l"/>
            <a:r>
              <a:rPr sz="1400" b="1">
                <a:solidFill>
                  <a:srgbClr val="007177"/>
                </a:solidFill>
                <a:latin typeface="Aptos"/>
              </a:rPr>
              <a:t>3-Step Workflow</a:t>
            </a:r>
          </a:p>
        </p:txBody>
      </p:sp>
      <p:sp>
        <p:nvSpPr>
          <p:cNvPr id="3" name="TextBox 2"/>
          <p:cNvSpPr txBox="1"/>
          <p:nvPr/>
        </p:nvSpPr>
        <p:spPr>
          <a:xfrm>
            <a:off x="347472" y="393192"/>
            <a:ext cx="10881360" cy="502920"/>
          </a:xfrm>
          <a:prstGeom prst="rect">
            <a:avLst/>
          </a:prstGeom>
          <a:noFill/>
        </p:spPr>
        <p:txBody>
          <a:bodyPr wrap="square" anchor="ctr">
            <a:spAutoFit/>
          </a:bodyPr>
          <a:lstStyle/>
          <a:p>
            <a:pPr algn="l"/>
            <a:r>
              <a:rPr sz="2800" b="1">
                <a:solidFill>
                  <a:srgbClr val="051C4E"/>
                </a:solidFill>
                <a:latin typeface="Aptos"/>
              </a:rPr>
              <a:t>From AnVIL Data Explorer to versioned Git references</a:t>
            </a:r>
          </a:p>
        </p:txBody>
      </p:sp>
      <p:sp>
        <p:nvSpPr>
          <p:cNvPr id="4" name="Rectangle 3"/>
          <p:cNvSpPr/>
          <p:nvPr/>
        </p:nvSpPr>
        <p:spPr>
          <a:xfrm>
            <a:off x="347472" y="987552"/>
            <a:ext cx="914400" cy="41148"/>
          </a:xfrm>
          <a:prstGeom prst="rect">
            <a:avLst/>
          </a:prstGeom>
          <a:solidFill>
            <a:srgbClr val="008F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86384" y="1188720"/>
            <a:ext cx="329184" cy="329184"/>
          </a:xfrm>
          <a:prstGeom prst="ellipse">
            <a:avLst/>
          </a:prstGeom>
          <a:solidFill>
            <a:srgbClr val="008F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86384" y="1188720"/>
            <a:ext cx="329184" cy="329184"/>
          </a:xfrm>
          <a:prstGeom prst="rect">
            <a:avLst/>
          </a:prstGeom>
          <a:noFill/>
        </p:spPr>
        <p:txBody>
          <a:bodyPr wrap="square" anchor="ctr">
            <a:spAutoFit/>
          </a:bodyPr>
          <a:lstStyle/>
          <a:p>
            <a:pPr algn="ctr"/>
            <a:r>
              <a:rPr sz="1300" b="1">
                <a:solidFill>
                  <a:srgbClr val="FFFFFF"/>
                </a:solidFill>
                <a:latin typeface="Aptos"/>
              </a:rPr>
              <a:t>1</a:t>
            </a:r>
          </a:p>
        </p:txBody>
      </p:sp>
      <p:sp>
        <p:nvSpPr>
          <p:cNvPr id="7" name="TextBox 6"/>
          <p:cNvSpPr txBox="1"/>
          <p:nvPr/>
        </p:nvSpPr>
        <p:spPr>
          <a:xfrm>
            <a:off x="1216152" y="1161288"/>
            <a:ext cx="3108959" cy="320040"/>
          </a:xfrm>
          <a:prstGeom prst="rect">
            <a:avLst/>
          </a:prstGeom>
          <a:noFill/>
        </p:spPr>
        <p:txBody>
          <a:bodyPr wrap="square" anchor="ctr">
            <a:spAutoFit/>
          </a:bodyPr>
          <a:lstStyle/>
          <a:p>
            <a:pPr algn="l"/>
            <a:r>
              <a:rPr sz="1600" b="1">
                <a:solidFill>
                  <a:srgbClr val="051C4E"/>
                </a:solidFill>
                <a:latin typeface="Aptos"/>
              </a:rPr>
              <a:t>Select data in AnVIL</a:t>
            </a:r>
          </a:p>
        </p:txBody>
      </p:sp>
      <p:sp>
        <p:nvSpPr>
          <p:cNvPr id="8" name="TextBox 7"/>
          <p:cNvSpPr txBox="1"/>
          <p:nvPr/>
        </p:nvSpPr>
        <p:spPr>
          <a:xfrm>
            <a:off x="987552" y="1536192"/>
            <a:ext cx="3337559" cy="438912"/>
          </a:xfrm>
          <a:prstGeom prst="rect">
            <a:avLst/>
          </a:prstGeom>
          <a:noFill/>
        </p:spPr>
        <p:txBody>
          <a:bodyPr wrap="square" anchor="ctr">
            <a:spAutoFit/>
          </a:bodyPr>
          <a:lstStyle/>
          <a:p>
            <a:pPr algn="l"/>
            <a:r>
              <a:rPr sz="1200" b="0">
                <a:solidFill>
                  <a:srgbClr val="051C4E"/>
                </a:solidFill>
                <a:latin typeface="Aptos"/>
              </a:rPr>
              <a:t>Use Data Explorer to find</a:t>
            </a:r>
            <a:br/>
            <a:r>
              <a:rPr sz="1200" b="0">
                <a:solidFill>
                  <a:srgbClr val="051C4E"/>
                </a:solidFill>
                <a:latin typeface="Aptos"/>
              </a:rPr>
              <a:t>and select the files you need.</a:t>
            </a:r>
          </a:p>
        </p:txBody>
      </p:sp>
      <p:sp>
        <p:nvSpPr>
          <p:cNvPr id="9" name="Oval 8"/>
          <p:cNvSpPr/>
          <p:nvPr/>
        </p:nvSpPr>
        <p:spPr>
          <a:xfrm>
            <a:off x="4937760" y="1188720"/>
            <a:ext cx="329184" cy="329184"/>
          </a:xfrm>
          <a:prstGeom prst="ellipse">
            <a:avLst/>
          </a:prstGeom>
          <a:solidFill>
            <a:srgbClr val="008F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7760" y="1188720"/>
            <a:ext cx="329184" cy="329184"/>
          </a:xfrm>
          <a:prstGeom prst="rect">
            <a:avLst/>
          </a:prstGeom>
          <a:noFill/>
        </p:spPr>
        <p:txBody>
          <a:bodyPr wrap="square" anchor="ctr">
            <a:spAutoFit/>
          </a:bodyPr>
          <a:lstStyle/>
          <a:p>
            <a:pPr algn="ctr"/>
            <a:r>
              <a:rPr sz="1300" b="1">
                <a:solidFill>
                  <a:srgbClr val="FFFFFF"/>
                </a:solidFill>
                <a:latin typeface="Aptos"/>
              </a:rPr>
              <a:t>2</a:t>
            </a:r>
          </a:p>
        </p:txBody>
      </p:sp>
      <p:sp>
        <p:nvSpPr>
          <p:cNvPr id="11" name="TextBox 10"/>
          <p:cNvSpPr txBox="1"/>
          <p:nvPr/>
        </p:nvSpPr>
        <p:spPr>
          <a:xfrm>
            <a:off x="5367528" y="1161288"/>
            <a:ext cx="2807207" cy="320040"/>
          </a:xfrm>
          <a:prstGeom prst="rect">
            <a:avLst/>
          </a:prstGeom>
          <a:noFill/>
        </p:spPr>
        <p:txBody>
          <a:bodyPr wrap="square" anchor="ctr">
            <a:spAutoFit/>
          </a:bodyPr>
          <a:lstStyle/>
          <a:p>
            <a:pPr algn="l"/>
            <a:r>
              <a:rPr sz="1600" b="1">
                <a:solidFill>
                  <a:srgbClr val="051C4E"/>
                </a:solidFill>
                <a:latin typeface="Aptos"/>
              </a:rPr>
              <a:t>Add DRS references</a:t>
            </a:r>
          </a:p>
        </p:txBody>
      </p:sp>
      <p:sp>
        <p:nvSpPr>
          <p:cNvPr id="12" name="TextBox 11"/>
          <p:cNvSpPr txBox="1"/>
          <p:nvPr/>
        </p:nvSpPr>
        <p:spPr>
          <a:xfrm>
            <a:off x="5138928" y="1536192"/>
            <a:ext cx="3035807" cy="438912"/>
          </a:xfrm>
          <a:prstGeom prst="rect">
            <a:avLst/>
          </a:prstGeom>
          <a:noFill/>
        </p:spPr>
        <p:txBody>
          <a:bodyPr wrap="square" anchor="ctr">
            <a:spAutoFit/>
          </a:bodyPr>
          <a:lstStyle/>
          <a:p>
            <a:pPr algn="l"/>
            <a:r>
              <a:rPr sz="1200" b="0">
                <a:solidFill>
                  <a:srgbClr val="051C4E"/>
                </a:solidFill>
                <a:latin typeface="Aptos"/>
              </a:rPr>
              <a:t>Add the selected objects as</a:t>
            </a:r>
            <a:br/>
            <a:r>
              <a:rPr sz="1200" b="0">
                <a:solidFill>
                  <a:srgbClr val="051C4E"/>
                </a:solidFill>
                <a:latin typeface="Aptos"/>
              </a:rPr>
              <a:t>DRS references in your repo.</a:t>
            </a:r>
          </a:p>
        </p:txBody>
      </p:sp>
      <p:sp>
        <p:nvSpPr>
          <p:cNvPr id="13" name="Oval 12"/>
          <p:cNvSpPr/>
          <p:nvPr/>
        </p:nvSpPr>
        <p:spPr>
          <a:xfrm>
            <a:off x="8942832" y="1188720"/>
            <a:ext cx="329184" cy="329184"/>
          </a:xfrm>
          <a:prstGeom prst="ellipse">
            <a:avLst/>
          </a:prstGeom>
          <a:solidFill>
            <a:srgbClr val="008F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42832" y="1188720"/>
            <a:ext cx="329184" cy="329184"/>
          </a:xfrm>
          <a:prstGeom prst="rect">
            <a:avLst/>
          </a:prstGeom>
          <a:noFill/>
        </p:spPr>
        <p:txBody>
          <a:bodyPr wrap="square" anchor="ctr">
            <a:spAutoFit/>
          </a:bodyPr>
          <a:lstStyle/>
          <a:p>
            <a:pPr algn="ctr"/>
            <a:r>
              <a:rPr sz="1300" b="1">
                <a:solidFill>
                  <a:srgbClr val="FFFFFF"/>
                </a:solidFill>
                <a:latin typeface="Aptos"/>
              </a:rPr>
              <a:t>3</a:t>
            </a:r>
          </a:p>
        </p:txBody>
      </p:sp>
      <p:sp>
        <p:nvSpPr>
          <p:cNvPr id="15" name="TextBox 14"/>
          <p:cNvSpPr txBox="1"/>
          <p:nvPr/>
        </p:nvSpPr>
        <p:spPr>
          <a:xfrm>
            <a:off x="9372600" y="1161288"/>
            <a:ext cx="2468880" cy="320040"/>
          </a:xfrm>
          <a:prstGeom prst="rect">
            <a:avLst/>
          </a:prstGeom>
          <a:noFill/>
        </p:spPr>
        <p:txBody>
          <a:bodyPr wrap="square" anchor="ctr">
            <a:spAutoFit/>
          </a:bodyPr>
          <a:lstStyle/>
          <a:p>
            <a:pPr algn="l"/>
            <a:r>
              <a:rPr sz="1600" b="1">
                <a:solidFill>
                  <a:srgbClr val="051C4E"/>
                </a:solidFill>
                <a:latin typeface="Aptos"/>
              </a:rPr>
              <a:t>Commit &amp; publish</a:t>
            </a:r>
          </a:p>
        </p:txBody>
      </p:sp>
      <p:sp>
        <p:nvSpPr>
          <p:cNvPr id="16" name="TextBox 15"/>
          <p:cNvSpPr txBox="1"/>
          <p:nvPr/>
        </p:nvSpPr>
        <p:spPr>
          <a:xfrm>
            <a:off x="9144000" y="1536192"/>
            <a:ext cx="2697480" cy="438912"/>
          </a:xfrm>
          <a:prstGeom prst="rect">
            <a:avLst/>
          </a:prstGeom>
          <a:noFill/>
        </p:spPr>
        <p:txBody>
          <a:bodyPr wrap="square" anchor="ctr">
            <a:spAutoFit/>
          </a:bodyPr>
          <a:lstStyle/>
          <a:p>
            <a:pPr algn="l"/>
            <a:r>
              <a:rPr sz="1200" b="0">
                <a:solidFill>
                  <a:srgbClr val="051C4E"/>
                </a:solidFill>
                <a:latin typeface="Aptos"/>
              </a:rPr>
              <a:t>Commit pointer files and publish</a:t>
            </a:r>
            <a:br/>
            <a:r>
              <a:rPr sz="1200" b="0">
                <a:solidFill>
                  <a:srgbClr val="051C4E"/>
                </a:solidFill>
                <a:latin typeface="Aptos"/>
              </a:rPr>
              <a:t>with ordinary Git.</a:t>
            </a:r>
          </a:p>
        </p:txBody>
      </p:sp>
      <p:cxnSp>
        <p:nvCxnSpPr>
          <p:cNvPr id="17" name="Connector 16"/>
          <p:cNvCxnSpPr/>
          <p:nvPr/>
        </p:nvCxnSpPr>
        <p:spPr>
          <a:xfrm>
            <a:off x="3950208" y="1517904"/>
            <a:ext cx="393192" cy="0"/>
          </a:xfrm>
          <a:prstGeom prst="line">
            <a:avLst/>
          </a:prstGeom>
          <a:ln w="25400">
            <a:solidFill>
              <a:srgbClr val="4E5C6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927848" y="1517904"/>
            <a:ext cx="393192" cy="0"/>
          </a:xfrm>
          <a:prstGeom prst="line">
            <a:avLst/>
          </a:prstGeom>
          <a:ln w="25400">
            <a:solidFill>
              <a:srgbClr val="4E5C6C"/>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47472" y="1993392"/>
            <a:ext cx="3977639" cy="3383280"/>
          </a:xfrm>
          <a:prstGeom prst="roundRect">
            <a:avLst/>
          </a:prstGeom>
          <a:solidFill>
            <a:srgbClr val="FFFFFF"/>
          </a:solidFill>
          <a:ln w="12700">
            <a:solidFill>
              <a:srgbClr val="C8D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2048256"/>
            <a:ext cx="2011680" cy="256032"/>
          </a:xfrm>
          <a:prstGeom prst="rect">
            <a:avLst/>
          </a:prstGeom>
          <a:noFill/>
        </p:spPr>
        <p:txBody>
          <a:bodyPr wrap="square" anchor="ctr">
            <a:spAutoFit/>
          </a:bodyPr>
          <a:lstStyle/>
          <a:p>
            <a:pPr algn="l"/>
            <a:r>
              <a:rPr sz="1200" b="1">
                <a:solidFill>
                  <a:srgbClr val="0054BE"/>
                </a:solidFill>
                <a:latin typeface="Aptos"/>
              </a:rPr>
              <a:t>★ AnVIL Data Explorer</a:t>
            </a:r>
          </a:p>
        </p:txBody>
      </p:sp>
      <p:sp>
        <p:nvSpPr>
          <p:cNvPr id="21" name="Rounded Rectangle 20"/>
          <p:cNvSpPr/>
          <p:nvPr/>
        </p:nvSpPr>
        <p:spPr>
          <a:xfrm>
            <a:off x="502920" y="2331720"/>
            <a:ext cx="530352" cy="246888"/>
          </a:xfrm>
          <a:prstGeom prst="roundRect">
            <a:avLst/>
          </a:prstGeom>
          <a:solidFill>
            <a:srgbClr val="F7FAFC"/>
          </a:solidFill>
          <a:ln w="12700">
            <a:solidFill>
              <a:srgbClr val="C8D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2331720"/>
            <a:ext cx="530352" cy="246888"/>
          </a:xfrm>
          <a:prstGeom prst="rect">
            <a:avLst/>
          </a:prstGeom>
          <a:noFill/>
        </p:spPr>
        <p:txBody>
          <a:bodyPr wrap="square" anchor="ctr">
            <a:spAutoFit/>
          </a:bodyPr>
          <a:lstStyle/>
          <a:p>
            <a:pPr algn="ctr"/>
            <a:r>
              <a:rPr sz="800" b="1">
                <a:solidFill>
                  <a:srgbClr val="051C4E"/>
                </a:solidFill>
                <a:latin typeface="Aptos"/>
              </a:rPr>
              <a:t>Table</a:t>
            </a:r>
          </a:p>
        </p:txBody>
      </p:sp>
      <p:sp>
        <p:nvSpPr>
          <p:cNvPr id="23" name="Rounded Rectangle 22"/>
          <p:cNvSpPr/>
          <p:nvPr/>
        </p:nvSpPr>
        <p:spPr>
          <a:xfrm>
            <a:off x="1069848" y="2331720"/>
            <a:ext cx="530352" cy="246888"/>
          </a:xfrm>
          <a:prstGeom prst="roundRect">
            <a:avLst/>
          </a:prstGeom>
          <a:solidFill>
            <a:srgbClr val="F7FAFC"/>
          </a:solidFill>
          <a:ln w="12700">
            <a:solidFill>
              <a:srgbClr val="C8D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69848" y="2331720"/>
            <a:ext cx="530352" cy="246888"/>
          </a:xfrm>
          <a:prstGeom prst="rect">
            <a:avLst/>
          </a:prstGeom>
          <a:noFill/>
        </p:spPr>
        <p:txBody>
          <a:bodyPr wrap="square" anchor="ctr">
            <a:spAutoFit/>
          </a:bodyPr>
          <a:lstStyle/>
          <a:p>
            <a:pPr algn="ctr"/>
            <a:r>
              <a:rPr sz="800" b="0">
                <a:solidFill>
                  <a:srgbClr val="051C4E"/>
                </a:solidFill>
                <a:latin typeface="Aptos"/>
              </a:rPr>
              <a:t>Graph</a:t>
            </a:r>
          </a:p>
        </p:txBody>
      </p:sp>
      <p:sp>
        <p:nvSpPr>
          <p:cNvPr id="25" name="TextBox 24"/>
          <p:cNvSpPr txBox="1"/>
          <p:nvPr/>
        </p:nvSpPr>
        <p:spPr>
          <a:xfrm>
            <a:off x="1755648" y="2331720"/>
            <a:ext cx="1143000" cy="246888"/>
          </a:xfrm>
          <a:prstGeom prst="rect">
            <a:avLst/>
          </a:prstGeom>
          <a:noFill/>
        </p:spPr>
        <p:txBody>
          <a:bodyPr wrap="square" anchor="ctr">
            <a:spAutoFit/>
          </a:bodyPr>
          <a:lstStyle/>
          <a:p>
            <a:pPr algn="l"/>
            <a:r>
              <a:rPr sz="800" b="0">
                <a:solidFill>
                  <a:srgbClr val="4E5C6C"/>
                </a:solidFill>
                <a:latin typeface="Aptos"/>
              </a:rPr>
              <a:t>Results: 1 – 7 of 7</a:t>
            </a:r>
          </a:p>
        </p:txBody>
      </p:sp>
      <p:sp>
        <p:nvSpPr>
          <p:cNvPr id="26" name="TextBox 25"/>
          <p:cNvSpPr txBox="1"/>
          <p:nvPr/>
        </p:nvSpPr>
        <p:spPr>
          <a:xfrm>
            <a:off x="640080" y="2660904"/>
            <a:ext cx="1417320" cy="201168"/>
          </a:xfrm>
          <a:prstGeom prst="rect">
            <a:avLst/>
          </a:prstGeom>
          <a:noFill/>
        </p:spPr>
        <p:txBody>
          <a:bodyPr wrap="square" anchor="ctr">
            <a:spAutoFit/>
          </a:bodyPr>
          <a:lstStyle/>
          <a:p>
            <a:pPr algn="ctr"/>
            <a:r>
              <a:rPr sz="750" b="1">
                <a:solidFill>
                  <a:srgbClr val="4E5C6C"/>
                </a:solidFill>
                <a:latin typeface="Aptos"/>
              </a:rPr>
              <a:t>Name</a:t>
            </a:r>
          </a:p>
        </p:txBody>
      </p:sp>
      <p:sp>
        <p:nvSpPr>
          <p:cNvPr id="27" name="TextBox 26"/>
          <p:cNvSpPr txBox="1"/>
          <p:nvPr/>
        </p:nvSpPr>
        <p:spPr>
          <a:xfrm>
            <a:off x="2148840" y="2660904"/>
            <a:ext cx="640080" cy="201168"/>
          </a:xfrm>
          <a:prstGeom prst="rect">
            <a:avLst/>
          </a:prstGeom>
          <a:noFill/>
        </p:spPr>
        <p:txBody>
          <a:bodyPr wrap="square" anchor="ctr">
            <a:spAutoFit/>
          </a:bodyPr>
          <a:lstStyle/>
          <a:p>
            <a:pPr algn="ctr"/>
            <a:r>
              <a:rPr sz="750" b="1">
                <a:solidFill>
                  <a:srgbClr val="4E5C6C"/>
                </a:solidFill>
                <a:latin typeface="Aptos"/>
              </a:rPr>
              <a:t>File Format</a:t>
            </a:r>
          </a:p>
        </p:txBody>
      </p:sp>
      <p:sp>
        <p:nvSpPr>
          <p:cNvPr id="28" name="TextBox 27"/>
          <p:cNvSpPr txBox="1"/>
          <p:nvPr/>
        </p:nvSpPr>
        <p:spPr>
          <a:xfrm>
            <a:off x="2816352" y="2660904"/>
            <a:ext cx="502920" cy="201168"/>
          </a:xfrm>
          <a:prstGeom prst="rect">
            <a:avLst/>
          </a:prstGeom>
          <a:noFill/>
        </p:spPr>
        <p:txBody>
          <a:bodyPr wrap="square" anchor="ctr">
            <a:spAutoFit/>
          </a:bodyPr>
          <a:lstStyle/>
          <a:p>
            <a:pPr algn="ctr"/>
            <a:r>
              <a:rPr sz="750" b="1">
                <a:solidFill>
                  <a:srgbClr val="4E5C6C"/>
                </a:solidFill>
                <a:latin typeface="Aptos"/>
              </a:rPr>
              <a:t>Size</a:t>
            </a:r>
          </a:p>
        </p:txBody>
      </p:sp>
      <p:sp>
        <p:nvSpPr>
          <p:cNvPr id="29" name="TextBox 28"/>
          <p:cNvSpPr txBox="1"/>
          <p:nvPr/>
        </p:nvSpPr>
        <p:spPr>
          <a:xfrm>
            <a:off x="3328416" y="2660904"/>
            <a:ext cx="777240" cy="201168"/>
          </a:xfrm>
          <a:prstGeom prst="rect">
            <a:avLst/>
          </a:prstGeom>
          <a:noFill/>
        </p:spPr>
        <p:txBody>
          <a:bodyPr wrap="square" anchor="ctr">
            <a:spAutoFit/>
          </a:bodyPr>
          <a:lstStyle/>
          <a:p>
            <a:pPr algn="ctr"/>
            <a:r>
              <a:rPr sz="750" b="1">
                <a:solidFill>
                  <a:srgbClr val="4E5C6C"/>
                </a:solidFill>
                <a:latin typeface="Aptos"/>
              </a:rPr>
              <a:t>DRS URI</a:t>
            </a:r>
          </a:p>
        </p:txBody>
      </p:sp>
      <p:sp>
        <p:nvSpPr>
          <p:cNvPr id="30" name="Rounded Rectangle 29"/>
          <p:cNvSpPr/>
          <p:nvPr/>
        </p:nvSpPr>
        <p:spPr>
          <a:xfrm>
            <a:off x="493776" y="2926080"/>
            <a:ext cx="201168" cy="201168"/>
          </a:xfrm>
          <a:prstGeom prst="roundRect">
            <a:avLst/>
          </a:prstGeom>
          <a:solidFill>
            <a:srgbClr val="0054BE"/>
          </a:solidFill>
          <a:ln w="12700">
            <a:solidFill>
              <a:srgbClr val="005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93776" y="2926080"/>
            <a:ext cx="201168" cy="201168"/>
          </a:xfrm>
          <a:prstGeom prst="rect">
            <a:avLst/>
          </a:prstGeom>
          <a:noFill/>
        </p:spPr>
        <p:txBody>
          <a:bodyPr wrap="square" anchor="ctr">
            <a:spAutoFit/>
          </a:bodyPr>
          <a:lstStyle/>
          <a:p>
            <a:pPr algn="ctr"/>
            <a:r>
              <a:rPr sz="650" b="1">
                <a:solidFill>
                  <a:srgbClr val="FFFFFF"/>
                </a:solidFill>
                <a:latin typeface="Aptos"/>
              </a:rPr>
              <a:t>A</a:t>
            </a:r>
          </a:p>
        </p:txBody>
      </p:sp>
      <p:sp>
        <p:nvSpPr>
          <p:cNvPr id="32" name="TextBox 31"/>
          <p:cNvSpPr txBox="1"/>
          <p:nvPr/>
        </p:nvSpPr>
        <p:spPr>
          <a:xfrm>
            <a:off x="640080" y="2926080"/>
            <a:ext cx="1417320" cy="201168"/>
          </a:xfrm>
          <a:prstGeom prst="rect">
            <a:avLst/>
          </a:prstGeom>
          <a:noFill/>
        </p:spPr>
        <p:txBody>
          <a:bodyPr wrap="square" anchor="ctr">
            <a:spAutoFit/>
          </a:bodyPr>
          <a:lstStyle/>
          <a:p>
            <a:pPr algn="l"/>
            <a:r>
              <a:rPr sz="670" b="0">
                <a:solidFill>
                  <a:srgbClr val="051C4E"/>
                </a:solidFill>
                <a:latin typeface="Aptos"/>
              </a:rPr>
              <a:t>sequencing_dataset.tsv</a:t>
            </a:r>
          </a:p>
        </p:txBody>
      </p:sp>
      <p:sp>
        <p:nvSpPr>
          <p:cNvPr id="33" name="TextBox 32"/>
          <p:cNvSpPr txBox="1"/>
          <p:nvPr/>
        </p:nvSpPr>
        <p:spPr>
          <a:xfrm>
            <a:off x="2148840" y="2926080"/>
            <a:ext cx="640080" cy="201168"/>
          </a:xfrm>
          <a:prstGeom prst="rect">
            <a:avLst/>
          </a:prstGeom>
          <a:noFill/>
        </p:spPr>
        <p:txBody>
          <a:bodyPr wrap="square" anchor="ctr">
            <a:spAutoFit/>
          </a:bodyPr>
          <a:lstStyle/>
          <a:p>
            <a:pPr algn="ctr"/>
            <a:r>
              <a:rPr sz="670" b="0">
                <a:solidFill>
                  <a:srgbClr val="051C4E"/>
                </a:solidFill>
                <a:latin typeface="Aptos"/>
              </a:rPr>
              <a:t>tsv</a:t>
            </a:r>
          </a:p>
        </p:txBody>
      </p:sp>
      <p:sp>
        <p:nvSpPr>
          <p:cNvPr id="34" name="TextBox 33"/>
          <p:cNvSpPr txBox="1"/>
          <p:nvPr/>
        </p:nvSpPr>
        <p:spPr>
          <a:xfrm>
            <a:off x="2816352" y="2926080"/>
            <a:ext cx="502920" cy="201168"/>
          </a:xfrm>
          <a:prstGeom prst="rect">
            <a:avLst/>
          </a:prstGeom>
          <a:noFill/>
        </p:spPr>
        <p:txBody>
          <a:bodyPr wrap="square" anchor="ctr">
            <a:spAutoFit/>
          </a:bodyPr>
          <a:lstStyle/>
          <a:p>
            <a:pPr algn="ctr"/>
            <a:r>
              <a:rPr sz="670" b="0">
                <a:solidFill>
                  <a:srgbClr val="051C4E"/>
                </a:solidFill>
                <a:latin typeface="Aptos"/>
              </a:rPr>
              <a:t>12.4 MB</a:t>
            </a:r>
          </a:p>
        </p:txBody>
      </p:sp>
      <p:sp>
        <p:nvSpPr>
          <p:cNvPr id="35" name="TextBox 34"/>
          <p:cNvSpPr txBox="1"/>
          <p:nvPr/>
        </p:nvSpPr>
        <p:spPr>
          <a:xfrm>
            <a:off x="3328416" y="2926080"/>
            <a:ext cx="777240" cy="201168"/>
          </a:xfrm>
          <a:prstGeom prst="rect">
            <a:avLst/>
          </a:prstGeom>
          <a:noFill/>
        </p:spPr>
        <p:txBody>
          <a:bodyPr wrap="square" anchor="ctr">
            <a:spAutoFit/>
          </a:bodyPr>
          <a:lstStyle/>
          <a:p>
            <a:pPr algn="ctr"/>
            <a:r>
              <a:rPr sz="670" b="0">
                <a:solidFill>
                  <a:srgbClr val="051C4E"/>
                </a:solidFill>
                <a:latin typeface="Aptos"/>
              </a:rPr>
              <a:t>drs://drs.anv0:...abfe7</a:t>
            </a:r>
          </a:p>
        </p:txBody>
      </p:sp>
      <p:cxnSp>
        <p:nvCxnSpPr>
          <p:cNvPr id="36" name="Connector 35"/>
          <p:cNvCxnSpPr/>
          <p:nvPr/>
        </p:nvCxnSpPr>
        <p:spPr>
          <a:xfrm>
            <a:off x="502920" y="3154680"/>
            <a:ext cx="3657600" cy="0"/>
          </a:xfrm>
          <a:prstGeom prst="line">
            <a:avLst/>
          </a:prstGeom>
          <a:ln w="7620">
            <a:solidFill>
              <a:srgbClr val="E6EBF0"/>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493776" y="3273552"/>
            <a:ext cx="201168" cy="201168"/>
          </a:xfrm>
          <a:prstGeom prst="roundRect">
            <a:avLst/>
          </a:prstGeom>
          <a:solidFill>
            <a:srgbClr val="0054BE"/>
          </a:solidFill>
          <a:ln w="12700">
            <a:solidFill>
              <a:srgbClr val="005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93776" y="3273552"/>
            <a:ext cx="201168" cy="201168"/>
          </a:xfrm>
          <a:prstGeom prst="rect">
            <a:avLst/>
          </a:prstGeom>
          <a:noFill/>
        </p:spPr>
        <p:txBody>
          <a:bodyPr wrap="square" anchor="ctr">
            <a:spAutoFit/>
          </a:bodyPr>
          <a:lstStyle/>
          <a:p>
            <a:pPr algn="ctr"/>
            <a:r>
              <a:rPr sz="650" b="1">
                <a:solidFill>
                  <a:srgbClr val="FFFFFF"/>
                </a:solidFill>
                <a:latin typeface="Aptos"/>
              </a:rPr>
              <a:t>A</a:t>
            </a:r>
          </a:p>
        </p:txBody>
      </p:sp>
      <p:sp>
        <p:nvSpPr>
          <p:cNvPr id="39" name="TextBox 38"/>
          <p:cNvSpPr txBox="1"/>
          <p:nvPr/>
        </p:nvSpPr>
        <p:spPr>
          <a:xfrm>
            <a:off x="640080" y="3273552"/>
            <a:ext cx="1417320" cy="201168"/>
          </a:xfrm>
          <a:prstGeom prst="rect">
            <a:avLst/>
          </a:prstGeom>
          <a:noFill/>
        </p:spPr>
        <p:txBody>
          <a:bodyPr wrap="square" anchor="ctr">
            <a:spAutoFit/>
          </a:bodyPr>
          <a:lstStyle/>
          <a:p>
            <a:pPr algn="l"/>
            <a:r>
              <a:rPr sz="670" b="0">
                <a:solidFill>
                  <a:srgbClr val="051C4E"/>
                </a:solidFill>
                <a:latin typeface="Aptos"/>
              </a:rPr>
              <a:t>subject.tsv</a:t>
            </a:r>
          </a:p>
        </p:txBody>
      </p:sp>
      <p:sp>
        <p:nvSpPr>
          <p:cNvPr id="40" name="TextBox 39"/>
          <p:cNvSpPr txBox="1"/>
          <p:nvPr/>
        </p:nvSpPr>
        <p:spPr>
          <a:xfrm>
            <a:off x="2148840" y="3273552"/>
            <a:ext cx="640080" cy="201168"/>
          </a:xfrm>
          <a:prstGeom prst="rect">
            <a:avLst/>
          </a:prstGeom>
          <a:noFill/>
        </p:spPr>
        <p:txBody>
          <a:bodyPr wrap="square" anchor="ctr">
            <a:spAutoFit/>
          </a:bodyPr>
          <a:lstStyle/>
          <a:p>
            <a:pPr algn="ctr"/>
            <a:r>
              <a:rPr sz="670" b="0">
                <a:solidFill>
                  <a:srgbClr val="051C4E"/>
                </a:solidFill>
                <a:latin typeface="Aptos"/>
              </a:rPr>
              <a:t>tsv</a:t>
            </a:r>
          </a:p>
        </p:txBody>
      </p:sp>
      <p:sp>
        <p:nvSpPr>
          <p:cNvPr id="41" name="TextBox 40"/>
          <p:cNvSpPr txBox="1"/>
          <p:nvPr/>
        </p:nvSpPr>
        <p:spPr>
          <a:xfrm>
            <a:off x="2816352" y="3273552"/>
            <a:ext cx="502920" cy="201168"/>
          </a:xfrm>
          <a:prstGeom prst="rect">
            <a:avLst/>
          </a:prstGeom>
          <a:noFill/>
        </p:spPr>
        <p:txBody>
          <a:bodyPr wrap="square" anchor="ctr">
            <a:spAutoFit/>
          </a:bodyPr>
          <a:lstStyle/>
          <a:p>
            <a:pPr algn="ctr"/>
            <a:r>
              <a:rPr sz="670" b="0">
                <a:solidFill>
                  <a:srgbClr val="051C4E"/>
                </a:solidFill>
                <a:latin typeface="Aptos"/>
              </a:rPr>
              <a:t>78.2 kB</a:t>
            </a:r>
          </a:p>
        </p:txBody>
      </p:sp>
      <p:sp>
        <p:nvSpPr>
          <p:cNvPr id="42" name="TextBox 41"/>
          <p:cNvSpPr txBox="1"/>
          <p:nvPr/>
        </p:nvSpPr>
        <p:spPr>
          <a:xfrm>
            <a:off x="3328416" y="3273552"/>
            <a:ext cx="777240" cy="201168"/>
          </a:xfrm>
          <a:prstGeom prst="rect">
            <a:avLst/>
          </a:prstGeom>
          <a:noFill/>
        </p:spPr>
        <p:txBody>
          <a:bodyPr wrap="square" anchor="ctr">
            <a:spAutoFit/>
          </a:bodyPr>
          <a:lstStyle/>
          <a:p>
            <a:pPr algn="ctr"/>
            <a:r>
              <a:rPr sz="670" b="0">
                <a:solidFill>
                  <a:srgbClr val="051C4E"/>
                </a:solidFill>
                <a:latin typeface="Aptos"/>
              </a:rPr>
              <a:t>drs://drs.anv0:...4c14</a:t>
            </a:r>
          </a:p>
        </p:txBody>
      </p:sp>
      <p:cxnSp>
        <p:nvCxnSpPr>
          <p:cNvPr id="43" name="Connector 42"/>
          <p:cNvCxnSpPr/>
          <p:nvPr/>
        </p:nvCxnSpPr>
        <p:spPr>
          <a:xfrm>
            <a:off x="502920" y="3502152"/>
            <a:ext cx="3657600" cy="0"/>
          </a:xfrm>
          <a:prstGeom prst="line">
            <a:avLst/>
          </a:prstGeom>
          <a:ln w="7620">
            <a:solidFill>
              <a:srgbClr val="E6EBF0"/>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493776" y="3621024"/>
            <a:ext cx="201168" cy="201168"/>
          </a:xfrm>
          <a:prstGeom prst="roundRect">
            <a:avLst/>
          </a:prstGeom>
          <a:solidFill>
            <a:srgbClr val="0054BE"/>
          </a:solidFill>
          <a:ln w="12700">
            <a:solidFill>
              <a:srgbClr val="005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93776" y="3621024"/>
            <a:ext cx="201168" cy="201168"/>
          </a:xfrm>
          <a:prstGeom prst="rect">
            <a:avLst/>
          </a:prstGeom>
          <a:noFill/>
        </p:spPr>
        <p:txBody>
          <a:bodyPr wrap="square" anchor="ctr">
            <a:spAutoFit/>
          </a:bodyPr>
          <a:lstStyle/>
          <a:p>
            <a:pPr algn="ctr"/>
            <a:r>
              <a:rPr sz="650" b="1">
                <a:solidFill>
                  <a:srgbClr val="FFFFFF"/>
                </a:solidFill>
                <a:latin typeface="Aptos"/>
              </a:rPr>
              <a:t>A</a:t>
            </a:r>
          </a:p>
        </p:txBody>
      </p:sp>
      <p:sp>
        <p:nvSpPr>
          <p:cNvPr id="46" name="TextBox 45"/>
          <p:cNvSpPr txBox="1"/>
          <p:nvPr/>
        </p:nvSpPr>
        <p:spPr>
          <a:xfrm>
            <a:off x="640080" y="3621024"/>
            <a:ext cx="1417320" cy="201168"/>
          </a:xfrm>
          <a:prstGeom prst="rect">
            <a:avLst/>
          </a:prstGeom>
          <a:noFill/>
        </p:spPr>
        <p:txBody>
          <a:bodyPr wrap="square" anchor="ctr">
            <a:spAutoFit/>
          </a:bodyPr>
          <a:lstStyle/>
          <a:p>
            <a:pPr algn="l"/>
            <a:r>
              <a:rPr sz="670" b="0">
                <a:solidFill>
                  <a:srgbClr val="051C4E"/>
                </a:solidFill>
                <a:latin typeface="Aptos"/>
              </a:rPr>
              <a:t>sample_info.tsv</a:t>
            </a:r>
          </a:p>
        </p:txBody>
      </p:sp>
      <p:sp>
        <p:nvSpPr>
          <p:cNvPr id="47" name="TextBox 46"/>
          <p:cNvSpPr txBox="1"/>
          <p:nvPr/>
        </p:nvSpPr>
        <p:spPr>
          <a:xfrm>
            <a:off x="2148840" y="3621024"/>
            <a:ext cx="640080" cy="201168"/>
          </a:xfrm>
          <a:prstGeom prst="rect">
            <a:avLst/>
          </a:prstGeom>
          <a:noFill/>
        </p:spPr>
        <p:txBody>
          <a:bodyPr wrap="square" anchor="ctr">
            <a:spAutoFit/>
          </a:bodyPr>
          <a:lstStyle/>
          <a:p>
            <a:pPr algn="ctr"/>
            <a:r>
              <a:rPr sz="670" b="0">
                <a:solidFill>
                  <a:srgbClr val="051C4E"/>
                </a:solidFill>
                <a:latin typeface="Aptos"/>
              </a:rPr>
              <a:t>tsv</a:t>
            </a:r>
          </a:p>
        </p:txBody>
      </p:sp>
      <p:sp>
        <p:nvSpPr>
          <p:cNvPr id="48" name="TextBox 47"/>
          <p:cNvSpPr txBox="1"/>
          <p:nvPr/>
        </p:nvSpPr>
        <p:spPr>
          <a:xfrm>
            <a:off x="2816352" y="3621024"/>
            <a:ext cx="502920" cy="201168"/>
          </a:xfrm>
          <a:prstGeom prst="rect">
            <a:avLst/>
          </a:prstGeom>
          <a:noFill/>
        </p:spPr>
        <p:txBody>
          <a:bodyPr wrap="square" anchor="ctr">
            <a:spAutoFit/>
          </a:bodyPr>
          <a:lstStyle/>
          <a:p>
            <a:pPr algn="ctr"/>
            <a:r>
              <a:rPr sz="670" b="0">
                <a:solidFill>
                  <a:srgbClr val="051C4E"/>
                </a:solidFill>
                <a:latin typeface="Aptos"/>
              </a:rPr>
              <a:t>75.0 kB</a:t>
            </a:r>
          </a:p>
        </p:txBody>
      </p:sp>
      <p:sp>
        <p:nvSpPr>
          <p:cNvPr id="49" name="TextBox 48"/>
          <p:cNvSpPr txBox="1"/>
          <p:nvPr/>
        </p:nvSpPr>
        <p:spPr>
          <a:xfrm>
            <a:off x="3328416" y="3621024"/>
            <a:ext cx="777240" cy="201168"/>
          </a:xfrm>
          <a:prstGeom prst="rect">
            <a:avLst/>
          </a:prstGeom>
          <a:noFill/>
        </p:spPr>
        <p:txBody>
          <a:bodyPr wrap="square" anchor="ctr">
            <a:spAutoFit/>
          </a:bodyPr>
          <a:lstStyle/>
          <a:p>
            <a:pPr algn="ctr"/>
            <a:r>
              <a:rPr sz="670" b="0">
                <a:solidFill>
                  <a:srgbClr val="051C4E"/>
                </a:solidFill>
                <a:latin typeface="Aptos"/>
              </a:rPr>
              <a:t>drs://drs.anv0:...ed8f5</a:t>
            </a:r>
          </a:p>
        </p:txBody>
      </p:sp>
      <p:cxnSp>
        <p:nvCxnSpPr>
          <p:cNvPr id="50" name="Connector 49"/>
          <p:cNvCxnSpPr/>
          <p:nvPr/>
        </p:nvCxnSpPr>
        <p:spPr>
          <a:xfrm>
            <a:off x="502920" y="3849624"/>
            <a:ext cx="3657600" cy="0"/>
          </a:xfrm>
          <a:prstGeom prst="line">
            <a:avLst/>
          </a:prstGeom>
          <a:ln w="7620">
            <a:solidFill>
              <a:srgbClr val="E6EBF0"/>
            </a:solidFill>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493776" y="3968496"/>
            <a:ext cx="201168" cy="201168"/>
          </a:xfrm>
          <a:prstGeom prst="roundRect">
            <a:avLst/>
          </a:prstGeom>
          <a:solidFill>
            <a:srgbClr val="0054BE"/>
          </a:solidFill>
          <a:ln w="12700">
            <a:solidFill>
              <a:srgbClr val="005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93776" y="3968496"/>
            <a:ext cx="201168" cy="201168"/>
          </a:xfrm>
          <a:prstGeom prst="rect">
            <a:avLst/>
          </a:prstGeom>
          <a:noFill/>
        </p:spPr>
        <p:txBody>
          <a:bodyPr wrap="square" anchor="ctr">
            <a:spAutoFit/>
          </a:bodyPr>
          <a:lstStyle/>
          <a:p>
            <a:pPr algn="ctr"/>
            <a:r>
              <a:rPr sz="650" b="1">
                <a:solidFill>
                  <a:srgbClr val="FFFFFF"/>
                </a:solidFill>
                <a:latin typeface="Aptos"/>
              </a:rPr>
              <a:t>A</a:t>
            </a:r>
          </a:p>
        </p:txBody>
      </p:sp>
      <p:sp>
        <p:nvSpPr>
          <p:cNvPr id="53" name="TextBox 52"/>
          <p:cNvSpPr txBox="1"/>
          <p:nvPr/>
        </p:nvSpPr>
        <p:spPr>
          <a:xfrm>
            <a:off x="640080" y="3968496"/>
            <a:ext cx="1417320" cy="201168"/>
          </a:xfrm>
          <a:prstGeom prst="rect">
            <a:avLst/>
          </a:prstGeom>
          <a:noFill/>
        </p:spPr>
        <p:txBody>
          <a:bodyPr wrap="square" anchor="ctr">
            <a:spAutoFit/>
          </a:bodyPr>
          <a:lstStyle/>
          <a:p>
            <a:pPr algn="l"/>
            <a:r>
              <a:rPr sz="670" b="0">
                <a:solidFill>
                  <a:srgbClr val="051C4E"/>
                </a:solidFill>
                <a:latin typeface="Aptos"/>
              </a:rPr>
              <a:t>sample_qc.tsv</a:t>
            </a:r>
          </a:p>
        </p:txBody>
      </p:sp>
      <p:sp>
        <p:nvSpPr>
          <p:cNvPr id="54" name="TextBox 53"/>
          <p:cNvSpPr txBox="1"/>
          <p:nvPr/>
        </p:nvSpPr>
        <p:spPr>
          <a:xfrm>
            <a:off x="2148840" y="3968496"/>
            <a:ext cx="640080" cy="201168"/>
          </a:xfrm>
          <a:prstGeom prst="rect">
            <a:avLst/>
          </a:prstGeom>
          <a:noFill/>
        </p:spPr>
        <p:txBody>
          <a:bodyPr wrap="square" anchor="ctr">
            <a:spAutoFit/>
          </a:bodyPr>
          <a:lstStyle/>
          <a:p>
            <a:pPr algn="ctr"/>
            <a:r>
              <a:rPr sz="670" b="0">
                <a:solidFill>
                  <a:srgbClr val="051C4E"/>
                </a:solidFill>
                <a:latin typeface="Aptos"/>
              </a:rPr>
              <a:t>tsv</a:t>
            </a:r>
          </a:p>
        </p:txBody>
      </p:sp>
      <p:sp>
        <p:nvSpPr>
          <p:cNvPr id="55" name="TextBox 54"/>
          <p:cNvSpPr txBox="1"/>
          <p:nvPr/>
        </p:nvSpPr>
        <p:spPr>
          <a:xfrm>
            <a:off x="2816352" y="3968496"/>
            <a:ext cx="502920" cy="201168"/>
          </a:xfrm>
          <a:prstGeom prst="rect">
            <a:avLst/>
          </a:prstGeom>
          <a:noFill/>
        </p:spPr>
        <p:txBody>
          <a:bodyPr wrap="square" anchor="ctr">
            <a:spAutoFit/>
          </a:bodyPr>
          <a:lstStyle/>
          <a:p>
            <a:pPr algn="ctr"/>
            <a:r>
              <a:rPr sz="670" b="0">
                <a:solidFill>
                  <a:srgbClr val="051C4E"/>
                </a:solidFill>
                <a:latin typeface="Aptos"/>
              </a:rPr>
              <a:t>428.5 kB</a:t>
            </a:r>
          </a:p>
        </p:txBody>
      </p:sp>
      <p:sp>
        <p:nvSpPr>
          <p:cNvPr id="56" name="TextBox 55"/>
          <p:cNvSpPr txBox="1"/>
          <p:nvPr/>
        </p:nvSpPr>
        <p:spPr>
          <a:xfrm>
            <a:off x="3328416" y="3968496"/>
            <a:ext cx="777240" cy="201168"/>
          </a:xfrm>
          <a:prstGeom prst="rect">
            <a:avLst/>
          </a:prstGeom>
          <a:noFill/>
        </p:spPr>
        <p:txBody>
          <a:bodyPr wrap="square" anchor="ctr">
            <a:spAutoFit/>
          </a:bodyPr>
          <a:lstStyle/>
          <a:p>
            <a:pPr algn="ctr"/>
            <a:r>
              <a:rPr sz="670" b="0">
                <a:solidFill>
                  <a:srgbClr val="051C4E"/>
                </a:solidFill>
                <a:latin typeface="Aptos"/>
              </a:rPr>
              <a:t>drs://drs.anv0:...d6d7c</a:t>
            </a:r>
          </a:p>
        </p:txBody>
      </p:sp>
      <p:cxnSp>
        <p:nvCxnSpPr>
          <p:cNvPr id="57" name="Connector 56"/>
          <p:cNvCxnSpPr/>
          <p:nvPr/>
        </p:nvCxnSpPr>
        <p:spPr>
          <a:xfrm>
            <a:off x="502920" y="4197096"/>
            <a:ext cx="3657600" cy="0"/>
          </a:xfrm>
          <a:prstGeom prst="line">
            <a:avLst/>
          </a:prstGeom>
          <a:ln w="7620">
            <a:solidFill>
              <a:srgbClr val="E6EBF0"/>
            </a:solidFill>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493776" y="4315968"/>
            <a:ext cx="201168" cy="201168"/>
          </a:xfrm>
          <a:prstGeom prst="roundRect">
            <a:avLst/>
          </a:prstGeom>
          <a:solidFill>
            <a:srgbClr val="0054BE"/>
          </a:solidFill>
          <a:ln w="12700">
            <a:solidFill>
              <a:srgbClr val="005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93776" y="4315968"/>
            <a:ext cx="201168" cy="201168"/>
          </a:xfrm>
          <a:prstGeom prst="rect">
            <a:avLst/>
          </a:prstGeom>
          <a:noFill/>
        </p:spPr>
        <p:txBody>
          <a:bodyPr wrap="square" anchor="ctr">
            <a:spAutoFit/>
          </a:bodyPr>
          <a:lstStyle/>
          <a:p>
            <a:pPr algn="ctr"/>
            <a:r>
              <a:rPr sz="650" b="1">
                <a:solidFill>
                  <a:srgbClr val="FFFFFF"/>
                </a:solidFill>
                <a:latin typeface="Aptos"/>
              </a:rPr>
              <a:t>A</a:t>
            </a:r>
          </a:p>
        </p:txBody>
      </p:sp>
      <p:sp>
        <p:nvSpPr>
          <p:cNvPr id="60" name="TextBox 59"/>
          <p:cNvSpPr txBox="1"/>
          <p:nvPr/>
        </p:nvSpPr>
        <p:spPr>
          <a:xfrm>
            <a:off x="640080" y="4315968"/>
            <a:ext cx="1417320" cy="201168"/>
          </a:xfrm>
          <a:prstGeom prst="rect">
            <a:avLst/>
          </a:prstGeom>
          <a:noFill/>
        </p:spPr>
        <p:txBody>
          <a:bodyPr wrap="square" anchor="ctr">
            <a:spAutoFit/>
          </a:bodyPr>
          <a:lstStyle/>
          <a:p>
            <a:pPr algn="l"/>
            <a:r>
              <a:rPr sz="670" b="0">
                <a:solidFill>
                  <a:srgbClr val="051C4E"/>
                </a:solidFill>
                <a:latin typeface="Aptos"/>
              </a:rPr>
              <a:t>sequencing_metrics.tsv</a:t>
            </a:r>
          </a:p>
        </p:txBody>
      </p:sp>
      <p:sp>
        <p:nvSpPr>
          <p:cNvPr id="61" name="TextBox 60"/>
          <p:cNvSpPr txBox="1"/>
          <p:nvPr/>
        </p:nvSpPr>
        <p:spPr>
          <a:xfrm>
            <a:off x="2148840" y="4315968"/>
            <a:ext cx="640080" cy="201168"/>
          </a:xfrm>
          <a:prstGeom prst="rect">
            <a:avLst/>
          </a:prstGeom>
          <a:noFill/>
        </p:spPr>
        <p:txBody>
          <a:bodyPr wrap="square" anchor="ctr">
            <a:spAutoFit/>
          </a:bodyPr>
          <a:lstStyle/>
          <a:p>
            <a:pPr algn="ctr"/>
            <a:r>
              <a:rPr sz="670" b="0">
                <a:solidFill>
                  <a:srgbClr val="051C4E"/>
                </a:solidFill>
                <a:latin typeface="Aptos"/>
              </a:rPr>
              <a:t>tsv</a:t>
            </a:r>
          </a:p>
        </p:txBody>
      </p:sp>
      <p:sp>
        <p:nvSpPr>
          <p:cNvPr id="62" name="TextBox 61"/>
          <p:cNvSpPr txBox="1"/>
          <p:nvPr/>
        </p:nvSpPr>
        <p:spPr>
          <a:xfrm>
            <a:off x="2816352" y="4315968"/>
            <a:ext cx="502920" cy="201168"/>
          </a:xfrm>
          <a:prstGeom prst="rect">
            <a:avLst/>
          </a:prstGeom>
          <a:noFill/>
        </p:spPr>
        <p:txBody>
          <a:bodyPr wrap="square" anchor="ctr">
            <a:spAutoFit/>
          </a:bodyPr>
          <a:lstStyle/>
          <a:p>
            <a:pPr algn="ctr"/>
            <a:r>
              <a:rPr sz="670" b="0">
                <a:solidFill>
                  <a:srgbClr val="051C4E"/>
                </a:solidFill>
                <a:latin typeface="Aptos"/>
              </a:rPr>
              <a:t>0.24 kB</a:t>
            </a:r>
          </a:p>
        </p:txBody>
      </p:sp>
      <p:sp>
        <p:nvSpPr>
          <p:cNvPr id="63" name="TextBox 62"/>
          <p:cNvSpPr txBox="1"/>
          <p:nvPr/>
        </p:nvSpPr>
        <p:spPr>
          <a:xfrm>
            <a:off x="3328416" y="4315968"/>
            <a:ext cx="777240" cy="201168"/>
          </a:xfrm>
          <a:prstGeom prst="rect">
            <a:avLst/>
          </a:prstGeom>
          <a:noFill/>
        </p:spPr>
        <p:txBody>
          <a:bodyPr wrap="square" anchor="ctr">
            <a:spAutoFit/>
          </a:bodyPr>
          <a:lstStyle/>
          <a:p>
            <a:pPr algn="ctr"/>
            <a:r>
              <a:rPr sz="670" b="0">
                <a:solidFill>
                  <a:srgbClr val="051C4E"/>
                </a:solidFill>
                <a:latin typeface="Aptos"/>
              </a:rPr>
              <a:t>drs://drs.anv0:...9a0ca</a:t>
            </a:r>
          </a:p>
        </p:txBody>
      </p:sp>
      <p:cxnSp>
        <p:nvCxnSpPr>
          <p:cNvPr id="64" name="Connector 63"/>
          <p:cNvCxnSpPr/>
          <p:nvPr/>
        </p:nvCxnSpPr>
        <p:spPr>
          <a:xfrm>
            <a:off x="502920" y="4544568"/>
            <a:ext cx="3657600" cy="0"/>
          </a:xfrm>
          <a:prstGeom prst="line">
            <a:avLst/>
          </a:prstGeom>
          <a:ln w="7620">
            <a:solidFill>
              <a:srgbClr val="E6EBF0"/>
            </a:solidFill>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493776" y="4663440"/>
            <a:ext cx="201168" cy="201168"/>
          </a:xfrm>
          <a:prstGeom prst="roundRect">
            <a:avLst/>
          </a:prstGeom>
          <a:solidFill>
            <a:srgbClr val="0054BE"/>
          </a:solidFill>
          <a:ln w="12700">
            <a:solidFill>
              <a:srgbClr val="005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93776" y="4663440"/>
            <a:ext cx="201168" cy="201168"/>
          </a:xfrm>
          <a:prstGeom prst="rect">
            <a:avLst/>
          </a:prstGeom>
          <a:noFill/>
        </p:spPr>
        <p:txBody>
          <a:bodyPr wrap="square" anchor="ctr">
            <a:spAutoFit/>
          </a:bodyPr>
          <a:lstStyle/>
          <a:p>
            <a:pPr algn="ctr"/>
            <a:r>
              <a:rPr sz="650" b="1">
                <a:solidFill>
                  <a:srgbClr val="FFFFFF"/>
                </a:solidFill>
                <a:latin typeface="Aptos"/>
              </a:rPr>
              <a:t>A</a:t>
            </a:r>
          </a:p>
        </p:txBody>
      </p:sp>
      <p:sp>
        <p:nvSpPr>
          <p:cNvPr id="67" name="TextBox 66"/>
          <p:cNvSpPr txBox="1"/>
          <p:nvPr/>
        </p:nvSpPr>
        <p:spPr>
          <a:xfrm>
            <a:off x="640080" y="4663440"/>
            <a:ext cx="1417320" cy="201168"/>
          </a:xfrm>
          <a:prstGeom prst="rect">
            <a:avLst/>
          </a:prstGeom>
          <a:noFill/>
        </p:spPr>
        <p:txBody>
          <a:bodyPr wrap="square" anchor="ctr">
            <a:spAutoFit/>
          </a:bodyPr>
          <a:lstStyle/>
          <a:p>
            <a:pPr algn="l"/>
            <a:r>
              <a:rPr sz="670" b="0">
                <a:solidFill>
                  <a:srgbClr val="051C4E"/>
                </a:solidFill>
                <a:latin typeface="Aptos"/>
              </a:rPr>
              <a:t>sequencing_filter.tsv</a:t>
            </a:r>
          </a:p>
        </p:txBody>
      </p:sp>
      <p:sp>
        <p:nvSpPr>
          <p:cNvPr id="68" name="TextBox 67"/>
          <p:cNvSpPr txBox="1"/>
          <p:nvPr/>
        </p:nvSpPr>
        <p:spPr>
          <a:xfrm>
            <a:off x="2148840" y="4663440"/>
            <a:ext cx="640080" cy="201168"/>
          </a:xfrm>
          <a:prstGeom prst="rect">
            <a:avLst/>
          </a:prstGeom>
          <a:noFill/>
        </p:spPr>
        <p:txBody>
          <a:bodyPr wrap="square" anchor="ctr">
            <a:spAutoFit/>
          </a:bodyPr>
          <a:lstStyle/>
          <a:p>
            <a:pPr algn="ctr"/>
            <a:r>
              <a:rPr sz="670" b="0">
                <a:solidFill>
                  <a:srgbClr val="051C4E"/>
                </a:solidFill>
                <a:latin typeface="Aptos"/>
              </a:rPr>
              <a:t>tsv</a:t>
            </a:r>
          </a:p>
        </p:txBody>
      </p:sp>
      <p:sp>
        <p:nvSpPr>
          <p:cNvPr id="69" name="TextBox 68"/>
          <p:cNvSpPr txBox="1"/>
          <p:nvPr/>
        </p:nvSpPr>
        <p:spPr>
          <a:xfrm>
            <a:off x="2816352" y="4663440"/>
            <a:ext cx="502920" cy="201168"/>
          </a:xfrm>
          <a:prstGeom prst="rect">
            <a:avLst/>
          </a:prstGeom>
          <a:noFill/>
        </p:spPr>
        <p:txBody>
          <a:bodyPr wrap="square" anchor="ctr">
            <a:spAutoFit/>
          </a:bodyPr>
          <a:lstStyle/>
          <a:p>
            <a:pPr algn="ctr"/>
            <a:r>
              <a:rPr sz="670" b="0">
                <a:solidFill>
                  <a:srgbClr val="051C4E"/>
                </a:solidFill>
                <a:latin typeface="Aptos"/>
              </a:rPr>
              <a:t>1.32 MB</a:t>
            </a:r>
          </a:p>
        </p:txBody>
      </p:sp>
      <p:sp>
        <p:nvSpPr>
          <p:cNvPr id="70" name="TextBox 69"/>
          <p:cNvSpPr txBox="1"/>
          <p:nvPr/>
        </p:nvSpPr>
        <p:spPr>
          <a:xfrm>
            <a:off x="3328416" y="4663440"/>
            <a:ext cx="777240" cy="201168"/>
          </a:xfrm>
          <a:prstGeom prst="rect">
            <a:avLst/>
          </a:prstGeom>
          <a:noFill/>
        </p:spPr>
        <p:txBody>
          <a:bodyPr wrap="square" anchor="ctr">
            <a:spAutoFit/>
          </a:bodyPr>
          <a:lstStyle/>
          <a:p>
            <a:pPr algn="ctr"/>
            <a:r>
              <a:rPr sz="670" b="0">
                <a:solidFill>
                  <a:srgbClr val="051C4E"/>
                </a:solidFill>
                <a:latin typeface="Aptos"/>
              </a:rPr>
              <a:t>drs://drs.anv0:...0098e</a:t>
            </a:r>
          </a:p>
        </p:txBody>
      </p:sp>
      <p:cxnSp>
        <p:nvCxnSpPr>
          <p:cNvPr id="71" name="Connector 70"/>
          <p:cNvCxnSpPr/>
          <p:nvPr/>
        </p:nvCxnSpPr>
        <p:spPr>
          <a:xfrm>
            <a:off x="502920" y="4892040"/>
            <a:ext cx="3657600" cy="0"/>
          </a:xfrm>
          <a:prstGeom prst="line">
            <a:avLst/>
          </a:prstGeom>
          <a:ln w="7620">
            <a:solidFill>
              <a:srgbClr val="E6EBF0"/>
            </a:solidFill>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493776" y="5010912"/>
            <a:ext cx="201168" cy="201168"/>
          </a:xfrm>
          <a:prstGeom prst="roundRect">
            <a:avLst/>
          </a:prstGeom>
          <a:solidFill>
            <a:srgbClr val="0054BE"/>
          </a:solidFill>
          <a:ln w="12700">
            <a:solidFill>
              <a:srgbClr val="005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493776" y="5010912"/>
            <a:ext cx="201168" cy="201168"/>
          </a:xfrm>
          <a:prstGeom prst="rect">
            <a:avLst/>
          </a:prstGeom>
          <a:noFill/>
        </p:spPr>
        <p:txBody>
          <a:bodyPr wrap="square" anchor="ctr">
            <a:spAutoFit/>
          </a:bodyPr>
          <a:lstStyle/>
          <a:p>
            <a:pPr algn="ctr"/>
            <a:r>
              <a:rPr sz="650" b="1">
                <a:solidFill>
                  <a:srgbClr val="FFFFFF"/>
                </a:solidFill>
                <a:latin typeface="Aptos"/>
              </a:rPr>
              <a:t>A</a:t>
            </a:r>
          </a:p>
        </p:txBody>
      </p:sp>
      <p:sp>
        <p:nvSpPr>
          <p:cNvPr id="74" name="TextBox 73"/>
          <p:cNvSpPr txBox="1"/>
          <p:nvPr/>
        </p:nvSpPr>
        <p:spPr>
          <a:xfrm>
            <a:off x="640080" y="5010912"/>
            <a:ext cx="1417320" cy="201168"/>
          </a:xfrm>
          <a:prstGeom prst="rect">
            <a:avLst/>
          </a:prstGeom>
          <a:noFill/>
        </p:spPr>
        <p:txBody>
          <a:bodyPr wrap="square" anchor="ctr">
            <a:spAutoFit/>
          </a:bodyPr>
          <a:lstStyle/>
          <a:p>
            <a:pPr algn="l"/>
            <a:r>
              <a:rPr sz="670" b="0">
                <a:solidFill>
                  <a:srgbClr val="051C4E"/>
                </a:solidFill>
                <a:latin typeface="Aptos"/>
              </a:rPr>
              <a:t>subject.json</a:t>
            </a:r>
          </a:p>
        </p:txBody>
      </p:sp>
      <p:sp>
        <p:nvSpPr>
          <p:cNvPr id="75" name="TextBox 74"/>
          <p:cNvSpPr txBox="1"/>
          <p:nvPr/>
        </p:nvSpPr>
        <p:spPr>
          <a:xfrm>
            <a:off x="2148840" y="5010912"/>
            <a:ext cx="640080" cy="201168"/>
          </a:xfrm>
          <a:prstGeom prst="rect">
            <a:avLst/>
          </a:prstGeom>
          <a:noFill/>
        </p:spPr>
        <p:txBody>
          <a:bodyPr wrap="square" anchor="ctr">
            <a:spAutoFit/>
          </a:bodyPr>
          <a:lstStyle/>
          <a:p>
            <a:pPr algn="ctr"/>
            <a:r>
              <a:rPr sz="670" b="0">
                <a:solidFill>
                  <a:srgbClr val="051C4E"/>
                </a:solidFill>
                <a:latin typeface="Aptos"/>
              </a:rPr>
              <a:t>json</a:t>
            </a:r>
          </a:p>
        </p:txBody>
      </p:sp>
      <p:sp>
        <p:nvSpPr>
          <p:cNvPr id="76" name="TextBox 75"/>
          <p:cNvSpPr txBox="1"/>
          <p:nvPr/>
        </p:nvSpPr>
        <p:spPr>
          <a:xfrm>
            <a:off x="2816352" y="5010912"/>
            <a:ext cx="502920" cy="201168"/>
          </a:xfrm>
          <a:prstGeom prst="rect">
            <a:avLst/>
          </a:prstGeom>
          <a:noFill/>
        </p:spPr>
        <p:txBody>
          <a:bodyPr wrap="square" anchor="ctr">
            <a:spAutoFit/>
          </a:bodyPr>
          <a:lstStyle/>
          <a:p>
            <a:pPr algn="ctr"/>
            <a:r>
              <a:rPr sz="670" b="0">
                <a:solidFill>
                  <a:srgbClr val="051C4E"/>
                </a:solidFill>
                <a:latin typeface="Aptos"/>
              </a:rPr>
              <a:t>78.2 kB</a:t>
            </a:r>
          </a:p>
        </p:txBody>
      </p:sp>
      <p:sp>
        <p:nvSpPr>
          <p:cNvPr id="77" name="TextBox 76"/>
          <p:cNvSpPr txBox="1"/>
          <p:nvPr/>
        </p:nvSpPr>
        <p:spPr>
          <a:xfrm>
            <a:off x="3328416" y="5010912"/>
            <a:ext cx="777240" cy="201168"/>
          </a:xfrm>
          <a:prstGeom prst="rect">
            <a:avLst/>
          </a:prstGeom>
          <a:noFill/>
        </p:spPr>
        <p:txBody>
          <a:bodyPr wrap="square" anchor="ctr">
            <a:spAutoFit/>
          </a:bodyPr>
          <a:lstStyle/>
          <a:p>
            <a:pPr algn="ctr"/>
            <a:r>
              <a:rPr sz="670" b="0">
                <a:solidFill>
                  <a:srgbClr val="051C4E"/>
                </a:solidFill>
                <a:latin typeface="Aptos"/>
              </a:rPr>
              <a:t>drs://drs.anv0:...d2b9c</a:t>
            </a:r>
          </a:p>
        </p:txBody>
      </p:sp>
      <p:sp>
        <p:nvSpPr>
          <p:cNvPr id="78" name="Rounded Rectangle 77"/>
          <p:cNvSpPr/>
          <p:nvPr/>
        </p:nvSpPr>
        <p:spPr>
          <a:xfrm>
            <a:off x="4498848" y="1993392"/>
            <a:ext cx="3675887" cy="3383280"/>
          </a:xfrm>
          <a:prstGeom prst="roundRect">
            <a:avLst/>
          </a:prstGeom>
          <a:solidFill>
            <a:srgbClr val="F5FBF7"/>
          </a:solidFill>
          <a:ln w="12700">
            <a:solidFill>
              <a:srgbClr val="AAD5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4681728" y="2167128"/>
            <a:ext cx="3310128" cy="201168"/>
          </a:xfrm>
          <a:prstGeom prst="rect">
            <a:avLst/>
          </a:prstGeom>
          <a:noFill/>
        </p:spPr>
        <p:txBody>
          <a:bodyPr wrap="square" anchor="ctr">
            <a:spAutoFit/>
          </a:bodyPr>
          <a:lstStyle/>
          <a:p>
            <a:pPr algn="l"/>
            <a:r>
              <a:rPr sz="919" b="1">
                <a:solidFill>
                  <a:srgbClr val="14823A"/>
                </a:solidFill>
                <a:latin typeface="Aptos Mono"/>
              </a:rPr>
              <a:t># Add selected objects</a:t>
            </a:r>
          </a:p>
        </p:txBody>
      </p:sp>
      <p:sp>
        <p:nvSpPr>
          <p:cNvPr id="80" name="TextBox 79"/>
          <p:cNvSpPr txBox="1"/>
          <p:nvPr/>
        </p:nvSpPr>
        <p:spPr>
          <a:xfrm>
            <a:off x="4681728" y="2382012"/>
            <a:ext cx="3310128" cy="201168"/>
          </a:xfrm>
          <a:prstGeom prst="rect">
            <a:avLst/>
          </a:prstGeom>
          <a:noFill/>
        </p:spPr>
        <p:txBody>
          <a:bodyPr wrap="square" anchor="ctr">
            <a:spAutoFit/>
          </a:bodyPr>
          <a:lstStyle/>
          <a:p>
            <a:pPr algn="l"/>
            <a:r>
              <a:rPr sz="919" b="0">
                <a:solidFill>
                  <a:srgbClr val="192637"/>
                </a:solidFill>
                <a:latin typeface="Aptos Mono"/>
              </a:rPr>
              <a:t>git drs add-ref \</a:t>
            </a:r>
          </a:p>
        </p:txBody>
      </p:sp>
      <p:sp>
        <p:nvSpPr>
          <p:cNvPr id="81" name="TextBox 80"/>
          <p:cNvSpPr txBox="1"/>
          <p:nvPr/>
        </p:nvSpPr>
        <p:spPr>
          <a:xfrm>
            <a:off x="4681728" y="2596896"/>
            <a:ext cx="3310128" cy="201168"/>
          </a:xfrm>
          <a:prstGeom prst="rect">
            <a:avLst/>
          </a:prstGeom>
          <a:noFill/>
        </p:spPr>
        <p:txBody>
          <a:bodyPr wrap="square" anchor="ctr">
            <a:spAutoFit/>
          </a:bodyPr>
          <a:lstStyle/>
          <a:p>
            <a:pPr algn="l"/>
            <a:r>
              <a:rPr sz="919" b="0">
                <a:solidFill>
                  <a:srgbClr val="192637"/>
                </a:solidFill>
                <a:latin typeface="Aptos Mono"/>
              </a:rPr>
              <a:t>  drs://drs.anv0:v2_6d1cf5f0-</a:t>
            </a:r>
          </a:p>
        </p:txBody>
      </p:sp>
      <p:sp>
        <p:nvSpPr>
          <p:cNvPr id="82" name="TextBox 81"/>
          <p:cNvSpPr txBox="1"/>
          <p:nvPr/>
        </p:nvSpPr>
        <p:spPr>
          <a:xfrm>
            <a:off x="4681728" y="2811779"/>
            <a:ext cx="3310128" cy="201168"/>
          </a:xfrm>
          <a:prstGeom prst="rect">
            <a:avLst/>
          </a:prstGeom>
          <a:noFill/>
        </p:spPr>
        <p:txBody>
          <a:bodyPr wrap="square" anchor="ctr">
            <a:spAutoFit/>
          </a:bodyPr>
          <a:lstStyle/>
          <a:p>
            <a:pPr algn="l"/>
            <a:r>
              <a:rPr sz="919" b="0">
                <a:solidFill>
                  <a:srgbClr val="192637"/>
                </a:solidFill>
                <a:latin typeface="Aptos Mono"/>
              </a:rPr>
              <a:t>  99a8-3cd9-b580-01102f3abfe7 \</a:t>
            </a:r>
          </a:p>
        </p:txBody>
      </p:sp>
      <p:sp>
        <p:nvSpPr>
          <p:cNvPr id="83" name="TextBox 82"/>
          <p:cNvSpPr txBox="1"/>
          <p:nvPr/>
        </p:nvSpPr>
        <p:spPr>
          <a:xfrm>
            <a:off x="4681728" y="3026663"/>
            <a:ext cx="3310128" cy="201168"/>
          </a:xfrm>
          <a:prstGeom prst="rect">
            <a:avLst/>
          </a:prstGeom>
          <a:noFill/>
        </p:spPr>
        <p:txBody>
          <a:bodyPr wrap="square" anchor="ctr">
            <a:spAutoFit/>
          </a:bodyPr>
          <a:lstStyle/>
          <a:p>
            <a:pPr algn="l"/>
            <a:r>
              <a:rPr sz="919" b="1">
                <a:solidFill>
                  <a:srgbClr val="14823A"/>
                </a:solidFill>
                <a:latin typeface="Aptos Mono"/>
              </a:rPr>
              <a:t>  sequencing_dataset.tsv</a:t>
            </a:r>
          </a:p>
        </p:txBody>
      </p:sp>
      <p:sp>
        <p:nvSpPr>
          <p:cNvPr id="84" name="TextBox 83"/>
          <p:cNvSpPr txBox="1"/>
          <p:nvPr/>
        </p:nvSpPr>
        <p:spPr>
          <a:xfrm>
            <a:off x="4681728" y="3241547"/>
            <a:ext cx="3310128" cy="201168"/>
          </a:xfrm>
          <a:prstGeom prst="rect">
            <a:avLst/>
          </a:prstGeom>
          <a:noFill/>
        </p:spPr>
        <p:txBody>
          <a:bodyPr wrap="square" anchor="ctr">
            <a:spAutoFit/>
          </a:bodyPr>
          <a:lstStyle/>
          <a:p>
            <a:pPr algn="l"/>
            <a:endParaRPr/>
          </a:p>
        </p:txBody>
      </p:sp>
      <p:sp>
        <p:nvSpPr>
          <p:cNvPr id="85" name="TextBox 84"/>
          <p:cNvSpPr txBox="1"/>
          <p:nvPr/>
        </p:nvSpPr>
        <p:spPr>
          <a:xfrm>
            <a:off x="4681728" y="3456431"/>
            <a:ext cx="3310128" cy="201168"/>
          </a:xfrm>
          <a:prstGeom prst="rect">
            <a:avLst/>
          </a:prstGeom>
          <a:noFill/>
        </p:spPr>
        <p:txBody>
          <a:bodyPr wrap="square" anchor="ctr">
            <a:spAutoFit/>
          </a:bodyPr>
          <a:lstStyle/>
          <a:p>
            <a:pPr algn="l"/>
            <a:r>
              <a:rPr sz="919" b="0">
                <a:solidFill>
                  <a:srgbClr val="192637"/>
                </a:solidFill>
                <a:latin typeface="Aptos Mono"/>
              </a:rPr>
              <a:t>git drs add-ref \</a:t>
            </a:r>
          </a:p>
        </p:txBody>
      </p:sp>
      <p:sp>
        <p:nvSpPr>
          <p:cNvPr id="86" name="TextBox 85"/>
          <p:cNvSpPr txBox="1"/>
          <p:nvPr/>
        </p:nvSpPr>
        <p:spPr>
          <a:xfrm>
            <a:off x="4681728" y="3671315"/>
            <a:ext cx="3310128" cy="201168"/>
          </a:xfrm>
          <a:prstGeom prst="rect">
            <a:avLst/>
          </a:prstGeom>
          <a:noFill/>
        </p:spPr>
        <p:txBody>
          <a:bodyPr wrap="square" anchor="ctr">
            <a:spAutoFit/>
          </a:bodyPr>
          <a:lstStyle/>
          <a:p>
            <a:pPr algn="l"/>
            <a:r>
              <a:rPr sz="919" b="0">
                <a:solidFill>
                  <a:srgbClr val="192637"/>
                </a:solidFill>
                <a:latin typeface="Aptos Mono"/>
              </a:rPr>
              <a:t>  drs://drs.anv0:v2_b6b829f3-</a:t>
            </a:r>
          </a:p>
        </p:txBody>
      </p:sp>
      <p:sp>
        <p:nvSpPr>
          <p:cNvPr id="87" name="TextBox 86"/>
          <p:cNvSpPr txBox="1"/>
          <p:nvPr/>
        </p:nvSpPr>
        <p:spPr>
          <a:xfrm>
            <a:off x="4681728" y="3886200"/>
            <a:ext cx="3310128" cy="201168"/>
          </a:xfrm>
          <a:prstGeom prst="rect">
            <a:avLst/>
          </a:prstGeom>
          <a:noFill/>
        </p:spPr>
        <p:txBody>
          <a:bodyPr wrap="square" anchor="ctr">
            <a:spAutoFit/>
          </a:bodyPr>
          <a:lstStyle/>
          <a:p>
            <a:pPr algn="l"/>
            <a:r>
              <a:rPr sz="919" b="0">
                <a:solidFill>
                  <a:srgbClr val="192637"/>
                </a:solidFill>
                <a:latin typeface="Aptos Mono"/>
              </a:rPr>
              <a:t>  6046-3f29-896f-495a23f24c14 \</a:t>
            </a:r>
          </a:p>
        </p:txBody>
      </p:sp>
      <p:sp>
        <p:nvSpPr>
          <p:cNvPr id="88" name="TextBox 87"/>
          <p:cNvSpPr txBox="1"/>
          <p:nvPr/>
        </p:nvSpPr>
        <p:spPr>
          <a:xfrm>
            <a:off x="4681728" y="4101084"/>
            <a:ext cx="3310128" cy="201168"/>
          </a:xfrm>
          <a:prstGeom prst="rect">
            <a:avLst/>
          </a:prstGeom>
          <a:noFill/>
        </p:spPr>
        <p:txBody>
          <a:bodyPr wrap="square" anchor="ctr">
            <a:spAutoFit/>
          </a:bodyPr>
          <a:lstStyle/>
          <a:p>
            <a:pPr algn="l"/>
            <a:r>
              <a:rPr sz="919" b="1">
                <a:solidFill>
                  <a:srgbClr val="14823A"/>
                </a:solidFill>
                <a:latin typeface="Aptos Mono"/>
              </a:rPr>
              <a:t>  subject.tsv</a:t>
            </a:r>
          </a:p>
        </p:txBody>
      </p:sp>
      <p:sp>
        <p:nvSpPr>
          <p:cNvPr id="89" name="TextBox 88"/>
          <p:cNvSpPr txBox="1"/>
          <p:nvPr/>
        </p:nvSpPr>
        <p:spPr>
          <a:xfrm>
            <a:off x="4681728" y="4315968"/>
            <a:ext cx="3310128" cy="201168"/>
          </a:xfrm>
          <a:prstGeom prst="rect">
            <a:avLst/>
          </a:prstGeom>
          <a:noFill/>
        </p:spPr>
        <p:txBody>
          <a:bodyPr wrap="square" anchor="ctr">
            <a:spAutoFit/>
          </a:bodyPr>
          <a:lstStyle/>
          <a:p>
            <a:pPr algn="l"/>
            <a:endParaRPr/>
          </a:p>
        </p:txBody>
      </p:sp>
      <p:sp>
        <p:nvSpPr>
          <p:cNvPr id="90" name="TextBox 89"/>
          <p:cNvSpPr txBox="1"/>
          <p:nvPr/>
        </p:nvSpPr>
        <p:spPr>
          <a:xfrm>
            <a:off x="4681728" y="4530852"/>
            <a:ext cx="3310128" cy="201168"/>
          </a:xfrm>
          <a:prstGeom prst="rect">
            <a:avLst/>
          </a:prstGeom>
          <a:noFill/>
        </p:spPr>
        <p:txBody>
          <a:bodyPr wrap="square" anchor="ctr">
            <a:spAutoFit/>
          </a:bodyPr>
          <a:lstStyle/>
          <a:p>
            <a:pPr algn="l"/>
            <a:r>
              <a:rPr sz="919" b="1">
                <a:solidFill>
                  <a:srgbClr val="14823A"/>
                </a:solidFill>
                <a:latin typeface="Aptos Mono"/>
              </a:rPr>
              <a:t># Or add a manifest</a:t>
            </a:r>
          </a:p>
        </p:txBody>
      </p:sp>
      <p:sp>
        <p:nvSpPr>
          <p:cNvPr id="91" name="TextBox 90"/>
          <p:cNvSpPr txBox="1"/>
          <p:nvPr/>
        </p:nvSpPr>
        <p:spPr>
          <a:xfrm>
            <a:off x="4681728" y="4745736"/>
            <a:ext cx="3310128" cy="201168"/>
          </a:xfrm>
          <a:prstGeom prst="rect">
            <a:avLst/>
          </a:prstGeom>
          <a:noFill/>
        </p:spPr>
        <p:txBody>
          <a:bodyPr wrap="square" anchor="ctr">
            <a:spAutoFit/>
          </a:bodyPr>
          <a:lstStyle/>
          <a:p>
            <a:pPr algn="l"/>
            <a:r>
              <a:rPr sz="919" b="0">
                <a:solidFill>
                  <a:srgbClr val="192637"/>
                </a:solidFill>
                <a:latin typeface="Aptos Mono"/>
              </a:rPr>
              <a:t>git drs add-ref --manifest \</a:t>
            </a:r>
          </a:p>
        </p:txBody>
      </p:sp>
      <p:sp>
        <p:nvSpPr>
          <p:cNvPr id="92" name="TextBox 91"/>
          <p:cNvSpPr txBox="1"/>
          <p:nvPr/>
        </p:nvSpPr>
        <p:spPr>
          <a:xfrm>
            <a:off x="4681728" y="4960620"/>
            <a:ext cx="3310128" cy="201168"/>
          </a:xfrm>
          <a:prstGeom prst="rect">
            <a:avLst/>
          </a:prstGeom>
          <a:noFill/>
        </p:spPr>
        <p:txBody>
          <a:bodyPr wrap="square" anchor="ctr">
            <a:spAutoFit/>
          </a:bodyPr>
          <a:lstStyle/>
          <a:p>
            <a:pPr algn="l"/>
            <a:r>
              <a:rPr sz="919" b="1">
                <a:solidFill>
                  <a:srgbClr val="14823A"/>
                </a:solidFill>
                <a:latin typeface="Aptos Mono"/>
              </a:rPr>
              <a:t>  my-references.tsv</a:t>
            </a:r>
          </a:p>
        </p:txBody>
      </p:sp>
      <p:sp>
        <p:nvSpPr>
          <p:cNvPr id="93" name="Rounded Rectangle 92"/>
          <p:cNvSpPr/>
          <p:nvPr/>
        </p:nvSpPr>
        <p:spPr>
          <a:xfrm>
            <a:off x="8503920" y="1993392"/>
            <a:ext cx="3337560" cy="3383280"/>
          </a:xfrm>
          <a:prstGeom prst="roundRect">
            <a:avLst/>
          </a:prstGeom>
          <a:solidFill>
            <a:srgbClr val="FAF7FD"/>
          </a:solidFill>
          <a:ln w="12700">
            <a:solidFill>
              <a:srgbClr val="C4AE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8732520" y="2212848"/>
            <a:ext cx="2852928" cy="228600"/>
          </a:xfrm>
          <a:prstGeom prst="rect">
            <a:avLst/>
          </a:prstGeom>
          <a:noFill/>
        </p:spPr>
        <p:txBody>
          <a:bodyPr wrap="square" anchor="ctr">
            <a:spAutoFit/>
          </a:bodyPr>
          <a:lstStyle/>
          <a:p>
            <a:pPr algn="l"/>
            <a:r>
              <a:rPr sz="1019" b="0">
                <a:solidFill>
                  <a:srgbClr val="192637"/>
                </a:solidFill>
                <a:latin typeface="Aptos Mono"/>
              </a:rPr>
              <a:t>git add .gitattributes '*.tsv'</a:t>
            </a:r>
          </a:p>
        </p:txBody>
      </p:sp>
      <p:sp>
        <p:nvSpPr>
          <p:cNvPr id="95" name="TextBox 94"/>
          <p:cNvSpPr txBox="1"/>
          <p:nvPr/>
        </p:nvSpPr>
        <p:spPr>
          <a:xfrm>
            <a:off x="8732520" y="2523744"/>
            <a:ext cx="2852928" cy="228600"/>
          </a:xfrm>
          <a:prstGeom prst="rect">
            <a:avLst/>
          </a:prstGeom>
          <a:noFill/>
        </p:spPr>
        <p:txBody>
          <a:bodyPr wrap="square" anchor="ctr">
            <a:spAutoFit/>
          </a:bodyPr>
          <a:lstStyle/>
          <a:p>
            <a:pPr algn="l"/>
            <a:endParaRPr/>
          </a:p>
        </p:txBody>
      </p:sp>
      <p:sp>
        <p:nvSpPr>
          <p:cNvPr id="96" name="TextBox 95"/>
          <p:cNvSpPr txBox="1"/>
          <p:nvPr/>
        </p:nvSpPr>
        <p:spPr>
          <a:xfrm>
            <a:off x="8732520" y="2834639"/>
            <a:ext cx="2852928" cy="228600"/>
          </a:xfrm>
          <a:prstGeom prst="rect">
            <a:avLst/>
          </a:prstGeom>
          <a:noFill/>
        </p:spPr>
        <p:txBody>
          <a:bodyPr wrap="square" anchor="ctr">
            <a:spAutoFit/>
          </a:bodyPr>
          <a:lstStyle/>
          <a:p>
            <a:pPr algn="l"/>
            <a:r>
              <a:rPr sz="1019" b="0">
                <a:solidFill>
                  <a:srgbClr val="192637"/>
                </a:solidFill>
                <a:latin typeface="Aptos Mono"/>
              </a:rPr>
              <a:t>git commit -m "Add AnVIL</a:t>
            </a:r>
          </a:p>
        </p:txBody>
      </p:sp>
      <p:sp>
        <p:nvSpPr>
          <p:cNvPr id="97" name="TextBox 96"/>
          <p:cNvSpPr txBox="1"/>
          <p:nvPr/>
        </p:nvSpPr>
        <p:spPr>
          <a:xfrm>
            <a:off x="8732520" y="3145535"/>
            <a:ext cx="2852928" cy="228600"/>
          </a:xfrm>
          <a:prstGeom prst="rect">
            <a:avLst/>
          </a:prstGeom>
          <a:noFill/>
        </p:spPr>
        <p:txBody>
          <a:bodyPr wrap="square" anchor="ctr">
            <a:spAutoFit/>
          </a:bodyPr>
          <a:lstStyle/>
          <a:p>
            <a:pPr algn="l"/>
            <a:r>
              <a:rPr sz="1019" b="0">
                <a:solidFill>
                  <a:srgbClr val="532E92"/>
                </a:solidFill>
                <a:latin typeface="Aptos Mono"/>
              </a:rPr>
              <a:t>  dataset references"</a:t>
            </a:r>
          </a:p>
        </p:txBody>
      </p:sp>
      <p:sp>
        <p:nvSpPr>
          <p:cNvPr id="98" name="TextBox 97"/>
          <p:cNvSpPr txBox="1"/>
          <p:nvPr/>
        </p:nvSpPr>
        <p:spPr>
          <a:xfrm>
            <a:off x="8732520" y="3456431"/>
            <a:ext cx="2852928" cy="228600"/>
          </a:xfrm>
          <a:prstGeom prst="rect">
            <a:avLst/>
          </a:prstGeom>
          <a:noFill/>
        </p:spPr>
        <p:txBody>
          <a:bodyPr wrap="square" anchor="ctr">
            <a:spAutoFit/>
          </a:bodyPr>
          <a:lstStyle/>
          <a:p>
            <a:pPr algn="l"/>
            <a:endParaRPr/>
          </a:p>
        </p:txBody>
      </p:sp>
      <p:sp>
        <p:nvSpPr>
          <p:cNvPr id="99" name="TextBox 98"/>
          <p:cNvSpPr txBox="1"/>
          <p:nvPr/>
        </p:nvSpPr>
        <p:spPr>
          <a:xfrm>
            <a:off x="8732520" y="3767327"/>
            <a:ext cx="2852928" cy="228600"/>
          </a:xfrm>
          <a:prstGeom prst="rect">
            <a:avLst/>
          </a:prstGeom>
          <a:noFill/>
        </p:spPr>
        <p:txBody>
          <a:bodyPr wrap="square" anchor="ctr">
            <a:spAutoFit/>
          </a:bodyPr>
          <a:lstStyle/>
          <a:p>
            <a:pPr algn="l"/>
            <a:r>
              <a:rPr sz="1019" b="0">
                <a:solidFill>
                  <a:srgbClr val="192637"/>
                </a:solidFill>
                <a:latin typeface="Aptos Mono"/>
              </a:rPr>
              <a:t>git push</a:t>
            </a:r>
          </a:p>
        </p:txBody>
      </p:sp>
      <p:sp>
        <p:nvSpPr>
          <p:cNvPr id="100" name="Diamond 99"/>
          <p:cNvSpPr/>
          <p:nvPr/>
        </p:nvSpPr>
        <p:spPr>
          <a:xfrm>
            <a:off x="9582912" y="3858768"/>
            <a:ext cx="822960" cy="822960"/>
          </a:xfrm>
          <a:prstGeom prst="diamond">
            <a:avLst/>
          </a:prstGeom>
          <a:solidFill>
            <a:srgbClr val="F150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9880092" y="400050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9880092" y="4384548"/>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10099548" y="4201668"/>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4" name="Connector 103"/>
          <p:cNvCxnSpPr/>
          <p:nvPr/>
        </p:nvCxnSpPr>
        <p:spPr>
          <a:xfrm>
            <a:off x="9930384" y="4050791"/>
            <a:ext cx="0" cy="384049"/>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930384" y="4178808"/>
            <a:ext cx="219456" cy="73152"/>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8979408" y="4736592"/>
            <a:ext cx="2057400" cy="274320"/>
          </a:xfrm>
          <a:prstGeom prst="rect">
            <a:avLst/>
          </a:prstGeom>
          <a:noFill/>
        </p:spPr>
        <p:txBody>
          <a:bodyPr wrap="square" anchor="ctr">
            <a:spAutoFit/>
          </a:bodyPr>
          <a:lstStyle/>
          <a:p>
            <a:pPr algn="ctr"/>
            <a:r>
              <a:rPr sz="1200" b="1">
                <a:solidFill>
                  <a:srgbClr val="051C4E"/>
                </a:solidFill>
                <a:latin typeface="Aptos"/>
              </a:rPr>
              <a:t>Your Git repository</a:t>
            </a:r>
          </a:p>
        </p:txBody>
      </p:sp>
      <p:sp>
        <p:nvSpPr>
          <p:cNvPr id="107" name="Rounded Rectangle 106"/>
          <p:cNvSpPr/>
          <p:nvPr/>
        </p:nvSpPr>
        <p:spPr>
          <a:xfrm>
            <a:off x="347472" y="5715000"/>
            <a:ext cx="11494008" cy="749808"/>
          </a:xfrm>
          <a:prstGeom prst="roundRect">
            <a:avLst/>
          </a:prstGeom>
          <a:solidFill>
            <a:srgbClr val="F9FDFE"/>
          </a:solidFill>
          <a:ln w="12700">
            <a:solidFill>
              <a:srgbClr val="88C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1097280" y="5879592"/>
            <a:ext cx="384048" cy="384048"/>
          </a:xfrm>
          <a:prstGeom prst="ellipse">
            <a:avLst/>
          </a:prstGeom>
          <a:solidFill>
            <a:srgbClr val="007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1097280" y="5879592"/>
            <a:ext cx="384048" cy="384048"/>
          </a:xfrm>
          <a:prstGeom prst="rect">
            <a:avLst/>
          </a:prstGeom>
          <a:noFill/>
        </p:spPr>
        <p:txBody>
          <a:bodyPr wrap="square" anchor="ctr">
            <a:spAutoFit/>
          </a:bodyPr>
          <a:lstStyle/>
          <a:p>
            <a:pPr algn="ctr"/>
            <a:r>
              <a:rPr sz="1800" b="1">
                <a:solidFill>
                  <a:srgbClr val="FFFFFF"/>
                </a:solidFill>
                <a:latin typeface="Aptos"/>
              </a:rPr>
              <a:t>✓</a:t>
            </a:r>
          </a:p>
        </p:txBody>
      </p:sp>
      <p:sp>
        <p:nvSpPr>
          <p:cNvPr id="110" name="TextBox 109"/>
          <p:cNvSpPr txBox="1"/>
          <p:nvPr/>
        </p:nvSpPr>
        <p:spPr>
          <a:xfrm>
            <a:off x="1828800" y="5806440"/>
            <a:ext cx="9326880" cy="274320"/>
          </a:xfrm>
          <a:prstGeom prst="rect">
            <a:avLst/>
          </a:prstGeom>
          <a:noFill/>
        </p:spPr>
        <p:txBody>
          <a:bodyPr wrap="square" anchor="ctr">
            <a:spAutoFit/>
          </a:bodyPr>
          <a:lstStyle/>
          <a:p>
            <a:pPr algn="l"/>
            <a:r>
              <a:rPr sz="1500" b="1">
                <a:solidFill>
                  <a:srgbClr val="051C4E"/>
                </a:solidFill>
                <a:latin typeface="Aptos"/>
              </a:rPr>
              <a:t>Git contains the dataset layout and DRS references — not the AnVIL payloads.</a:t>
            </a:r>
          </a:p>
        </p:txBody>
      </p:sp>
      <p:sp>
        <p:nvSpPr>
          <p:cNvPr id="111" name="TextBox 110"/>
          <p:cNvSpPr txBox="1"/>
          <p:nvPr/>
        </p:nvSpPr>
        <p:spPr>
          <a:xfrm>
            <a:off x="1828800" y="6099048"/>
            <a:ext cx="9326880" cy="228600"/>
          </a:xfrm>
          <a:prstGeom prst="rect">
            <a:avLst/>
          </a:prstGeom>
          <a:noFill/>
        </p:spPr>
        <p:txBody>
          <a:bodyPr wrap="square" anchor="ctr">
            <a:spAutoFit/>
          </a:bodyPr>
          <a:lstStyle/>
          <a:p>
            <a:pPr algn="l"/>
            <a:r>
              <a:rPr sz="1200" b="0">
                <a:solidFill>
                  <a:srgbClr val="051C4E"/>
                </a:solidFill>
                <a:latin typeface="Aptos"/>
              </a:rPr>
              <a:t>Anyone with access can pull and hydrate the bytes when needed.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2608" y="109728"/>
            <a:ext cx="2743200" cy="237744"/>
          </a:xfrm>
          <a:prstGeom prst="rect">
            <a:avLst/>
          </a:prstGeom>
          <a:noFill/>
        </p:spPr>
        <p:txBody>
          <a:bodyPr wrap="square" anchor="ctr">
            <a:spAutoFit/>
          </a:bodyPr>
          <a:lstStyle/>
          <a:p>
            <a:pPr algn="l"/>
            <a:r>
              <a:rPr sz="1300" b="1">
                <a:solidFill>
                  <a:srgbClr val="007775"/>
                </a:solidFill>
                <a:latin typeface="Aptos"/>
              </a:rPr>
              <a:t>3-Step Consumer Workflow</a:t>
            </a:r>
          </a:p>
        </p:txBody>
      </p:sp>
      <p:sp>
        <p:nvSpPr>
          <p:cNvPr id="3" name="TextBox 2"/>
          <p:cNvSpPr txBox="1"/>
          <p:nvPr/>
        </p:nvSpPr>
        <p:spPr>
          <a:xfrm>
            <a:off x="292608" y="365760"/>
            <a:ext cx="10698480" cy="475488"/>
          </a:xfrm>
          <a:prstGeom prst="rect">
            <a:avLst/>
          </a:prstGeom>
          <a:noFill/>
        </p:spPr>
        <p:txBody>
          <a:bodyPr wrap="square" anchor="ctr">
            <a:spAutoFit/>
          </a:bodyPr>
          <a:lstStyle/>
          <a:p>
            <a:pPr algn="l"/>
            <a:r>
              <a:rPr sz="2700" b="1">
                <a:solidFill>
                  <a:srgbClr val="061C4D"/>
                </a:solidFill>
                <a:latin typeface="Aptos"/>
              </a:rPr>
              <a:t>From Git references to hydrated AnVIL data</a:t>
            </a:r>
          </a:p>
        </p:txBody>
      </p:sp>
      <p:sp>
        <p:nvSpPr>
          <p:cNvPr id="4" name="Rectangle 3"/>
          <p:cNvSpPr/>
          <p:nvPr/>
        </p:nvSpPr>
        <p:spPr>
          <a:xfrm>
            <a:off x="292608" y="914400"/>
            <a:ext cx="841248" cy="41148"/>
          </a:xfrm>
          <a:prstGeom prst="rect">
            <a:avLst/>
          </a:prstGeom>
          <a:solidFill>
            <a:srgbClr val="0089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13232" y="1078992"/>
            <a:ext cx="310896" cy="310896"/>
          </a:xfrm>
          <a:prstGeom prst="ellipse">
            <a:avLst/>
          </a:prstGeom>
          <a:solidFill>
            <a:srgbClr val="0089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078992"/>
            <a:ext cx="310896" cy="310896"/>
          </a:xfrm>
          <a:prstGeom prst="rect">
            <a:avLst/>
          </a:prstGeom>
          <a:noFill/>
        </p:spPr>
        <p:txBody>
          <a:bodyPr wrap="square" anchor="ctr">
            <a:spAutoFit/>
          </a:bodyPr>
          <a:lstStyle/>
          <a:p>
            <a:pPr algn="ctr"/>
            <a:r>
              <a:rPr sz="1200" b="1">
                <a:solidFill>
                  <a:srgbClr val="FFFFFF"/>
                </a:solidFill>
                <a:latin typeface="Aptos"/>
              </a:rPr>
              <a:t>1</a:t>
            </a:r>
          </a:p>
        </p:txBody>
      </p:sp>
      <p:sp>
        <p:nvSpPr>
          <p:cNvPr id="7" name="TextBox 6"/>
          <p:cNvSpPr txBox="1"/>
          <p:nvPr/>
        </p:nvSpPr>
        <p:spPr>
          <a:xfrm>
            <a:off x="1124712" y="1033271"/>
            <a:ext cx="2834640" cy="438912"/>
          </a:xfrm>
          <a:prstGeom prst="rect">
            <a:avLst/>
          </a:prstGeom>
          <a:noFill/>
        </p:spPr>
        <p:txBody>
          <a:bodyPr wrap="square" anchor="ctr">
            <a:spAutoFit/>
          </a:bodyPr>
          <a:lstStyle/>
          <a:p>
            <a:pPr algn="l"/>
            <a:r>
              <a:rPr sz="1500" b="1">
                <a:solidFill>
                  <a:srgbClr val="061C4D"/>
                </a:solidFill>
                <a:latin typeface="Aptos"/>
              </a:rPr>
              <a:t>Clone Repository</a:t>
            </a:r>
          </a:p>
        </p:txBody>
      </p:sp>
      <p:sp>
        <p:nvSpPr>
          <p:cNvPr id="8" name="TextBox 7"/>
          <p:cNvSpPr txBox="1"/>
          <p:nvPr/>
        </p:nvSpPr>
        <p:spPr>
          <a:xfrm>
            <a:off x="1124712" y="1472184"/>
            <a:ext cx="2880360" cy="475488"/>
          </a:xfrm>
          <a:prstGeom prst="rect">
            <a:avLst/>
          </a:prstGeom>
          <a:noFill/>
        </p:spPr>
        <p:txBody>
          <a:bodyPr wrap="square" anchor="ctr">
            <a:spAutoFit/>
          </a:bodyPr>
          <a:lstStyle/>
          <a:p>
            <a:pPr algn="l"/>
            <a:r>
              <a:rPr sz="1050" b="0">
                <a:solidFill>
                  <a:srgbClr val="061C4D"/>
                </a:solidFill>
                <a:latin typeface="Aptos"/>
              </a:rPr>
              <a:t>Clone the pointer-only repository.</a:t>
            </a:r>
            <a:br/>
            <a:r>
              <a:rPr sz="1050" b="0">
                <a:solidFill>
                  <a:srgbClr val="061C4D"/>
                </a:solidFill>
                <a:latin typeface="Aptos"/>
              </a:rPr>
              <a:t>*.tsv files are DRS pointers,</a:t>
            </a:r>
            <a:br/>
            <a:r>
              <a:rPr sz="1050" b="0">
                <a:solidFill>
                  <a:srgbClr val="061C4D"/>
                </a:solidFill>
                <a:latin typeface="Aptos"/>
              </a:rPr>
              <a:t>not actual data.</a:t>
            </a:r>
          </a:p>
        </p:txBody>
      </p:sp>
      <p:sp>
        <p:nvSpPr>
          <p:cNvPr id="9" name="Oval 8"/>
          <p:cNvSpPr/>
          <p:nvPr/>
        </p:nvSpPr>
        <p:spPr>
          <a:xfrm>
            <a:off x="4663440" y="1078992"/>
            <a:ext cx="310896" cy="310896"/>
          </a:xfrm>
          <a:prstGeom prst="ellipse">
            <a:avLst/>
          </a:prstGeom>
          <a:solidFill>
            <a:srgbClr val="0089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63440" y="1078992"/>
            <a:ext cx="310896" cy="310896"/>
          </a:xfrm>
          <a:prstGeom prst="rect">
            <a:avLst/>
          </a:prstGeom>
          <a:noFill/>
        </p:spPr>
        <p:txBody>
          <a:bodyPr wrap="square" anchor="ctr">
            <a:spAutoFit/>
          </a:bodyPr>
          <a:lstStyle/>
          <a:p>
            <a:pPr algn="ctr"/>
            <a:r>
              <a:rPr sz="1200" b="1">
                <a:solidFill>
                  <a:srgbClr val="FFFFFF"/>
                </a:solidFill>
                <a:latin typeface="Aptos"/>
              </a:rPr>
              <a:t>2</a:t>
            </a:r>
          </a:p>
        </p:txBody>
      </p:sp>
      <p:sp>
        <p:nvSpPr>
          <p:cNvPr id="11" name="TextBox 10"/>
          <p:cNvSpPr txBox="1"/>
          <p:nvPr/>
        </p:nvSpPr>
        <p:spPr>
          <a:xfrm>
            <a:off x="5074920" y="1033271"/>
            <a:ext cx="2834640" cy="438912"/>
          </a:xfrm>
          <a:prstGeom prst="rect">
            <a:avLst/>
          </a:prstGeom>
          <a:noFill/>
        </p:spPr>
        <p:txBody>
          <a:bodyPr wrap="square" anchor="ctr">
            <a:spAutoFit/>
          </a:bodyPr>
          <a:lstStyle/>
          <a:p>
            <a:pPr algn="l"/>
            <a:r>
              <a:rPr sz="1500" b="1">
                <a:solidFill>
                  <a:srgbClr val="061C4D"/>
                </a:solidFill>
                <a:latin typeface="Aptos"/>
              </a:rPr>
              <a:t>Configure Terra Remote</a:t>
            </a:r>
            <a:br/>
            <a:r>
              <a:rPr sz="1500" b="1">
                <a:solidFill>
                  <a:srgbClr val="061C4D"/>
                </a:solidFill>
                <a:latin typeface="Aptos"/>
              </a:rPr>
              <a:t>(Per Clone)</a:t>
            </a:r>
          </a:p>
        </p:txBody>
      </p:sp>
      <p:sp>
        <p:nvSpPr>
          <p:cNvPr id="12" name="TextBox 11"/>
          <p:cNvSpPr txBox="1"/>
          <p:nvPr/>
        </p:nvSpPr>
        <p:spPr>
          <a:xfrm>
            <a:off x="5074920" y="1472184"/>
            <a:ext cx="2880360" cy="475488"/>
          </a:xfrm>
          <a:prstGeom prst="rect">
            <a:avLst/>
          </a:prstGeom>
          <a:noFill/>
        </p:spPr>
        <p:txBody>
          <a:bodyPr wrap="square" anchor="ctr">
            <a:spAutoFit/>
          </a:bodyPr>
          <a:lstStyle/>
          <a:p>
            <a:pPr algn="l"/>
            <a:r>
              <a:rPr sz="1050" b="0">
                <a:solidFill>
                  <a:srgbClr val="061C4D"/>
                </a:solidFill>
                <a:latin typeface="Aptos"/>
              </a:rPr>
              <a:t>Configure a local Terra remote.</a:t>
            </a:r>
            <a:br/>
            <a:r>
              <a:rPr sz="1050" b="0">
                <a:solidFill>
                  <a:srgbClr val="061C4D"/>
                </a:solidFill>
                <a:latin typeface="Aptos"/>
              </a:rPr>
              <a:t>This step is required for every clone.</a:t>
            </a:r>
          </a:p>
        </p:txBody>
      </p:sp>
      <p:sp>
        <p:nvSpPr>
          <p:cNvPr id="13" name="Oval 12"/>
          <p:cNvSpPr/>
          <p:nvPr/>
        </p:nvSpPr>
        <p:spPr>
          <a:xfrm>
            <a:off x="8732520" y="1078992"/>
            <a:ext cx="310896" cy="310896"/>
          </a:xfrm>
          <a:prstGeom prst="ellipse">
            <a:avLst/>
          </a:prstGeom>
          <a:solidFill>
            <a:srgbClr val="0089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32520" y="1078992"/>
            <a:ext cx="310896" cy="310896"/>
          </a:xfrm>
          <a:prstGeom prst="rect">
            <a:avLst/>
          </a:prstGeom>
          <a:noFill/>
        </p:spPr>
        <p:txBody>
          <a:bodyPr wrap="square" anchor="ctr">
            <a:spAutoFit/>
          </a:bodyPr>
          <a:lstStyle/>
          <a:p>
            <a:pPr algn="ctr"/>
            <a:r>
              <a:rPr sz="1200" b="1">
                <a:solidFill>
                  <a:srgbClr val="FFFFFF"/>
                </a:solidFill>
                <a:latin typeface="Aptos"/>
              </a:rPr>
              <a:t>3</a:t>
            </a:r>
          </a:p>
        </p:txBody>
      </p:sp>
      <p:sp>
        <p:nvSpPr>
          <p:cNvPr id="15" name="TextBox 14"/>
          <p:cNvSpPr txBox="1"/>
          <p:nvPr/>
        </p:nvSpPr>
        <p:spPr>
          <a:xfrm>
            <a:off x="9144000" y="1033271"/>
            <a:ext cx="2834640" cy="438912"/>
          </a:xfrm>
          <a:prstGeom prst="rect">
            <a:avLst/>
          </a:prstGeom>
          <a:noFill/>
        </p:spPr>
        <p:txBody>
          <a:bodyPr wrap="square" anchor="ctr">
            <a:spAutoFit/>
          </a:bodyPr>
          <a:lstStyle/>
          <a:p>
            <a:pPr algn="l"/>
            <a:r>
              <a:rPr sz="1500" b="1">
                <a:solidFill>
                  <a:srgbClr val="061C4D"/>
                </a:solidFill>
                <a:latin typeface="Aptos"/>
              </a:rPr>
              <a:t>Hydrate Files</a:t>
            </a:r>
          </a:p>
        </p:txBody>
      </p:sp>
      <p:sp>
        <p:nvSpPr>
          <p:cNvPr id="16" name="TextBox 15"/>
          <p:cNvSpPr txBox="1"/>
          <p:nvPr/>
        </p:nvSpPr>
        <p:spPr>
          <a:xfrm>
            <a:off x="9144000" y="1472184"/>
            <a:ext cx="2880360" cy="475488"/>
          </a:xfrm>
          <a:prstGeom prst="rect">
            <a:avLst/>
          </a:prstGeom>
          <a:noFill/>
        </p:spPr>
        <p:txBody>
          <a:bodyPr wrap="square" anchor="ctr">
            <a:spAutoFit/>
          </a:bodyPr>
          <a:lstStyle/>
          <a:p>
            <a:pPr algn="l"/>
            <a:r>
              <a:rPr sz="1050" b="0">
                <a:solidFill>
                  <a:srgbClr val="061C4D"/>
                </a:solidFill>
                <a:latin typeface="Aptos"/>
              </a:rPr>
              <a:t>Download and hydrate files</a:t>
            </a:r>
            <a:br/>
            <a:r>
              <a:rPr sz="1050" b="0">
                <a:solidFill>
                  <a:srgbClr val="061C4D"/>
                </a:solidFill>
                <a:latin typeface="Aptos"/>
              </a:rPr>
              <a:t>from AnVIL (fetch metadata and data).</a:t>
            </a:r>
          </a:p>
        </p:txBody>
      </p:sp>
      <p:cxnSp>
        <p:nvCxnSpPr>
          <p:cNvPr id="17" name="Connector 16"/>
          <p:cNvCxnSpPr/>
          <p:nvPr/>
        </p:nvCxnSpPr>
        <p:spPr>
          <a:xfrm>
            <a:off x="3986784" y="1426464"/>
            <a:ext cx="356616" cy="0"/>
          </a:xfrm>
          <a:prstGeom prst="line">
            <a:avLst/>
          </a:prstGeom>
          <a:ln w="25400">
            <a:solidFill>
              <a:srgbClr val="505E6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973568" y="1426464"/>
            <a:ext cx="347472" cy="0"/>
          </a:xfrm>
          <a:prstGeom prst="line">
            <a:avLst/>
          </a:prstGeom>
          <a:ln w="25400">
            <a:solidFill>
              <a:srgbClr val="505E6E"/>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58368" y="1965960"/>
            <a:ext cx="3310128" cy="1719072"/>
          </a:xfrm>
          <a:prstGeom prst="roundRect">
            <a:avLst/>
          </a:prstGeom>
          <a:solidFill>
            <a:srgbClr val="F7FAFF"/>
          </a:solidFill>
          <a:ln w="12700">
            <a:solidFill>
              <a:srgbClr val="96B7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 y="2093976"/>
            <a:ext cx="2953512" cy="192024"/>
          </a:xfrm>
          <a:prstGeom prst="rect">
            <a:avLst/>
          </a:prstGeom>
          <a:noFill/>
        </p:spPr>
        <p:txBody>
          <a:bodyPr wrap="square" anchor="ctr">
            <a:spAutoFit/>
          </a:bodyPr>
          <a:lstStyle/>
          <a:p>
            <a:pPr algn="l"/>
            <a:r>
              <a:rPr sz="869" b="1">
                <a:solidFill>
                  <a:srgbClr val="165DBE"/>
                </a:solidFill>
                <a:latin typeface="Aptos Mono"/>
              </a:rPr>
              <a:t># Set up authentication</a:t>
            </a:r>
          </a:p>
        </p:txBody>
      </p:sp>
      <p:sp>
        <p:nvSpPr>
          <p:cNvPr id="21" name="TextBox 20"/>
          <p:cNvSpPr txBox="1"/>
          <p:nvPr/>
        </p:nvSpPr>
        <p:spPr>
          <a:xfrm>
            <a:off x="832104" y="2299716"/>
            <a:ext cx="2953512" cy="192024"/>
          </a:xfrm>
          <a:prstGeom prst="rect">
            <a:avLst/>
          </a:prstGeom>
          <a:noFill/>
        </p:spPr>
        <p:txBody>
          <a:bodyPr wrap="square" anchor="ctr">
            <a:spAutoFit/>
          </a:bodyPr>
          <a:lstStyle/>
          <a:p>
            <a:pPr algn="l"/>
            <a:r>
              <a:rPr sz="869" b="0">
                <a:solidFill>
                  <a:srgbClr val="1B2636"/>
                </a:solidFill>
                <a:latin typeface="Aptos Mono"/>
              </a:rPr>
              <a:t>gcloud auth application-default login</a:t>
            </a:r>
          </a:p>
        </p:txBody>
      </p:sp>
      <p:sp>
        <p:nvSpPr>
          <p:cNvPr id="22" name="TextBox 21"/>
          <p:cNvSpPr txBox="1"/>
          <p:nvPr/>
        </p:nvSpPr>
        <p:spPr>
          <a:xfrm>
            <a:off x="832104" y="2505456"/>
            <a:ext cx="2953512" cy="192024"/>
          </a:xfrm>
          <a:prstGeom prst="rect">
            <a:avLst/>
          </a:prstGeom>
          <a:noFill/>
        </p:spPr>
        <p:txBody>
          <a:bodyPr wrap="square" anchor="ctr">
            <a:spAutoFit/>
          </a:bodyPr>
          <a:lstStyle/>
          <a:p>
            <a:pPr algn="l"/>
            <a:endParaRPr/>
          </a:p>
        </p:txBody>
      </p:sp>
      <p:sp>
        <p:nvSpPr>
          <p:cNvPr id="23" name="TextBox 22"/>
          <p:cNvSpPr txBox="1"/>
          <p:nvPr/>
        </p:nvSpPr>
        <p:spPr>
          <a:xfrm>
            <a:off x="832104" y="2711196"/>
            <a:ext cx="2953512" cy="192024"/>
          </a:xfrm>
          <a:prstGeom prst="rect">
            <a:avLst/>
          </a:prstGeom>
          <a:noFill/>
        </p:spPr>
        <p:txBody>
          <a:bodyPr wrap="square" anchor="ctr">
            <a:spAutoFit/>
          </a:bodyPr>
          <a:lstStyle/>
          <a:p>
            <a:pPr algn="l"/>
            <a:r>
              <a:rPr sz="869" b="1">
                <a:solidFill>
                  <a:srgbClr val="165DBE"/>
                </a:solidFill>
                <a:latin typeface="Aptos Mono"/>
              </a:rPr>
              <a:t># Clone the pointer-only repository</a:t>
            </a:r>
          </a:p>
        </p:txBody>
      </p:sp>
      <p:sp>
        <p:nvSpPr>
          <p:cNvPr id="24" name="TextBox 23"/>
          <p:cNvSpPr txBox="1"/>
          <p:nvPr/>
        </p:nvSpPr>
        <p:spPr>
          <a:xfrm>
            <a:off x="832104" y="2916936"/>
            <a:ext cx="2953512" cy="192024"/>
          </a:xfrm>
          <a:prstGeom prst="rect">
            <a:avLst/>
          </a:prstGeom>
          <a:noFill/>
        </p:spPr>
        <p:txBody>
          <a:bodyPr wrap="square" anchor="ctr">
            <a:spAutoFit/>
          </a:bodyPr>
          <a:lstStyle/>
          <a:p>
            <a:pPr algn="l"/>
            <a:r>
              <a:rPr sz="869" b="0">
                <a:solidFill>
                  <a:srgbClr val="1B2636"/>
                </a:solidFill>
                <a:latin typeface="Aptos Mono"/>
              </a:rPr>
              <a:t>git clone https://github.com/&lt;user&gt;/</a:t>
            </a:r>
          </a:p>
        </p:txBody>
      </p:sp>
      <p:sp>
        <p:nvSpPr>
          <p:cNvPr id="25" name="TextBox 24"/>
          <p:cNvSpPr txBox="1"/>
          <p:nvPr/>
        </p:nvSpPr>
        <p:spPr>
          <a:xfrm>
            <a:off x="832104" y="3122676"/>
            <a:ext cx="2953512" cy="192024"/>
          </a:xfrm>
          <a:prstGeom prst="rect">
            <a:avLst/>
          </a:prstGeom>
          <a:noFill/>
        </p:spPr>
        <p:txBody>
          <a:bodyPr wrap="square" anchor="ctr">
            <a:spAutoFit/>
          </a:bodyPr>
          <a:lstStyle/>
          <a:p>
            <a:pPr algn="l"/>
            <a:r>
              <a:rPr sz="869" b="0">
                <a:solidFill>
                  <a:srgbClr val="1B2636"/>
                </a:solidFill>
                <a:latin typeface="Aptos Mono"/>
              </a:rPr>
              <a:t>ANVIL_1000G_PRIMED_data_model.git</a:t>
            </a:r>
          </a:p>
        </p:txBody>
      </p:sp>
      <p:sp>
        <p:nvSpPr>
          <p:cNvPr id="26" name="TextBox 25"/>
          <p:cNvSpPr txBox="1"/>
          <p:nvPr/>
        </p:nvSpPr>
        <p:spPr>
          <a:xfrm>
            <a:off x="832104" y="3328416"/>
            <a:ext cx="2953512" cy="192024"/>
          </a:xfrm>
          <a:prstGeom prst="rect">
            <a:avLst/>
          </a:prstGeom>
          <a:noFill/>
        </p:spPr>
        <p:txBody>
          <a:bodyPr wrap="square" anchor="ctr">
            <a:spAutoFit/>
          </a:bodyPr>
          <a:lstStyle/>
          <a:p>
            <a:pPr algn="l"/>
            <a:r>
              <a:rPr sz="869" b="1">
                <a:solidFill>
                  <a:srgbClr val="165DBE"/>
                </a:solidFill>
                <a:latin typeface="Aptos Mono"/>
              </a:rPr>
              <a:t>cd ANVIL_1000G_PRIMED_data_model</a:t>
            </a:r>
          </a:p>
        </p:txBody>
      </p:sp>
      <p:sp>
        <p:nvSpPr>
          <p:cNvPr id="27" name="Rounded Rectangle 26"/>
          <p:cNvSpPr/>
          <p:nvPr/>
        </p:nvSpPr>
        <p:spPr>
          <a:xfrm>
            <a:off x="658368" y="3803904"/>
            <a:ext cx="3310128" cy="530352"/>
          </a:xfrm>
          <a:prstGeom prst="roundRect">
            <a:avLst/>
          </a:prstGeom>
          <a:solidFill>
            <a:srgbClr val="F7FAFF"/>
          </a:solidFill>
          <a:ln w="12700">
            <a:solidFill>
              <a:srgbClr val="96B7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22960" y="3941063"/>
            <a:ext cx="219456" cy="219456"/>
          </a:xfrm>
          <a:prstGeom prst="ellipse">
            <a:avLst/>
          </a:prstGeom>
          <a:solidFill>
            <a:srgbClr val="165D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3941063"/>
            <a:ext cx="219456" cy="219456"/>
          </a:xfrm>
          <a:prstGeom prst="rect">
            <a:avLst/>
          </a:prstGeom>
          <a:noFill/>
        </p:spPr>
        <p:txBody>
          <a:bodyPr wrap="square" anchor="ctr">
            <a:spAutoFit/>
          </a:bodyPr>
          <a:lstStyle/>
          <a:p>
            <a:pPr algn="ctr"/>
            <a:r>
              <a:rPr sz="1000" b="1">
                <a:solidFill>
                  <a:srgbClr val="FFFFFF"/>
                </a:solidFill>
                <a:latin typeface="Aptos"/>
              </a:rPr>
              <a:t>i</a:t>
            </a:r>
          </a:p>
        </p:txBody>
      </p:sp>
      <p:sp>
        <p:nvSpPr>
          <p:cNvPr id="30" name="TextBox 29"/>
          <p:cNvSpPr txBox="1"/>
          <p:nvPr/>
        </p:nvSpPr>
        <p:spPr>
          <a:xfrm>
            <a:off x="1133856" y="3858768"/>
            <a:ext cx="2615184" cy="384048"/>
          </a:xfrm>
          <a:prstGeom prst="rect">
            <a:avLst/>
          </a:prstGeom>
          <a:noFill/>
        </p:spPr>
        <p:txBody>
          <a:bodyPr wrap="square" anchor="ctr">
            <a:spAutoFit/>
          </a:bodyPr>
          <a:lstStyle/>
          <a:p>
            <a:pPr algn="l"/>
            <a:r>
              <a:rPr sz="950" b="0">
                <a:solidFill>
                  <a:srgbClr val="061C4D"/>
                </a:solidFill>
                <a:latin typeface="Aptos"/>
              </a:rPr>
              <a:t>After cloning, *.tsv files are DRS</a:t>
            </a:r>
            <a:br/>
            <a:r>
              <a:rPr sz="950" b="0">
                <a:solidFill>
                  <a:srgbClr val="061C4D"/>
                </a:solidFill>
                <a:latin typeface="Aptos"/>
              </a:rPr>
              <a:t>pointers (not data).</a:t>
            </a:r>
          </a:p>
        </p:txBody>
      </p:sp>
      <p:sp>
        <p:nvSpPr>
          <p:cNvPr id="31" name="Rounded Rectangle 30"/>
          <p:cNvSpPr/>
          <p:nvPr/>
        </p:nvSpPr>
        <p:spPr>
          <a:xfrm>
            <a:off x="4334256" y="1965960"/>
            <a:ext cx="3675887" cy="1325880"/>
          </a:xfrm>
          <a:prstGeom prst="roundRect">
            <a:avLst/>
          </a:prstGeom>
          <a:solidFill>
            <a:srgbClr val="F7FCF7"/>
          </a:solidFill>
          <a:ln w="12700">
            <a:solidFill>
              <a:srgbClr val="A3D1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17136" y="2075688"/>
            <a:ext cx="3310128" cy="182880"/>
          </a:xfrm>
          <a:prstGeom prst="rect">
            <a:avLst/>
          </a:prstGeom>
          <a:noFill/>
        </p:spPr>
        <p:txBody>
          <a:bodyPr wrap="square" anchor="ctr">
            <a:spAutoFit/>
          </a:bodyPr>
          <a:lstStyle/>
          <a:p>
            <a:pPr algn="l"/>
            <a:r>
              <a:rPr sz="850" b="1">
                <a:solidFill>
                  <a:srgbClr val="1A8234"/>
                </a:solidFill>
                <a:latin typeface="Aptos Mono"/>
              </a:rPr>
              <a:t># Repository-local remote configuration;</a:t>
            </a:r>
          </a:p>
        </p:txBody>
      </p:sp>
      <p:sp>
        <p:nvSpPr>
          <p:cNvPr id="33" name="TextBox 32"/>
          <p:cNvSpPr txBox="1"/>
          <p:nvPr/>
        </p:nvSpPr>
        <p:spPr>
          <a:xfrm>
            <a:off x="4517136" y="2276856"/>
            <a:ext cx="3310128" cy="182880"/>
          </a:xfrm>
          <a:prstGeom prst="rect">
            <a:avLst/>
          </a:prstGeom>
          <a:noFill/>
        </p:spPr>
        <p:txBody>
          <a:bodyPr wrap="square" anchor="ctr">
            <a:spAutoFit/>
          </a:bodyPr>
          <a:lstStyle/>
          <a:p>
            <a:pPr algn="l"/>
            <a:r>
              <a:rPr sz="850" b="1">
                <a:solidFill>
                  <a:srgbClr val="1A8234"/>
                </a:solidFill>
                <a:latin typeface="Aptos Mono"/>
              </a:rPr>
              <a:t># not cloned from origin</a:t>
            </a:r>
          </a:p>
        </p:txBody>
      </p:sp>
      <p:sp>
        <p:nvSpPr>
          <p:cNvPr id="34" name="TextBox 33"/>
          <p:cNvSpPr txBox="1"/>
          <p:nvPr/>
        </p:nvSpPr>
        <p:spPr>
          <a:xfrm>
            <a:off x="4517136" y="2478024"/>
            <a:ext cx="3310128" cy="182880"/>
          </a:xfrm>
          <a:prstGeom prst="rect">
            <a:avLst/>
          </a:prstGeom>
          <a:noFill/>
        </p:spPr>
        <p:txBody>
          <a:bodyPr wrap="square" anchor="ctr">
            <a:spAutoFit/>
          </a:bodyPr>
          <a:lstStyle/>
          <a:p>
            <a:pPr algn="l"/>
            <a:r>
              <a:rPr sz="850" b="1">
                <a:solidFill>
                  <a:srgbClr val="1A8234"/>
                </a:solidFill>
                <a:latin typeface="Aptos Mono"/>
              </a:rPr>
              <a:t># This is the key security boundary:</a:t>
            </a:r>
          </a:p>
        </p:txBody>
      </p:sp>
      <p:sp>
        <p:nvSpPr>
          <p:cNvPr id="35" name="TextBox 34"/>
          <p:cNvSpPr txBox="1"/>
          <p:nvPr/>
        </p:nvSpPr>
        <p:spPr>
          <a:xfrm>
            <a:off x="4517136" y="2679192"/>
            <a:ext cx="3310128" cy="182880"/>
          </a:xfrm>
          <a:prstGeom prst="rect">
            <a:avLst/>
          </a:prstGeom>
          <a:noFill/>
        </p:spPr>
        <p:txBody>
          <a:bodyPr wrap="square" anchor="ctr">
            <a:spAutoFit/>
          </a:bodyPr>
          <a:lstStyle/>
          <a:p>
            <a:pPr algn="l"/>
            <a:r>
              <a:rPr sz="850" b="1">
                <a:solidFill>
                  <a:srgbClr val="1A8234"/>
                </a:solidFill>
                <a:latin typeface="Aptos Mono"/>
              </a:rPr>
              <a:t># every clone must recreate its own config</a:t>
            </a:r>
          </a:p>
        </p:txBody>
      </p:sp>
      <p:sp>
        <p:nvSpPr>
          <p:cNvPr id="36" name="TextBox 35"/>
          <p:cNvSpPr txBox="1"/>
          <p:nvPr/>
        </p:nvSpPr>
        <p:spPr>
          <a:xfrm>
            <a:off x="4517136" y="2880360"/>
            <a:ext cx="3310128" cy="182880"/>
          </a:xfrm>
          <a:prstGeom prst="rect">
            <a:avLst/>
          </a:prstGeom>
          <a:noFill/>
        </p:spPr>
        <p:txBody>
          <a:bodyPr wrap="square" anchor="ctr">
            <a:spAutoFit/>
          </a:bodyPr>
          <a:lstStyle/>
          <a:p>
            <a:pPr algn="l"/>
            <a:r>
              <a:rPr sz="850" b="0">
                <a:solidFill>
                  <a:srgbClr val="1B2636"/>
                </a:solidFill>
                <a:latin typeface="Aptos Mono"/>
              </a:rPr>
              <a:t>git drs remote add anvil terra --checkout hydrate</a:t>
            </a:r>
          </a:p>
        </p:txBody>
      </p:sp>
      <p:sp>
        <p:nvSpPr>
          <p:cNvPr id="37" name="Rounded Rectangle 36"/>
          <p:cNvSpPr/>
          <p:nvPr/>
        </p:nvSpPr>
        <p:spPr>
          <a:xfrm>
            <a:off x="4334256" y="3419856"/>
            <a:ext cx="3675887" cy="1024128"/>
          </a:xfrm>
          <a:prstGeom prst="roundRect">
            <a:avLst/>
          </a:prstGeom>
          <a:solidFill>
            <a:srgbClr val="F7FCF7"/>
          </a:solidFill>
          <a:ln w="12700">
            <a:solidFill>
              <a:srgbClr val="A3D1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517136" y="3547872"/>
            <a:ext cx="283464" cy="283464"/>
          </a:xfrm>
          <a:prstGeom prst="ellipse">
            <a:avLst/>
          </a:prstGeom>
          <a:solidFill>
            <a:srgbClr val="1A8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17136" y="3547872"/>
            <a:ext cx="283464" cy="283464"/>
          </a:xfrm>
          <a:prstGeom prst="rect">
            <a:avLst/>
          </a:prstGeom>
          <a:noFill/>
        </p:spPr>
        <p:txBody>
          <a:bodyPr wrap="square" anchor="ctr">
            <a:spAutoFit/>
          </a:bodyPr>
          <a:lstStyle/>
          <a:p>
            <a:pPr algn="ctr"/>
            <a:r>
              <a:rPr sz="1200" b="1">
                <a:solidFill>
                  <a:srgbClr val="FFFFFF"/>
                </a:solidFill>
                <a:latin typeface="Aptos"/>
              </a:rPr>
              <a:t>⚙</a:t>
            </a:r>
          </a:p>
        </p:txBody>
      </p:sp>
      <p:sp>
        <p:nvSpPr>
          <p:cNvPr id="40" name="TextBox 39"/>
          <p:cNvSpPr txBox="1"/>
          <p:nvPr/>
        </p:nvSpPr>
        <p:spPr>
          <a:xfrm>
            <a:off x="4892040" y="3502152"/>
            <a:ext cx="2514600" cy="228600"/>
          </a:xfrm>
          <a:prstGeom prst="rect">
            <a:avLst/>
          </a:prstGeom>
          <a:noFill/>
        </p:spPr>
        <p:txBody>
          <a:bodyPr wrap="square" anchor="ctr">
            <a:spAutoFit/>
          </a:bodyPr>
          <a:lstStyle/>
          <a:p>
            <a:pPr algn="l"/>
            <a:r>
              <a:rPr sz="1050" b="1">
                <a:solidFill>
                  <a:srgbClr val="1A8234"/>
                </a:solidFill>
                <a:latin typeface="Aptos"/>
              </a:rPr>
              <a:t>This enables git-drs to:</a:t>
            </a:r>
          </a:p>
        </p:txBody>
      </p:sp>
      <p:sp>
        <p:nvSpPr>
          <p:cNvPr id="41" name="TextBox 40"/>
          <p:cNvSpPr txBox="1"/>
          <p:nvPr/>
        </p:nvSpPr>
        <p:spPr>
          <a:xfrm>
            <a:off x="4846320" y="3758184"/>
            <a:ext cx="201168" cy="182880"/>
          </a:xfrm>
          <a:prstGeom prst="rect">
            <a:avLst/>
          </a:prstGeom>
          <a:noFill/>
        </p:spPr>
        <p:txBody>
          <a:bodyPr wrap="square" anchor="ctr">
            <a:spAutoFit/>
          </a:bodyPr>
          <a:lstStyle/>
          <a:p>
            <a:pPr algn="ctr"/>
            <a:r>
              <a:rPr sz="1000" b="1">
                <a:solidFill>
                  <a:srgbClr val="1A8234"/>
                </a:solidFill>
                <a:latin typeface="Aptos"/>
              </a:rPr>
              <a:t>✓</a:t>
            </a:r>
          </a:p>
        </p:txBody>
      </p:sp>
      <p:sp>
        <p:nvSpPr>
          <p:cNvPr id="42" name="TextBox 41"/>
          <p:cNvSpPr txBox="1"/>
          <p:nvPr/>
        </p:nvSpPr>
        <p:spPr>
          <a:xfrm>
            <a:off x="5074920" y="3739896"/>
            <a:ext cx="2697480" cy="201168"/>
          </a:xfrm>
          <a:prstGeom prst="rect">
            <a:avLst/>
          </a:prstGeom>
          <a:noFill/>
        </p:spPr>
        <p:txBody>
          <a:bodyPr wrap="square" anchor="ctr">
            <a:spAutoFit/>
          </a:bodyPr>
          <a:lstStyle/>
          <a:p>
            <a:pPr algn="l"/>
            <a:r>
              <a:rPr sz="860" b="0">
                <a:solidFill>
                  <a:srgbClr val="1B2636"/>
                </a:solidFill>
                <a:latin typeface="Aptos"/>
              </a:rPr>
              <a:t>Resolve DRS URIs via the AnVILResolver</a:t>
            </a:r>
          </a:p>
        </p:txBody>
      </p:sp>
      <p:sp>
        <p:nvSpPr>
          <p:cNvPr id="43" name="TextBox 42"/>
          <p:cNvSpPr txBox="1"/>
          <p:nvPr/>
        </p:nvSpPr>
        <p:spPr>
          <a:xfrm>
            <a:off x="4846320" y="3977640"/>
            <a:ext cx="201168" cy="182880"/>
          </a:xfrm>
          <a:prstGeom prst="rect">
            <a:avLst/>
          </a:prstGeom>
          <a:noFill/>
        </p:spPr>
        <p:txBody>
          <a:bodyPr wrap="square" anchor="ctr">
            <a:spAutoFit/>
          </a:bodyPr>
          <a:lstStyle/>
          <a:p>
            <a:pPr algn="ctr"/>
            <a:r>
              <a:rPr sz="1000" b="1">
                <a:solidFill>
                  <a:srgbClr val="1A8234"/>
                </a:solidFill>
                <a:latin typeface="Aptos"/>
              </a:rPr>
              <a:t>✓</a:t>
            </a:r>
          </a:p>
        </p:txBody>
      </p:sp>
      <p:sp>
        <p:nvSpPr>
          <p:cNvPr id="44" name="TextBox 43"/>
          <p:cNvSpPr txBox="1"/>
          <p:nvPr/>
        </p:nvSpPr>
        <p:spPr>
          <a:xfrm>
            <a:off x="5074920" y="3959352"/>
            <a:ext cx="2697480" cy="201168"/>
          </a:xfrm>
          <a:prstGeom prst="rect">
            <a:avLst/>
          </a:prstGeom>
          <a:noFill/>
        </p:spPr>
        <p:txBody>
          <a:bodyPr wrap="square" anchor="ctr">
            <a:spAutoFit/>
          </a:bodyPr>
          <a:lstStyle/>
          <a:p>
            <a:pPr algn="l"/>
            <a:r>
              <a:rPr sz="860" b="0">
                <a:solidFill>
                  <a:srgbClr val="1B2636"/>
                </a:solidFill>
                <a:latin typeface="Aptos"/>
              </a:rPr>
              <a:t>Request fresh access tokens via Google ADC</a:t>
            </a:r>
          </a:p>
        </p:txBody>
      </p:sp>
      <p:sp>
        <p:nvSpPr>
          <p:cNvPr id="45" name="TextBox 44"/>
          <p:cNvSpPr txBox="1"/>
          <p:nvPr/>
        </p:nvSpPr>
        <p:spPr>
          <a:xfrm>
            <a:off x="4846320" y="4197096"/>
            <a:ext cx="201168" cy="182880"/>
          </a:xfrm>
          <a:prstGeom prst="rect">
            <a:avLst/>
          </a:prstGeom>
          <a:noFill/>
        </p:spPr>
        <p:txBody>
          <a:bodyPr wrap="square" anchor="ctr">
            <a:spAutoFit/>
          </a:bodyPr>
          <a:lstStyle/>
          <a:p>
            <a:pPr algn="ctr"/>
            <a:r>
              <a:rPr sz="1000" b="1">
                <a:solidFill>
                  <a:srgbClr val="1A8234"/>
                </a:solidFill>
                <a:latin typeface="Aptos"/>
              </a:rPr>
              <a:t>✓</a:t>
            </a:r>
          </a:p>
        </p:txBody>
      </p:sp>
      <p:sp>
        <p:nvSpPr>
          <p:cNvPr id="46" name="TextBox 45"/>
          <p:cNvSpPr txBox="1"/>
          <p:nvPr/>
        </p:nvSpPr>
        <p:spPr>
          <a:xfrm>
            <a:off x="5074920" y="4178808"/>
            <a:ext cx="2697480" cy="201168"/>
          </a:xfrm>
          <a:prstGeom prst="rect">
            <a:avLst/>
          </a:prstGeom>
          <a:noFill/>
        </p:spPr>
        <p:txBody>
          <a:bodyPr wrap="square" anchor="ctr">
            <a:spAutoFit/>
          </a:bodyPr>
          <a:lstStyle/>
          <a:p>
            <a:pPr algn="l"/>
            <a:r>
              <a:rPr sz="860" b="0">
                <a:solidFill>
                  <a:srgbClr val="1B2636"/>
                </a:solidFill>
                <a:latin typeface="Aptos"/>
              </a:rPr>
              <a:t>Verify file checksums during download</a:t>
            </a:r>
          </a:p>
        </p:txBody>
      </p:sp>
      <p:sp>
        <p:nvSpPr>
          <p:cNvPr id="47" name="Rounded Rectangle 46"/>
          <p:cNvSpPr/>
          <p:nvPr/>
        </p:nvSpPr>
        <p:spPr>
          <a:xfrm>
            <a:off x="8394192" y="1965960"/>
            <a:ext cx="3218688" cy="1307592"/>
          </a:xfrm>
          <a:prstGeom prst="roundRect">
            <a:avLst/>
          </a:prstGeom>
          <a:solidFill>
            <a:srgbClr val="FBF8FE"/>
          </a:solidFill>
          <a:ln w="12700">
            <a:solidFill>
              <a:srgbClr val="C3A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577072" y="2093976"/>
            <a:ext cx="2834640" cy="192024"/>
          </a:xfrm>
          <a:prstGeom prst="rect">
            <a:avLst/>
          </a:prstGeom>
          <a:noFill/>
        </p:spPr>
        <p:txBody>
          <a:bodyPr wrap="square" anchor="ctr">
            <a:spAutoFit/>
          </a:bodyPr>
          <a:lstStyle/>
          <a:p>
            <a:pPr algn="l"/>
            <a:r>
              <a:rPr sz="880" b="1">
                <a:solidFill>
                  <a:srgbClr val="4B2396"/>
                </a:solidFill>
                <a:latin typeface="Aptos Mono"/>
              </a:rPr>
              <a:t># Download all authorized TSV files</a:t>
            </a:r>
          </a:p>
        </p:txBody>
      </p:sp>
      <p:sp>
        <p:nvSpPr>
          <p:cNvPr id="49" name="TextBox 48"/>
          <p:cNvSpPr txBox="1"/>
          <p:nvPr/>
        </p:nvSpPr>
        <p:spPr>
          <a:xfrm>
            <a:off x="8577072" y="2322576"/>
            <a:ext cx="2834640" cy="192024"/>
          </a:xfrm>
          <a:prstGeom prst="rect">
            <a:avLst/>
          </a:prstGeom>
          <a:noFill/>
        </p:spPr>
        <p:txBody>
          <a:bodyPr wrap="square" anchor="ctr">
            <a:spAutoFit/>
          </a:bodyPr>
          <a:lstStyle/>
          <a:p>
            <a:pPr algn="l"/>
            <a:r>
              <a:rPr sz="880" b="0">
                <a:solidFill>
                  <a:srgbClr val="1B2636"/>
                </a:solidFill>
                <a:latin typeface="Aptos Mono"/>
              </a:rPr>
              <a:t>git drs pull -I "*.tsv"</a:t>
            </a:r>
          </a:p>
        </p:txBody>
      </p:sp>
      <p:sp>
        <p:nvSpPr>
          <p:cNvPr id="50" name="TextBox 49"/>
          <p:cNvSpPr txBox="1"/>
          <p:nvPr/>
        </p:nvSpPr>
        <p:spPr>
          <a:xfrm>
            <a:off x="8577072" y="2551176"/>
            <a:ext cx="2834640" cy="192024"/>
          </a:xfrm>
          <a:prstGeom prst="rect">
            <a:avLst/>
          </a:prstGeom>
          <a:noFill/>
        </p:spPr>
        <p:txBody>
          <a:bodyPr wrap="square" anchor="ctr">
            <a:spAutoFit/>
          </a:bodyPr>
          <a:lstStyle/>
          <a:p>
            <a:pPr algn="l"/>
            <a:endParaRPr/>
          </a:p>
        </p:txBody>
      </p:sp>
      <p:sp>
        <p:nvSpPr>
          <p:cNvPr id="51" name="TextBox 50"/>
          <p:cNvSpPr txBox="1"/>
          <p:nvPr/>
        </p:nvSpPr>
        <p:spPr>
          <a:xfrm>
            <a:off x="8577072" y="2779776"/>
            <a:ext cx="2834640" cy="192024"/>
          </a:xfrm>
          <a:prstGeom prst="rect">
            <a:avLst/>
          </a:prstGeom>
          <a:noFill/>
        </p:spPr>
        <p:txBody>
          <a:bodyPr wrap="square" anchor="ctr">
            <a:spAutoFit/>
          </a:bodyPr>
          <a:lstStyle/>
          <a:p>
            <a:pPr algn="l"/>
            <a:r>
              <a:rPr sz="880" b="1">
                <a:solidFill>
                  <a:srgbClr val="4B2396"/>
                </a:solidFill>
                <a:latin typeface="Aptos Mono"/>
              </a:rPr>
              <a:t># Or hydrate only a specific subset</a:t>
            </a:r>
          </a:p>
        </p:txBody>
      </p:sp>
      <p:sp>
        <p:nvSpPr>
          <p:cNvPr id="52" name="TextBox 51"/>
          <p:cNvSpPr txBox="1"/>
          <p:nvPr/>
        </p:nvSpPr>
        <p:spPr>
          <a:xfrm>
            <a:off x="8577072" y="3008376"/>
            <a:ext cx="2834640" cy="192024"/>
          </a:xfrm>
          <a:prstGeom prst="rect">
            <a:avLst/>
          </a:prstGeom>
          <a:noFill/>
        </p:spPr>
        <p:txBody>
          <a:bodyPr wrap="square" anchor="ctr">
            <a:spAutoFit/>
          </a:bodyPr>
          <a:lstStyle/>
          <a:p>
            <a:pPr algn="l"/>
            <a:r>
              <a:rPr sz="880" b="0">
                <a:solidFill>
                  <a:srgbClr val="1B2636"/>
                </a:solidFill>
                <a:latin typeface="Aptos Mono"/>
              </a:rPr>
              <a:t>git drs pull -I "sample.tsv"</a:t>
            </a:r>
          </a:p>
        </p:txBody>
      </p:sp>
      <p:sp>
        <p:nvSpPr>
          <p:cNvPr id="53" name="Rectangle 52"/>
          <p:cNvSpPr/>
          <p:nvPr/>
        </p:nvSpPr>
        <p:spPr>
          <a:xfrm>
            <a:off x="8430768" y="3456432"/>
            <a:ext cx="868680" cy="941832"/>
          </a:xfrm>
          <a:prstGeom prst="rect">
            <a:avLst/>
          </a:prstGeom>
          <a:solidFill>
            <a:srgbClr val="FFFFFF"/>
          </a:solidFill>
          <a:ln>
            <a:solidFill>
              <a:srgbClr val="505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485632" y="3685032"/>
            <a:ext cx="749808" cy="210312"/>
          </a:xfrm>
          <a:prstGeom prst="rect">
            <a:avLst/>
          </a:prstGeom>
          <a:noFill/>
        </p:spPr>
        <p:txBody>
          <a:bodyPr wrap="square" anchor="ctr">
            <a:spAutoFit/>
          </a:bodyPr>
          <a:lstStyle/>
          <a:p>
            <a:pPr algn="ctr"/>
            <a:r>
              <a:rPr sz="850" b="1">
                <a:solidFill>
                  <a:srgbClr val="1B2636"/>
                </a:solidFill>
                <a:latin typeface="Aptos"/>
              </a:rPr>
              <a:t>sample.tsv</a:t>
            </a:r>
          </a:p>
        </p:txBody>
      </p:sp>
      <p:sp>
        <p:nvSpPr>
          <p:cNvPr id="55" name="TextBox 54"/>
          <p:cNvSpPr txBox="1"/>
          <p:nvPr/>
        </p:nvSpPr>
        <p:spPr>
          <a:xfrm>
            <a:off x="8485632" y="3941063"/>
            <a:ext cx="749808" cy="310896"/>
          </a:xfrm>
          <a:prstGeom prst="rect">
            <a:avLst/>
          </a:prstGeom>
          <a:noFill/>
        </p:spPr>
        <p:txBody>
          <a:bodyPr wrap="square" anchor="ctr">
            <a:spAutoFit/>
          </a:bodyPr>
          <a:lstStyle/>
          <a:p>
            <a:pPr algn="ctr"/>
            <a:r>
              <a:rPr sz="750" b="0">
                <a:solidFill>
                  <a:srgbClr val="505E6E"/>
                </a:solidFill>
                <a:latin typeface="Aptos"/>
              </a:rPr>
              <a:t>DRS POINTER</a:t>
            </a:r>
            <a:br/>
            <a:r>
              <a:rPr sz="750" b="0">
                <a:solidFill>
                  <a:srgbClr val="505E6E"/>
                </a:solidFill>
                <a:latin typeface="Aptos"/>
              </a:rPr>
              <a:t>(not data)</a:t>
            </a:r>
          </a:p>
        </p:txBody>
      </p:sp>
      <p:cxnSp>
        <p:nvCxnSpPr>
          <p:cNvPr id="56" name="Connector 55"/>
          <p:cNvCxnSpPr/>
          <p:nvPr/>
        </p:nvCxnSpPr>
        <p:spPr>
          <a:xfrm>
            <a:off x="9308592" y="3886200"/>
            <a:ext cx="320040" cy="0"/>
          </a:xfrm>
          <a:prstGeom prst="line">
            <a:avLst/>
          </a:prstGeom>
          <a:ln w="19050">
            <a:solidFill>
              <a:srgbClr val="4B2396"/>
            </a:solidFill>
          </a:ln>
        </p:spPr>
        <p:style>
          <a:lnRef idx="2">
            <a:schemeClr val="accent1"/>
          </a:lnRef>
          <a:fillRef idx="0">
            <a:schemeClr val="accent1"/>
          </a:fillRef>
          <a:effectRef idx="1">
            <a:schemeClr val="accent1"/>
          </a:effectRef>
          <a:fontRef idx="minor">
            <a:schemeClr val="tx1"/>
          </a:fontRef>
        </p:style>
      </p:cxnSp>
      <p:sp>
        <p:nvSpPr>
          <p:cNvPr id="57" name="Hexagon 56"/>
          <p:cNvSpPr/>
          <p:nvPr/>
        </p:nvSpPr>
        <p:spPr>
          <a:xfrm>
            <a:off x="9646920" y="3621024"/>
            <a:ext cx="658368" cy="548640"/>
          </a:xfrm>
          <a:prstGeom prst="hexagon">
            <a:avLst/>
          </a:prstGeom>
          <a:solidFill>
            <a:srgbClr val="1A8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646920" y="3712463"/>
            <a:ext cx="658368" cy="256032"/>
          </a:xfrm>
          <a:prstGeom prst="rect">
            <a:avLst/>
          </a:prstGeom>
          <a:noFill/>
        </p:spPr>
        <p:txBody>
          <a:bodyPr wrap="square" anchor="ctr">
            <a:spAutoFit/>
          </a:bodyPr>
          <a:lstStyle/>
          <a:p>
            <a:pPr algn="ctr"/>
            <a:r>
              <a:rPr sz="800" b="1">
                <a:solidFill>
                  <a:srgbClr val="FFFFFF"/>
                </a:solidFill>
                <a:latin typeface="Aptos"/>
              </a:rPr>
              <a:t>git-drs</a:t>
            </a:r>
          </a:p>
        </p:txBody>
      </p:sp>
      <p:sp>
        <p:nvSpPr>
          <p:cNvPr id="59" name="TextBox 58"/>
          <p:cNvSpPr txBox="1"/>
          <p:nvPr/>
        </p:nvSpPr>
        <p:spPr>
          <a:xfrm>
            <a:off x="9528048" y="4206240"/>
            <a:ext cx="914400" cy="310896"/>
          </a:xfrm>
          <a:prstGeom prst="rect">
            <a:avLst/>
          </a:prstGeom>
          <a:noFill/>
        </p:spPr>
        <p:txBody>
          <a:bodyPr wrap="square" anchor="ctr">
            <a:spAutoFit/>
          </a:bodyPr>
          <a:lstStyle/>
          <a:p>
            <a:pPr algn="ctr"/>
            <a:r>
              <a:rPr sz="750" b="1">
                <a:solidFill>
                  <a:srgbClr val="1B2636"/>
                </a:solidFill>
                <a:latin typeface="Aptos"/>
              </a:rPr>
              <a:t>Terra / AnVIL</a:t>
            </a:r>
            <a:br/>
            <a:r>
              <a:rPr sz="750" b="1">
                <a:solidFill>
                  <a:srgbClr val="1B2636"/>
                </a:solidFill>
                <a:latin typeface="Aptos"/>
              </a:rPr>
              <a:t>DRS</a:t>
            </a:r>
          </a:p>
        </p:txBody>
      </p:sp>
      <p:cxnSp>
        <p:nvCxnSpPr>
          <p:cNvPr id="60" name="Connector 59"/>
          <p:cNvCxnSpPr/>
          <p:nvPr/>
        </p:nvCxnSpPr>
        <p:spPr>
          <a:xfrm>
            <a:off x="10332720" y="3886200"/>
            <a:ext cx="310896" cy="0"/>
          </a:xfrm>
          <a:prstGeom prst="line">
            <a:avLst/>
          </a:prstGeom>
          <a:ln w="19050">
            <a:solidFill>
              <a:srgbClr val="4B2396"/>
            </a:solidFill>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0661904" y="3456432"/>
            <a:ext cx="868680" cy="941832"/>
          </a:xfrm>
          <a:prstGeom prst="rect">
            <a:avLst/>
          </a:prstGeom>
          <a:solidFill>
            <a:srgbClr val="FFFFFF"/>
          </a:solidFill>
          <a:ln>
            <a:solidFill>
              <a:srgbClr val="4B23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0716768" y="3675887"/>
            <a:ext cx="749808" cy="210312"/>
          </a:xfrm>
          <a:prstGeom prst="rect">
            <a:avLst/>
          </a:prstGeom>
          <a:noFill/>
        </p:spPr>
        <p:txBody>
          <a:bodyPr wrap="square" anchor="ctr">
            <a:spAutoFit/>
          </a:bodyPr>
          <a:lstStyle/>
          <a:p>
            <a:pPr algn="ctr"/>
            <a:r>
              <a:rPr sz="850" b="1">
                <a:solidFill>
                  <a:srgbClr val="1B2636"/>
                </a:solidFill>
                <a:latin typeface="Aptos"/>
              </a:rPr>
              <a:t>sample.tsv</a:t>
            </a:r>
          </a:p>
        </p:txBody>
      </p:sp>
      <p:sp>
        <p:nvSpPr>
          <p:cNvPr id="63" name="TextBox 62"/>
          <p:cNvSpPr txBox="1"/>
          <p:nvPr/>
        </p:nvSpPr>
        <p:spPr>
          <a:xfrm>
            <a:off x="10716768" y="3941063"/>
            <a:ext cx="749808" cy="310896"/>
          </a:xfrm>
          <a:prstGeom prst="rect">
            <a:avLst/>
          </a:prstGeom>
          <a:noFill/>
        </p:spPr>
        <p:txBody>
          <a:bodyPr wrap="square" anchor="ctr">
            <a:spAutoFit/>
          </a:bodyPr>
          <a:lstStyle/>
          <a:p>
            <a:pPr algn="ctr"/>
            <a:r>
              <a:rPr sz="750" b="1">
                <a:solidFill>
                  <a:srgbClr val="4B2396"/>
                </a:solidFill>
                <a:latin typeface="Aptos"/>
              </a:rPr>
              <a:t>HYDRATED</a:t>
            </a:r>
            <a:br/>
            <a:r>
              <a:rPr sz="750" b="1">
                <a:solidFill>
                  <a:srgbClr val="4B2396"/>
                </a:solidFill>
                <a:latin typeface="Aptos"/>
              </a:rPr>
              <a:t>(actual data)</a:t>
            </a:r>
          </a:p>
        </p:txBody>
      </p:sp>
      <p:sp>
        <p:nvSpPr>
          <p:cNvPr id="64" name="TextBox 63"/>
          <p:cNvSpPr txBox="1"/>
          <p:nvPr/>
        </p:nvSpPr>
        <p:spPr>
          <a:xfrm>
            <a:off x="10561320" y="4453128"/>
            <a:ext cx="1115568" cy="310896"/>
          </a:xfrm>
          <a:prstGeom prst="rect">
            <a:avLst/>
          </a:prstGeom>
          <a:noFill/>
        </p:spPr>
        <p:txBody>
          <a:bodyPr wrap="square" anchor="ctr">
            <a:spAutoFit/>
          </a:bodyPr>
          <a:lstStyle/>
          <a:p>
            <a:pPr algn="ctr"/>
            <a:r>
              <a:rPr sz="750" b="0">
                <a:solidFill>
                  <a:srgbClr val="4B2396"/>
                </a:solidFill>
                <a:latin typeface="Aptos"/>
              </a:rPr>
              <a:t>Hydrated files in</a:t>
            </a:r>
            <a:br/>
            <a:r>
              <a:rPr sz="750" b="0">
                <a:solidFill>
                  <a:srgbClr val="4B2396"/>
                </a:solidFill>
                <a:latin typeface="Aptos"/>
              </a:rPr>
              <a:t>your worktree</a:t>
            </a:r>
          </a:p>
        </p:txBody>
      </p:sp>
      <p:sp>
        <p:nvSpPr>
          <p:cNvPr id="91" name="Rounded Rectangle 90"/>
          <p:cNvSpPr/>
          <p:nvPr/>
        </p:nvSpPr>
        <p:spPr>
          <a:xfrm>
            <a:off x="658368" y="6144768"/>
            <a:ext cx="10954512" cy="475488"/>
          </a:xfrm>
          <a:prstGeom prst="roundRect">
            <a:avLst/>
          </a:prstGeom>
          <a:solidFill>
            <a:srgbClr val="FFFBF1"/>
          </a:solidFill>
          <a:ln w="12700">
            <a:solidFill>
              <a:srgbClr val="E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896112" y="6245352"/>
            <a:ext cx="256032" cy="256032"/>
          </a:xfrm>
          <a:prstGeom prst="ellipse">
            <a:avLst/>
          </a:prstGeom>
          <a:solidFill>
            <a:srgbClr val="F7A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896112" y="6245352"/>
            <a:ext cx="256032" cy="256032"/>
          </a:xfrm>
          <a:prstGeom prst="rect">
            <a:avLst/>
          </a:prstGeom>
          <a:noFill/>
        </p:spPr>
        <p:txBody>
          <a:bodyPr wrap="square" anchor="ctr">
            <a:spAutoFit/>
          </a:bodyPr>
          <a:lstStyle/>
          <a:p>
            <a:pPr algn="ctr"/>
            <a:r>
              <a:rPr sz="1100" b="1">
                <a:solidFill>
                  <a:srgbClr val="FFFFFF"/>
                </a:solidFill>
                <a:latin typeface="Aptos"/>
              </a:rPr>
              <a:t>✓</a:t>
            </a:r>
          </a:p>
        </p:txBody>
      </p:sp>
      <p:sp>
        <p:nvSpPr>
          <p:cNvPr id="94" name="TextBox 93"/>
          <p:cNvSpPr txBox="1"/>
          <p:nvPr/>
        </p:nvSpPr>
        <p:spPr>
          <a:xfrm>
            <a:off x="1298448" y="6181344"/>
            <a:ext cx="2377440" cy="201168"/>
          </a:xfrm>
          <a:prstGeom prst="rect">
            <a:avLst/>
          </a:prstGeom>
          <a:noFill/>
        </p:spPr>
        <p:txBody>
          <a:bodyPr wrap="square" anchor="ctr">
            <a:spAutoFit/>
          </a:bodyPr>
          <a:lstStyle/>
          <a:p>
            <a:pPr algn="l"/>
            <a:r>
              <a:rPr sz="1050" b="1">
                <a:solidFill>
                  <a:srgbClr val="165DBE"/>
                </a:solidFill>
                <a:latin typeface="Aptos"/>
              </a:rPr>
              <a:t>Security &amp; Integrity by Design:</a:t>
            </a:r>
          </a:p>
        </p:txBody>
      </p:sp>
      <p:sp>
        <p:nvSpPr>
          <p:cNvPr id="95" name="TextBox 94"/>
          <p:cNvSpPr txBox="1"/>
          <p:nvPr/>
        </p:nvSpPr>
        <p:spPr>
          <a:xfrm>
            <a:off x="3584448" y="6181344"/>
            <a:ext cx="7726679" cy="310896"/>
          </a:xfrm>
          <a:prstGeom prst="rect">
            <a:avLst/>
          </a:prstGeom>
          <a:noFill/>
        </p:spPr>
        <p:txBody>
          <a:bodyPr wrap="square" anchor="ctr">
            <a:spAutoFit/>
          </a:bodyPr>
          <a:lstStyle/>
          <a:p>
            <a:pPr algn="l"/>
            <a:r>
              <a:rPr sz="930" b="0">
                <a:solidFill>
                  <a:srgbClr val="061C4D"/>
                </a:solidFill>
                <a:latin typeface="Aptos"/>
              </a:rPr>
              <a:t>Every clone recreates its own configuration and obtains fresh tokens. Data is downloaded securely, verified, and hydrated only after validation.</a:t>
            </a:r>
          </a:p>
        </p:txBody>
      </p:sp>
      <p:pic>
        <p:nvPicPr>
          <p:cNvPr id="96" name="Picture 95">
            <a:extLst>
              <a:ext uri="{FF2B5EF4-FFF2-40B4-BE49-F238E27FC236}">
                <a16:creationId xmlns:a16="http://schemas.microsoft.com/office/drawing/2014/main" id="{6A3D039A-6FCD-C9C8-71C0-B547F6D723C2}"/>
              </a:ext>
            </a:extLst>
          </p:cNvPr>
          <p:cNvPicPr>
            <a:picLocks noChangeAspect="1"/>
          </p:cNvPicPr>
          <p:nvPr/>
        </p:nvPicPr>
        <p:blipFill>
          <a:blip r:embed="rId2"/>
          <a:stretch>
            <a:fillRect/>
          </a:stretch>
        </p:blipFill>
        <p:spPr>
          <a:xfrm>
            <a:off x="1874520" y="4815496"/>
            <a:ext cx="7772400" cy="105346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477054"/>
          </a:xfrm>
          <a:prstGeom prst="rect">
            <a:avLst/>
          </a:prstGeom>
          <a:noFill/>
        </p:spPr>
        <p:txBody>
          <a:bodyPr wrap="square">
            <a:spAutoFit/>
          </a:bodyPr>
          <a:lstStyle/>
          <a:p>
            <a:pPr algn="l">
              <a:spcAft>
                <a:spcPts val="300"/>
              </a:spcAft>
              <a:defRPr sz="2800" b="1">
                <a:solidFill>
                  <a:srgbClr val="10253E"/>
                </a:solidFill>
              </a:defRPr>
            </a:pPr>
            <a:r>
              <a:rPr lang="en-US" sz="2500" b="1" dirty="0">
                <a:solidFill>
                  <a:srgbClr val="14304A"/>
                </a:solidFill>
                <a:highlight>
                  <a:srgbClr val="FFFF00"/>
                </a:highlight>
                <a:latin typeface="Aptos"/>
              </a:rPr>
              <a:t>TALKING POINTS: </a:t>
            </a:r>
            <a:r>
              <a:rPr sz="2500" b="1" dirty="0">
                <a:solidFill>
                  <a:srgbClr val="14304A"/>
                </a:solidFill>
                <a:latin typeface="Aptos"/>
              </a:rPr>
              <a:t>One reference model, four perspectives</a:t>
            </a:r>
          </a:p>
        </p:txBody>
      </p:sp>
      <p:sp>
        <p:nvSpPr>
          <p:cNvPr id="3" name="Rounded Rectangle 2"/>
          <p:cNvSpPr/>
          <p:nvPr/>
        </p:nvSpPr>
        <p:spPr>
          <a:xfrm>
            <a:off x="640080" y="1645920"/>
            <a:ext cx="4846320" cy="1645920"/>
          </a:xfrm>
          <a:prstGeom prst="roundRect">
            <a:avLst/>
          </a:prstGeom>
          <a:solidFill>
            <a:srgbClr val="FFFFFF"/>
          </a:solidFill>
          <a:ln w="17780">
            <a:solidFill>
              <a:srgbClr val="97C1D6"/>
            </a:solidFill>
          </a:ln>
          <a:effectLst/>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spcAft>
                <a:spcPts val="300"/>
              </a:spcAft>
              <a:defRPr sz="1800" b="1">
                <a:solidFill>
                  <a:srgbClr val="10253E"/>
                </a:solidFill>
              </a:defRPr>
            </a:pPr>
            <a:r>
              <a:rPr sz="1400" b="0" dirty="0">
                <a:solidFill>
                  <a:srgbClr val="273746"/>
                </a:solidFill>
                <a:latin typeface="Aptos"/>
              </a:rPr>
              <a:t>Data reference author</a:t>
            </a:r>
          </a:p>
          <a:p>
            <a:pPr algn="ctr">
              <a:spcAft>
                <a:spcPts val="300"/>
              </a:spcAft>
              <a:defRPr sz="1300">
                <a:solidFill>
                  <a:srgbClr val="152334"/>
                </a:solidFill>
              </a:defRPr>
            </a:pPr>
            <a:r>
              <a:rPr sz="1400" b="0" dirty="0">
                <a:solidFill>
                  <a:srgbClr val="273746"/>
                </a:solidFill>
                <a:latin typeface="Aptos"/>
              </a:rPr>
              <a:t>Publish a reviewable, versioned dataset layout without downloading payloads.</a:t>
            </a:r>
          </a:p>
        </p:txBody>
      </p:sp>
      <p:sp>
        <p:nvSpPr>
          <p:cNvPr id="4" name="Rounded Rectangle 3"/>
          <p:cNvSpPr/>
          <p:nvPr/>
        </p:nvSpPr>
        <p:spPr>
          <a:xfrm>
            <a:off x="6309360" y="1645920"/>
            <a:ext cx="4846320" cy="1645920"/>
          </a:xfrm>
          <a:prstGeom prst="roundRect">
            <a:avLst/>
          </a:prstGeom>
          <a:solidFill>
            <a:srgbClr val="FFFFFF"/>
          </a:solidFill>
          <a:ln w="17780">
            <a:solidFill>
              <a:srgbClr val="97C1D6"/>
            </a:solidFill>
          </a:ln>
          <a:effectLst/>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spcAft>
                <a:spcPts val="300"/>
              </a:spcAft>
              <a:defRPr sz="1800" b="1">
                <a:solidFill>
                  <a:srgbClr val="10253E"/>
                </a:solidFill>
              </a:defRPr>
            </a:pPr>
            <a:r>
              <a:rPr sz="1400" b="0">
                <a:solidFill>
                  <a:srgbClr val="273746"/>
                </a:solidFill>
                <a:latin typeface="Aptos"/>
              </a:rPr>
              <a:t>Data consumer</a:t>
            </a:r>
          </a:p>
          <a:p>
            <a:pPr algn="ctr">
              <a:spcAft>
                <a:spcPts val="300"/>
              </a:spcAft>
              <a:defRPr sz="1300">
                <a:solidFill>
                  <a:srgbClr val="152334"/>
                </a:solidFill>
              </a:defRPr>
            </a:pPr>
            <a:r>
              <a:rPr sz="1400" b="0">
                <a:solidFill>
                  <a:srgbClr val="273746"/>
                </a:solidFill>
                <a:latin typeface="Aptos"/>
              </a:rPr>
              <a:t>Clone pointers, authenticate independently, then hydrate everything or selected paths.</a:t>
            </a:r>
          </a:p>
        </p:txBody>
      </p:sp>
      <p:sp>
        <p:nvSpPr>
          <p:cNvPr id="5" name="Rounded Rectangle 4"/>
          <p:cNvSpPr/>
          <p:nvPr/>
        </p:nvSpPr>
        <p:spPr>
          <a:xfrm>
            <a:off x="640080" y="3931920"/>
            <a:ext cx="4846320" cy="1645920"/>
          </a:xfrm>
          <a:prstGeom prst="roundRect">
            <a:avLst/>
          </a:prstGeom>
          <a:solidFill>
            <a:srgbClr val="FFFFFF"/>
          </a:solidFill>
          <a:ln w="17780">
            <a:solidFill>
              <a:srgbClr val="97C1D6"/>
            </a:solidFill>
          </a:ln>
          <a:effectLst/>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spcAft>
                <a:spcPts val="300"/>
              </a:spcAft>
              <a:defRPr sz="1800" b="1">
                <a:solidFill>
                  <a:srgbClr val="10253E"/>
                </a:solidFill>
              </a:defRPr>
            </a:pPr>
            <a:r>
              <a:rPr sz="1400" b="0">
                <a:solidFill>
                  <a:srgbClr val="273746"/>
                </a:solidFill>
                <a:latin typeface="Aptos"/>
              </a:rPr>
              <a:t>Unauthorized reader</a:t>
            </a:r>
          </a:p>
          <a:p>
            <a:pPr algn="ctr">
              <a:spcAft>
                <a:spcPts val="300"/>
              </a:spcAft>
              <a:defRPr sz="1300">
                <a:solidFill>
                  <a:srgbClr val="152334"/>
                </a:solidFill>
              </a:defRPr>
            </a:pPr>
            <a:r>
              <a:rPr sz="1400" b="0">
                <a:solidFill>
                  <a:srgbClr val="273746"/>
                </a:solidFill>
                <a:latin typeface="Aptos"/>
              </a:rPr>
              <a:t>Inspect repository history but receive a clear denial when attempting controlled-data hydration.</a:t>
            </a:r>
          </a:p>
        </p:txBody>
      </p:sp>
      <p:sp>
        <p:nvSpPr>
          <p:cNvPr id="6" name="Rounded Rectangle 5"/>
          <p:cNvSpPr/>
          <p:nvPr/>
        </p:nvSpPr>
        <p:spPr>
          <a:xfrm>
            <a:off x="6309360" y="3931920"/>
            <a:ext cx="4846320" cy="1645920"/>
          </a:xfrm>
          <a:prstGeom prst="roundRect">
            <a:avLst/>
          </a:prstGeom>
          <a:solidFill>
            <a:srgbClr val="FFFFFF"/>
          </a:solidFill>
          <a:ln w="17780">
            <a:solidFill>
              <a:srgbClr val="97C1D6"/>
            </a:solidFill>
          </a:ln>
          <a:effectLst/>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spcAft>
                <a:spcPts val="300"/>
              </a:spcAft>
              <a:defRPr sz="1800" b="1">
                <a:solidFill>
                  <a:srgbClr val="10253E"/>
                </a:solidFill>
              </a:defRPr>
            </a:pPr>
            <a:r>
              <a:rPr sz="1400" b="0">
                <a:solidFill>
                  <a:srgbClr val="273746"/>
                </a:solidFill>
                <a:latin typeface="Aptos"/>
              </a:rPr>
              <a:t>Repository maintainer</a:t>
            </a:r>
          </a:p>
          <a:p>
            <a:pPr algn="ctr">
              <a:spcAft>
                <a:spcPts val="300"/>
              </a:spcAft>
              <a:defRPr sz="1300">
                <a:solidFill>
                  <a:srgbClr val="152334"/>
                </a:solidFill>
              </a:defRPr>
            </a:pPr>
            <a:r>
              <a:rPr sz="1400" b="0">
                <a:solidFill>
                  <a:srgbClr val="273746"/>
                </a:solidFill>
                <a:latin typeface="Aptos"/>
              </a:rPr>
              <a:t>Review deterministic pointers, diagnose provider failures, and run clean-clone acceptance tests.</a:t>
            </a:r>
          </a:p>
        </p:txBody>
      </p:sp>
      <p:sp>
        <p:nvSpPr>
          <p:cNvPr id="7" name="TextBox 6"/>
          <p:cNvSpPr txBox="1"/>
          <p:nvPr/>
        </p:nvSpPr>
        <p:spPr>
          <a:xfrm>
            <a:off x="731520" y="5577840"/>
            <a:ext cx="10789920" cy="548640"/>
          </a:xfrm>
          <a:prstGeom prst="rect">
            <a:avLst/>
          </a:prstGeom>
          <a:noFill/>
        </p:spPr>
        <p:txBody>
          <a:bodyPr wrap="square" lIns="8" tIns="6" rIns="8" bIns="6">
            <a:spAutoFit/>
          </a:bodyPr>
          <a:lstStyle/>
          <a:p>
            <a:pPr algn="l">
              <a:spcAft>
                <a:spcPts val="300"/>
              </a:spcAft>
              <a:defRPr sz="1400" b="0">
                <a:solidFill>
                  <a:srgbClr val="10253E"/>
                </a:solidFill>
                <a:latin typeface="Aptos"/>
              </a:defRPr>
            </a:pPr>
            <a:r>
              <a:rPr sz="1450" b="0">
                <a:solidFill>
                  <a:srgbClr val="273746"/>
                </a:solidFill>
                <a:latin typeface="Aptos"/>
              </a:rPr>
              <a:t>Out of scope: uploads, record mutation, provider copying, remote GC, and workspace-table sync.</a:t>
            </a:r>
          </a:p>
        </p:txBody>
      </p:sp>
      <p:sp>
        <p:nvSpPr>
          <p:cNvPr id="8" name="Rectangle 7"/>
          <p:cNvSpPr/>
          <p:nvPr/>
        </p:nvSpPr>
        <p:spPr>
          <a:xfrm>
            <a:off x="548640" y="960120"/>
            <a:ext cx="1143000" cy="54864"/>
          </a:xfrm>
          <a:prstGeom prst="rect">
            <a:avLst/>
          </a:prstGeom>
          <a:solidFill>
            <a:srgbClr val="21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881360" y="6510528"/>
            <a:ext cx="731520" cy="182880"/>
          </a:xfrm>
          <a:prstGeom prst="rect">
            <a:avLst/>
          </a:prstGeom>
          <a:noFill/>
        </p:spPr>
        <p:txBody>
          <a:bodyPr wrap="square">
            <a:spAutoFit/>
          </a:bodyPr>
          <a:lstStyle/>
          <a:p>
            <a:pPr algn="r">
              <a:spcAft>
                <a:spcPts val="300"/>
              </a:spcAft>
            </a:pPr>
            <a:r>
              <a:rPr sz="1800" b="1">
                <a:solidFill>
                  <a:srgbClr val="14304A"/>
                </a:solidFill>
                <a:latin typeface="Aptos"/>
              </a:rPr>
              <a:t>06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640080"/>
          </a:xfrm>
          <a:prstGeom prst="rect">
            <a:avLst/>
          </a:prstGeom>
          <a:noFill/>
        </p:spPr>
        <p:txBody>
          <a:bodyPr wrap="square">
            <a:spAutoFit/>
          </a:bodyPr>
          <a:lstStyle/>
          <a:p>
            <a:pPr algn="l">
              <a:spcAft>
                <a:spcPts val="300"/>
              </a:spcAft>
              <a:defRPr sz="2800" b="1">
                <a:solidFill>
                  <a:srgbClr val="10253E"/>
                </a:solidFill>
              </a:defRPr>
            </a:pPr>
            <a:r>
              <a:rPr sz="2500" b="1">
                <a:solidFill>
                  <a:srgbClr val="14304A"/>
                </a:solidFill>
                <a:latin typeface="Aptos"/>
              </a:rPr>
              <a:t>A clean clone plus explicit remote setup</a:t>
            </a:r>
          </a:p>
        </p:txBody>
      </p:sp>
      <p:sp>
        <p:nvSpPr>
          <p:cNvPr id="3" name="TextBox 2"/>
          <p:cNvSpPr txBox="1"/>
          <p:nvPr/>
        </p:nvSpPr>
        <p:spPr>
          <a:xfrm>
            <a:off x="640080" y="1371600"/>
            <a:ext cx="5669280" cy="4480560"/>
          </a:xfrm>
          <a:prstGeom prst="rect">
            <a:avLst/>
          </a:prstGeom>
          <a:solidFill>
            <a:srgbClr val="F2F6F9"/>
          </a:solidFill>
          <a:ln w="12700">
            <a:solidFill>
              <a:srgbClr val="E0E8EF"/>
            </a:solidFill>
          </a:ln>
        </p:spPr>
        <p:txBody>
          <a:bodyPr wrap="square" lIns="109728" tIns="73152" rIns="109728" bIns="73152">
            <a:spAutoFit/>
          </a:bodyPr>
          <a:lstStyle/>
          <a:p>
            <a:pPr>
              <a:spcAft>
                <a:spcPts val="300"/>
              </a:spcAft>
              <a:defRPr sz="1400">
                <a:solidFill>
                  <a:srgbClr val="152334"/>
                </a:solidFill>
                <a:latin typeface="Consolas"/>
              </a:defRPr>
            </a:pPr>
            <a:r>
              <a:rPr sz="1200" b="0" dirty="0" err="1">
                <a:solidFill>
                  <a:srgbClr val="273746"/>
                </a:solidFill>
                <a:latin typeface="Aptos Mono"/>
              </a:rPr>
              <a:t>gcloud</a:t>
            </a:r>
            <a:r>
              <a:rPr sz="1200" b="0" dirty="0">
                <a:solidFill>
                  <a:srgbClr val="273746"/>
                </a:solidFill>
                <a:latin typeface="Aptos Mono"/>
              </a:rPr>
              <a:t> auth application-default login</a:t>
            </a:r>
            <a:br>
              <a:rPr dirty="0"/>
            </a:br>
            <a:br>
              <a:rPr dirty="0"/>
            </a:br>
            <a:r>
              <a:rPr sz="1200" b="0" dirty="0">
                <a:solidFill>
                  <a:srgbClr val="273746"/>
                </a:solidFill>
                <a:latin typeface="Aptos Mono"/>
              </a:rPr>
              <a:t>git clone &lt;git-repository&gt;</a:t>
            </a:r>
            <a:br>
              <a:rPr dirty="0"/>
            </a:br>
            <a:r>
              <a:rPr sz="1200" b="0" dirty="0">
                <a:solidFill>
                  <a:srgbClr val="273746"/>
                </a:solidFill>
                <a:latin typeface="Aptos Mono"/>
              </a:rPr>
              <a:t>cd &lt;repository&gt;</a:t>
            </a:r>
            <a:br>
              <a:rPr dirty="0"/>
            </a:br>
            <a:br>
              <a:rPr dirty="0"/>
            </a:br>
            <a:r>
              <a:rPr sz="1200" b="0" dirty="0">
                <a:solidFill>
                  <a:srgbClr val="273746"/>
                </a:solidFill>
                <a:latin typeface="Aptos Mono"/>
              </a:rPr>
              <a:t># .git/config is not cloned; recreate public remote settings.</a:t>
            </a:r>
            <a:br>
              <a:rPr dirty="0"/>
            </a:br>
            <a:r>
              <a:rPr sz="1200" b="0" dirty="0">
                <a:solidFill>
                  <a:srgbClr val="273746"/>
                </a:solidFill>
                <a:latin typeface="Aptos Mono"/>
              </a:rPr>
              <a:t>git drs remote add anvil terra --checkout hydrate</a:t>
            </a:r>
            <a:br>
              <a:rPr dirty="0"/>
            </a:br>
            <a:br>
              <a:rPr dirty="0"/>
            </a:br>
            <a:r>
              <a:rPr sz="1200" b="0" dirty="0">
                <a:solidFill>
                  <a:srgbClr val="273746"/>
                </a:solidFill>
                <a:latin typeface="Aptos Mono"/>
              </a:rPr>
              <a:t># Hydrate every authorized reference</a:t>
            </a:r>
            <a:br>
              <a:rPr dirty="0"/>
            </a:br>
            <a:r>
              <a:rPr sz="1200" b="0" dirty="0">
                <a:solidFill>
                  <a:srgbClr val="273746"/>
                </a:solidFill>
                <a:latin typeface="Aptos Mono"/>
              </a:rPr>
              <a:t>git drs pull</a:t>
            </a:r>
            <a:br>
              <a:rPr dirty="0"/>
            </a:br>
            <a:br>
              <a:rPr dirty="0"/>
            </a:br>
            <a:r>
              <a:rPr sz="1200" b="0" dirty="0">
                <a:solidFill>
                  <a:srgbClr val="273746"/>
                </a:solidFill>
                <a:latin typeface="Aptos Mono"/>
              </a:rPr>
              <a:t># Or only one dataset slice</a:t>
            </a:r>
            <a:br>
              <a:rPr dirty="0"/>
            </a:br>
            <a:r>
              <a:rPr sz="1200" b="0" dirty="0">
                <a:solidFill>
                  <a:srgbClr val="273746"/>
                </a:solidFill>
                <a:latin typeface="Aptos Mono"/>
              </a:rPr>
              <a:t>git drs pull -I "data/*.cram"</a:t>
            </a:r>
          </a:p>
        </p:txBody>
      </p:sp>
      <p:sp>
        <p:nvSpPr>
          <p:cNvPr id="4" name="TextBox 3"/>
          <p:cNvSpPr txBox="1"/>
          <p:nvPr/>
        </p:nvSpPr>
        <p:spPr>
          <a:xfrm>
            <a:off x="731520" y="5303520"/>
            <a:ext cx="5577840" cy="223150"/>
          </a:xfrm>
          <a:prstGeom prst="rect">
            <a:avLst/>
          </a:prstGeom>
          <a:noFill/>
        </p:spPr>
        <p:txBody>
          <a:bodyPr wrap="square" lIns="8" tIns="6" rIns="8" bIns="6">
            <a:spAutoFit/>
          </a:bodyPr>
          <a:lstStyle/>
          <a:p>
            <a:pPr algn="l">
              <a:spcAft>
                <a:spcPts val="300"/>
              </a:spcAft>
              <a:defRPr sz="1300" b="0">
                <a:solidFill>
                  <a:srgbClr val="1D70A2"/>
                </a:solidFill>
                <a:latin typeface="Aptos"/>
              </a:defRPr>
            </a:pPr>
            <a:r>
              <a:rPr sz="1450" b="0" dirty="0">
                <a:solidFill>
                  <a:srgbClr val="273746"/>
                </a:solidFill>
                <a:latin typeface="Aptos"/>
              </a:rPr>
              <a:t>No </a:t>
            </a:r>
            <a:r>
              <a:rPr lang="en-US" sz="1450" b="0" dirty="0">
                <a:solidFill>
                  <a:srgbClr val="273746"/>
                </a:solidFill>
                <a:latin typeface="Aptos"/>
              </a:rPr>
              <a:t>data, </a:t>
            </a:r>
            <a:r>
              <a:rPr sz="1450" b="0" dirty="0">
                <a:solidFill>
                  <a:srgbClr val="273746"/>
                </a:solidFill>
                <a:latin typeface="Aptos"/>
              </a:rPr>
              <a:t> Git config, token, or signed URL is </a:t>
            </a:r>
            <a:r>
              <a:rPr lang="en-US" sz="1450" dirty="0">
                <a:solidFill>
                  <a:srgbClr val="273746"/>
                </a:solidFill>
                <a:latin typeface="Aptos"/>
              </a:rPr>
              <a:t>shared</a:t>
            </a:r>
            <a:endParaRPr sz="1450" b="0" dirty="0">
              <a:solidFill>
                <a:srgbClr val="273746"/>
              </a:solidFill>
              <a:latin typeface="Aptos"/>
            </a:endParaRPr>
          </a:p>
        </p:txBody>
      </p:sp>
      <p:graphicFrame>
        <p:nvGraphicFramePr>
          <p:cNvPr id="5" name="Table 4"/>
          <p:cNvGraphicFramePr>
            <a:graphicFrameLocks noGrp="1"/>
          </p:cNvGraphicFramePr>
          <p:nvPr/>
        </p:nvGraphicFramePr>
        <p:xfrm>
          <a:off x="6675120" y="1554480"/>
          <a:ext cx="4937760" cy="292608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487680">
                <a:tc>
                  <a:txBody>
                    <a:bodyPr/>
                    <a:lstStyle/>
                    <a:p>
                      <a:pPr>
                        <a:defRPr sz="1400" b="1">
                          <a:solidFill>
                            <a:srgbClr val="FFFFFF"/>
                          </a:solidFill>
                        </a:defRPr>
                      </a:pPr>
                      <a:r>
                        <a:rPr sz="1200" b="1">
                          <a:solidFill>
                            <a:srgbClr val="FFFFFF"/>
                          </a:solidFill>
                          <a:latin typeface="Aptos"/>
                        </a:rPr>
                        <a:t>Stage</a:t>
                      </a:r>
                    </a:p>
                  </a:txBody>
                  <a:tcPr marL="54864" marR="54864" marT="36576" marB="36576">
                    <a:solidFill>
                      <a:srgbClr val="14304A"/>
                    </a:solidFill>
                  </a:tcPr>
                </a:tc>
                <a:tc>
                  <a:txBody>
                    <a:bodyPr/>
                    <a:lstStyle/>
                    <a:p>
                      <a:pPr>
                        <a:defRPr sz="1400" b="1">
                          <a:solidFill>
                            <a:srgbClr val="FFFFFF"/>
                          </a:solidFill>
                        </a:defRPr>
                      </a:pPr>
                      <a:r>
                        <a:rPr sz="1200" b="1">
                          <a:solidFill>
                            <a:srgbClr val="FFFFFF"/>
                          </a:solidFill>
                          <a:latin typeface="Aptos"/>
                        </a:rPr>
                        <a:t>Action</a:t>
                      </a:r>
                    </a:p>
                  </a:txBody>
                  <a:tcPr marL="54864" marR="54864" marT="36576" marB="36576">
                    <a:solidFill>
                      <a:srgbClr val="14304A"/>
                    </a:solidFill>
                  </a:tcPr>
                </a:tc>
                <a:extLst>
                  <a:ext uri="{0D108BD9-81ED-4DB2-BD59-A6C34878D82A}">
                    <a16:rowId xmlns:a16="http://schemas.microsoft.com/office/drawing/2014/main" val="10000"/>
                  </a:ext>
                </a:extLst>
              </a:tr>
              <a:tr h="487680">
                <a:tc>
                  <a:txBody>
                    <a:bodyPr/>
                    <a:lstStyle/>
                    <a:p>
                      <a:pPr>
                        <a:defRPr sz="1200">
                          <a:solidFill>
                            <a:srgbClr val="152334"/>
                          </a:solidFill>
                        </a:defRPr>
                      </a:pPr>
                      <a:r>
                        <a:rPr sz="1200" b="0">
                          <a:solidFill>
                            <a:srgbClr val="273746"/>
                          </a:solidFill>
                          <a:latin typeface="Aptos"/>
                        </a:rPr>
                        <a:t>Git</a:t>
                      </a:r>
                    </a:p>
                  </a:txBody>
                  <a:tcPr marL="54864" marR="54864" marT="36576" marB="36576">
                    <a:solidFill>
                      <a:srgbClr val="FFFFFF"/>
                    </a:solidFill>
                  </a:tcPr>
                </a:tc>
                <a:tc>
                  <a:txBody>
                    <a:bodyPr/>
                    <a:lstStyle/>
                    <a:p>
                      <a:pPr>
                        <a:defRPr sz="1200">
                          <a:solidFill>
                            <a:srgbClr val="152334"/>
                          </a:solidFill>
                        </a:defRPr>
                      </a:pPr>
                      <a:r>
                        <a:rPr sz="1200" b="0">
                          <a:solidFill>
                            <a:srgbClr val="273746"/>
                          </a:solidFill>
                          <a:latin typeface="Aptos"/>
                        </a:rPr>
                        <a:t>Clone pointer and .gitattributes</a:t>
                      </a:r>
                    </a:p>
                  </a:txBody>
                  <a:tcPr marL="54864" marR="54864" marT="36576" marB="36576">
                    <a:solidFill>
                      <a:srgbClr val="FFFFFF"/>
                    </a:solidFill>
                  </a:tcPr>
                </a:tc>
                <a:extLst>
                  <a:ext uri="{0D108BD9-81ED-4DB2-BD59-A6C34878D82A}">
                    <a16:rowId xmlns:a16="http://schemas.microsoft.com/office/drawing/2014/main" val="10001"/>
                  </a:ext>
                </a:extLst>
              </a:tr>
              <a:tr h="487680">
                <a:tc>
                  <a:txBody>
                    <a:bodyPr/>
                    <a:lstStyle/>
                    <a:p>
                      <a:pPr>
                        <a:defRPr sz="1200">
                          <a:solidFill>
                            <a:srgbClr val="152334"/>
                          </a:solidFill>
                        </a:defRPr>
                      </a:pPr>
                      <a:r>
                        <a:rPr sz="1200" b="0">
                          <a:solidFill>
                            <a:srgbClr val="273746"/>
                          </a:solidFill>
                          <a:latin typeface="Aptos"/>
                        </a:rPr>
                        <a:t>User B</a:t>
                      </a:r>
                    </a:p>
                  </a:txBody>
                  <a:tcPr marL="54864" marR="54864" marT="36576" marB="36576">
                    <a:solidFill>
                      <a:srgbClr val="FFFFFF"/>
                    </a:solidFill>
                  </a:tcPr>
                </a:tc>
                <a:tc>
                  <a:txBody>
                    <a:bodyPr/>
                    <a:lstStyle/>
                    <a:p>
                      <a:pPr>
                        <a:defRPr sz="1200">
                          <a:solidFill>
                            <a:srgbClr val="152334"/>
                          </a:solidFill>
                        </a:defRPr>
                      </a:pPr>
                      <a:r>
                        <a:rPr sz="1200" b="0">
                          <a:solidFill>
                            <a:srgbClr val="273746"/>
                          </a:solidFill>
                          <a:latin typeface="Aptos"/>
                        </a:rPr>
                        <a:t>Configure remote; supply ADC; choose paths</a:t>
                      </a:r>
                    </a:p>
                  </a:txBody>
                  <a:tcPr marL="54864" marR="54864" marT="36576" marB="36576">
                    <a:solidFill>
                      <a:srgbClr val="FFFFFF"/>
                    </a:solidFill>
                  </a:tcPr>
                </a:tc>
                <a:extLst>
                  <a:ext uri="{0D108BD9-81ED-4DB2-BD59-A6C34878D82A}">
                    <a16:rowId xmlns:a16="http://schemas.microsoft.com/office/drawing/2014/main" val="10002"/>
                  </a:ext>
                </a:extLst>
              </a:tr>
              <a:tr h="487680">
                <a:tc>
                  <a:txBody>
                    <a:bodyPr/>
                    <a:lstStyle/>
                    <a:p>
                      <a:pPr>
                        <a:defRPr sz="1200">
                          <a:solidFill>
                            <a:srgbClr val="152334"/>
                          </a:solidFill>
                        </a:defRPr>
                      </a:pPr>
                      <a:r>
                        <a:rPr sz="1200" b="0">
                          <a:solidFill>
                            <a:srgbClr val="273746"/>
                          </a:solidFill>
                          <a:latin typeface="Aptos"/>
                        </a:rPr>
                        <a:t>Resolver</a:t>
                      </a:r>
                    </a:p>
                  </a:txBody>
                  <a:tcPr marL="54864" marR="54864" marT="36576" marB="36576">
                    <a:solidFill>
                      <a:srgbClr val="FFFFFF"/>
                    </a:solidFill>
                  </a:tcPr>
                </a:tc>
                <a:tc>
                  <a:txBody>
                    <a:bodyPr/>
                    <a:lstStyle/>
                    <a:p>
                      <a:pPr>
                        <a:defRPr sz="1200">
                          <a:solidFill>
                            <a:srgbClr val="152334"/>
                          </a:solidFill>
                        </a:defRPr>
                      </a:pPr>
                      <a:r>
                        <a:rPr sz="1200" b="0">
                          <a:solidFill>
                            <a:srgbClr val="273746"/>
                          </a:solidFill>
                          <a:latin typeface="Aptos"/>
                        </a:rPr>
                        <a:t>Fetch current metadata and fresh access</a:t>
                      </a:r>
                    </a:p>
                  </a:txBody>
                  <a:tcPr marL="54864" marR="54864" marT="36576" marB="36576">
                    <a:solidFill>
                      <a:srgbClr val="FFFFFF"/>
                    </a:solidFill>
                  </a:tcPr>
                </a:tc>
                <a:extLst>
                  <a:ext uri="{0D108BD9-81ED-4DB2-BD59-A6C34878D82A}">
                    <a16:rowId xmlns:a16="http://schemas.microsoft.com/office/drawing/2014/main" val="10003"/>
                  </a:ext>
                </a:extLst>
              </a:tr>
              <a:tr h="487680">
                <a:tc>
                  <a:txBody>
                    <a:bodyPr/>
                    <a:lstStyle/>
                    <a:p>
                      <a:pPr>
                        <a:defRPr sz="1200">
                          <a:solidFill>
                            <a:srgbClr val="152334"/>
                          </a:solidFill>
                        </a:defRPr>
                      </a:pPr>
                      <a:r>
                        <a:rPr sz="1200" b="0">
                          <a:solidFill>
                            <a:srgbClr val="273746"/>
                          </a:solidFill>
                          <a:latin typeface="Aptos"/>
                        </a:rPr>
                        <a:t>Cache</a:t>
                      </a:r>
                    </a:p>
                  </a:txBody>
                  <a:tcPr marL="54864" marR="54864" marT="36576" marB="36576">
                    <a:solidFill>
                      <a:srgbClr val="FFFFFF"/>
                    </a:solidFill>
                  </a:tcPr>
                </a:tc>
                <a:tc>
                  <a:txBody>
                    <a:bodyPr/>
                    <a:lstStyle/>
                    <a:p>
                      <a:pPr>
                        <a:defRPr sz="1200">
                          <a:solidFill>
                            <a:srgbClr val="152334"/>
                          </a:solidFill>
                        </a:defRPr>
                      </a:pPr>
                      <a:r>
                        <a:rPr sz="1200" b="0">
                          <a:solidFill>
                            <a:srgbClr val="273746"/>
                          </a:solidFill>
                          <a:latin typeface="Aptos"/>
                        </a:rPr>
                        <a:t>Download, verify, atomically promote</a:t>
                      </a:r>
                    </a:p>
                  </a:txBody>
                  <a:tcPr marL="54864" marR="54864" marT="36576" marB="36576">
                    <a:solidFill>
                      <a:srgbClr val="FFFFFF"/>
                    </a:solidFill>
                  </a:tcPr>
                </a:tc>
                <a:extLst>
                  <a:ext uri="{0D108BD9-81ED-4DB2-BD59-A6C34878D82A}">
                    <a16:rowId xmlns:a16="http://schemas.microsoft.com/office/drawing/2014/main" val="10004"/>
                  </a:ext>
                </a:extLst>
              </a:tr>
              <a:tr h="487680">
                <a:tc>
                  <a:txBody>
                    <a:bodyPr/>
                    <a:lstStyle/>
                    <a:p>
                      <a:pPr>
                        <a:defRPr sz="1200">
                          <a:solidFill>
                            <a:srgbClr val="152334"/>
                          </a:solidFill>
                        </a:defRPr>
                      </a:pPr>
                      <a:r>
                        <a:rPr sz="1200" b="0">
                          <a:solidFill>
                            <a:srgbClr val="273746"/>
                          </a:solidFill>
                          <a:latin typeface="Aptos"/>
                        </a:rPr>
                        <a:t>Worktree</a:t>
                      </a:r>
                    </a:p>
                  </a:txBody>
                  <a:tcPr marL="54864" marR="54864" marT="36576" marB="36576">
                    <a:solidFill>
                      <a:srgbClr val="FFFFFF"/>
                    </a:solidFill>
                  </a:tcPr>
                </a:tc>
                <a:tc>
                  <a:txBody>
                    <a:bodyPr/>
                    <a:lstStyle/>
                    <a:p>
                      <a:pPr>
                        <a:defRPr sz="1200">
                          <a:solidFill>
                            <a:srgbClr val="152334"/>
                          </a:solidFill>
                        </a:defRPr>
                      </a:pPr>
                      <a:r>
                        <a:rPr sz="1200" b="0">
                          <a:solidFill>
                            <a:srgbClr val="273746"/>
                          </a:solidFill>
                          <a:latin typeface="Aptos"/>
                        </a:rPr>
                        <a:t>Hydrate only after validation</a:t>
                      </a:r>
                    </a:p>
                  </a:txBody>
                  <a:tcPr marL="54864" marR="54864" marT="36576" marB="36576">
                    <a:solidFill>
                      <a:srgbClr val="FFFFFF"/>
                    </a:solidFill>
                  </a:tcPr>
                </a:tc>
                <a:extLst>
                  <a:ext uri="{0D108BD9-81ED-4DB2-BD59-A6C34878D82A}">
                    <a16:rowId xmlns:a16="http://schemas.microsoft.com/office/drawing/2014/main" val="10005"/>
                  </a:ext>
                </a:extLst>
              </a:tr>
            </a:tbl>
          </a:graphicData>
        </a:graphic>
      </p:graphicFrame>
      <p:sp>
        <p:nvSpPr>
          <p:cNvPr id="6" name="Rectangle 5"/>
          <p:cNvSpPr/>
          <p:nvPr/>
        </p:nvSpPr>
        <p:spPr>
          <a:xfrm>
            <a:off x="548640" y="960120"/>
            <a:ext cx="1143000" cy="54864"/>
          </a:xfrm>
          <a:prstGeom prst="rect">
            <a:avLst/>
          </a:prstGeom>
          <a:solidFill>
            <a:srgbClr val="21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881360" y="6510528"/>
            <a:ext cx="731520" cy="182880"/>
          </a:xfrm>
          <a:prstGeom prst="rect">
            <a:avLst/>
          </a:prstGeom>
          <a:noFill/>
        </p:spPr>
        <p:txBody>
          <a:bodyPr wrap="square">
            <a:spAutoFit/>
          </a:bodyPr>
          <a:lstStyle/>
          <a:p>
            <a:pPr algn="r">
              <a:spcAft>
                <a:spcPts val="300"/>
              </a:spcAft>
            </a:pPr>
            <a:r>
              <a:rPr sz="1800" b="1">
                <a:solidFill>
                  <a:srgbClr val="14304A"/>
                </a:solidFill>
                <a:latin typeface="Aptos"/>
              </a:rPr>
              <a:t>08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640080"/>
          </a:xfrm>
          <a:prstGeom prst="rect">
            <a:avLst/>
          </a:prstGeom>
          <a:noFill/>
        </p:spPr>
        <p:txBody>
          <a:bodyPr wrap="square">
            <a:spAutoFit/>
          </a:bodyPr>
          <a:lstStyle/>
          <a:p>
            <a:pPr algn="l">
              <a:spcAft>
                <a:spcPts val="300"/>
              </a:spcAft>
              <a:defRPr sz="2800" b="1">
                <a:solidFill>
                  <a:srgbClr val="10253E"/>
                </a:solidFill>
              </a:defRPr>
            </a:pPr>
            <a:r>
              <a:rPr sz="2500" b="1">
                <a:solidFill>
                  <a:srgbClr val="14304A"/>
                </a:solidFill>
                <a:latin typeface="Aptos"/>
              </a:rPr>
              <a:t>AnVIL manifest to pointer-only GitHub repo</a:t>
            </a:r>
          </a:p>
        </p:txBody>
      </p:sp>
      <p:sp>
        <p:nvSpPr>
          <p:cNvPr id="3" name="TextBox 2"/>
          <p:cNvSpPr txBox="1"/>
          <p:nvPr/>
        </p:nvSpPr>
        <p:spPr>
          <a:xfrm>
            <a:off x="731520" y="1280160"/>
            <a:ext cx="5212080" cy="640080"/>
          </a:xfrm>
          <a:prstGeom prst="rect">
            <a:avLst/>
          </a:prstGeom>
          <a:noFill/>
        </p:spPr>
        <p:txBody>
          <a:bodyPr wrap="square" lIns="8" tIns="6" rIns="8" bIns="6">
            <a:spAutoFit/>
          </a:bodyPr>
          <a:lstStyle/>
          <a:p>
            <a:pPr algn="l">
              <a:spcAft>
                <a:spcPts val="300"/>
              </a:spcAft>
              <a:defRPr sz="1900" b="1">
                <a:solidFill>
                  <a:srgbClr val="10253E"/>
                </a:solidFill>
                <a:latin typeface="Aptos"/>
              </a:defRPr>
            </a:pPr>
            <a:r>
              <a:rPr sz="1800" b="1">
                <a:solidFill>
                  <a:srgbClr val="14304A"/>
                </a:solidFill>
                <a:latin typeface="Aptos"/>
              </a:rPr>
              <a:t>1. Configure and add references</a:t>
            </a:r>
          </a:p>
        </p:txBody>
      </p:sp>
      <p:sp>
        <p:nvSpPr>
          <p:cNvPr id="4" name="TextBox 3"/>
          <p:cNvSpPr txBox="1"/>
          <p:nvPr/>
        </p:nvSpPr>
        <p:spPr>
          <a:xfrm>
            <a:off x="731520" y="1828800"/>
            <a:ext cx="5303520" cy="1097280"/>
          </a:xfrm>
          <a:prstGeom prst="rect">
            <a:avLst/>
          </a:prstGeom>
          <a:noFill/>
        </p:spPr>
        <p:txBody>
          <a:bodyPr wrap="square" lIns="8" tIns="6" rIns="8" bIns="6">
            <a:spAutoFit/>
          </a:bodyPr>
          <a:lstStyle/>
          <a:p>
            <a:pPr algn="l">
              <a:spcAft>
                <a:spcPts val="300"/>
              </a:spcAft>
              <a:defRPr sz="1500" b="0">
                <a:solidFill>
                  <a:srgbClr val="152334"/>
                </a:solidFill>
                <a:latin typeface="Aptos"/>
              </a:defRPr>
            </a:pPr>
            <a:r>
              <a:rPr sz="1450" b="0">
                <a:solidFill>
                  <a:srgbClr val="273746"/>
                </a:solidFill>
                <a:latin typeface="Aptos"/>
              </a:rPr>
              <a:t>Select the dataset in the AnVIL Data Explorer, then download the manifest.</a:t>
            </a:r>
          </a:p>
        </p:txBody>
      </p:sp>
      <p:sp>
        <p:nvSpPr>
          <p:cNvPr id="5" name="TextBox 4"/>
          <p:cNvSpPr txBox="1"/>
          <p:nvPr/>
        </p:nvSpPr>
        <p:spPr>
          <a:xfrm>
            <a:off x="640080" y="3017520"/>
            <a:ext cx="5394960" cy="2560320"/>
          </a:xfrm>
          <a:prstGeom prst="rect">
            <a:avLst/>
          </a:prstGeom>
          <a:solidFill>
            <a:srgbClr val="F2F6F9"/>
          </a:solidFill>
          <a:ln w="12700">
            <a:solidFill>
              <a:srgbClr val="E0E8EF"/>
            </a:solidFill>
          </a:ln>
        </p:spPr>
        <p:txBody>
          <a:bodyPr wrap="square" lIns="109728" tIns="73152" rIns="109728" bIns="73152">
            <a:spAutoFit/>
          </a:bodyPr>
          <a:lstStyle/>
          <a:p>
            <a:pPr>
              <a:spcAft>
                <a:spcPts val="300"/>
              </a:spcAft>
              <a:defRPr sz="1300">
                <a:solidFill>
                  <a:srgbClr val="152334"/>
                </a:solidFill>
                <a:latin typeface="Consolas"/>
              </a:defRPr>
            </a:pPr>
            <a:r>
              <a:rPr sz="1200" b="0">
                <a:solidFill>
                  <a:srgbClr val="273746"/>
                </a:solidFill>
                <a:latin typeface="Aptos Mono"/>
              </a:rPr>
              <a:t>git init</a:t>
            </a:r>
            <a:br/>
            <a:r>
              <a:rPr sz="1200" b="0">
                <a:solidFill>
                  <a:srgbClr val="273746"/>
                </a:solidFill>
                <a:latin typeface="Aptos Mono"/>
              </a:rPr>
              <a:t>git drs remote add anvil terra</a:t>
            </a:r>
            <a:br/>
            <a:br/>
            <a:r>
              <a:rPr sz="1200" b="0">
                <a:solidFill>
                  <a:srgbClr val="273746"/>
                </a:solidFill>
                <a:latin typeface="Aptos Mono"/>
              </a:rPr>
              <a:t># Download the TSV from AnVIL Data Explorer first.</a:t>
            </a:r>
            <a:br/>
            <a:r>
              <a:rPr sz="1200" b="0">
                <a:solidFill>
                  <a:srgbClr val="273746"/>
                </a:solidFill>
                <a:latin typeface="Aptos Mono"/>
              </a:rPr>
              <a:t>manifest=/tmp/anvil-manifest-38dc7537.tsv</a:t>
            </a:r>
            <a:br/>
            <a:r>
              <a:rPr sz="1200" b="0">
                <a:solidFill>
                  <a:srgbClr val="273746"/>
                </a:solidFill>
                <a:latin typeface="Aptos Mono"/>
              </a:rPr>
              <a:t>scripts/anvil-add-ref-commands.sh "$manifest" &gt; /tmp/add-anvil-refs.sh</a:t>
            </a:r>
            <a:br/>
            <a:r>
              <a:rPr sz="1200" b="0">
                <a:solidFill>
                  <a:srgbClr val="273746"/>
                </a:solidFill>
                <a:latin typeface="Aptos Mono"/>
              </a:rPr>
              <a:t>cat /tmp/add-anvil-refs.sh</a:t>
            </a:r>
            <a:br/>
            <a:r>
              <a:rPr sz="1200" b="0">
                <a:solidFill>
                  <a:srgbClr val="273746"/>
                </a:solidFill>
                <a:latin typeface="Aptos Mono"/>
              </a:rPr>
              <a:t>bash /tmp/add-anvil-refs.sh</a:t>
            </a:r>
          </a:p>
        </p:txBody>
      </p:sp>
      <p:sp>
        <p:nvSpPr>
          <p:cNvPr id="6" name="TextBox 5"/>
          <p:cNvSpPr txBox="1"/>
          <p:nvPr/>
        </p:nvSpPr>
        <p:spPr>
          <a:xfrm>
            <a:off x="6217920" y="1280160"/>
            <a:ext cx="5212080" cy="640080"/>
          </a:xfrm>
          <a:prstGeom prst="rect">
            <a:avLst/>
          </a:prstGeom>
          <a:noFill/>
        </p:spPr>
        <p:txBody>
          <a:bodyPr wrap="square" lIns="8" tIns="6" rIns="8" bIns="6">
            <a:spAutoFit/>
          </a:bodyPr>
          <a:lstStyle/>
          <a:p>
            <a:pPr algn="l">
              <a:spcAft>
                <a:spcPts val="300"/>
              </a:spcAft>
              <a:defRPr sz="1900" b="1">
                <a:solidFill>
                  <a:srgbClr val="10253E"/>
                </a:solidFill>
                <a:latin typeface="Aptos"/>
              </a:defRPr>
            </a:pPr>
            <a:r>
              <a:rPr sz="1800" b="1">
                <a:solidFill>
                  <a:srgbClr val="14304A"/>
                </a:solidFill>
                <a:latin typeface="Aptos"/>
              </a:rPr>
              <a:t>2. Commit, hydrate, and publish</a:t>
            </a:r>
          </a:p>
        </p:txBody>
      </p:sp>
      <p:sp>
        <p:nvSpPr>
          <p:cNvPr id="7" name="TextBox 6"/>
          <p:cNvSpPr txBox="1"/>
          <p:nvPr/>
        </p:nvSpPr>
        <p:spPr>
          <a:xfrm>
            <a:off x="6126480" y="3017520"/>
            <a:ext cx="5394960" cy="2560320"/>
          </a:xfrm>
          <a:prstGeom prst="rect">
            <a:avLst/>
          </a:prstGeom>
          <a:solidFill>
            <a:srgbClr val="F2F6F9"/>
          </a:solidFill>
          <a:ln w="12700">
            <a:solidFill>
              <a:srgbClr val="E0E8EF"/>
            </a:solidFill>
          </a:ln>
        </p:spPr>
        <p:txBody>
          <a:bodyPr wrap="square" lIns="109728" tIns="73152" rIns="109728" bIns="73152">
            <a:spAutoFit/>
          </a:bodyPr>
          <a:lstStyle/>
          <a:p>
            <a:pPr>
              <a:spcAft>
                <a:spcPts val="300"/>
              </a:spcAft>
              <a:defRPr sz="1300">
                <a:solidFill>
                  <a:srgbClr val="152334"/>
                </a:solidFill>
                <a:latin typeface="Consolas"/>
              </a:defRPr>
            </a:pPr>
            <a:r>
              <a:rPr sz="1200" b="0">
                <a:solidFill>
                  <a:srgbClr val="273746"/>
                </a:solidFill>
                <a:latin typeface="Aptos Mono"/>
              </a:rPr>
              <a:t>git add .gitattributes '*.tsv'</a:t>
            </a:r>
            <a:br/>
            <a:r>
              <a:rPr sz="1200" b="0">
                <a:solidFill>
                  <a:srgbClr val="273746"/>
                </a:solidFill>
                <a:latin typeface="Aptos Mono"/>
              </a:rPr>
              <a:t>git commit -m "Add references to AnVIL data"</a:t>
            </a:r>
            <a:br/>
            <a:br/>
            <a:r>
              <a:rPr sz="1200" b="0">
                <a:solidFill>
                  <a:srgbClr val="273746"/>
                </a:solidFill>
                <a:latin typeface="Aptos Mono"/>
              </a:rPr>
              <a:t># Materialize only TSVs locally.</a:t>
            </a:r>
            <a:br/>
            <a:r>
              <a:rPr sz="1200" b="0">
                <a:solidFill>
                  <a:srgbClr val="273746"/>
                </a:solidFill>
                <a:latin typeface="Aptos Mono"/>
              </a:rPr>
              <a:t>git drs pull -I "*.tsv"</a:t>
            </a:r>
            <a:br/>
            <a:r>
              <a:rPr sz="1200" b="0">
                <a:solidFill>
                  <a:srgbClr val="273746"/>
                </a:solidFill>
                <a:latin typeface="Aptos Mono"/>
              </a:rPr>
              <a:t>git status</a:t>
            </a:r>
            <a:br/>
            <a:br/>
            <a:r>
              <a:rPr sz="1200" b="0">
                <a:solidFill>
                  <a:srgbClr val="273746"/>
                </a:solidFill>
                <a:latin typeface="Aptos Mono"/>
              </a:rPr>
              <a:t>git branch -M main</a:t>
            </a:r>
            <a:br/>
            <a:r>
              <a:rPr sz="1200" b="0">
                <a:solidFill>
                  <a:srgbClr val="273746"/>
                </a:solidFill>
                <a:latin typeface="Aptos Mono"/>
              </a:rPr>
              <a:t>git remote add origin https://github.com/bwalsh/ANVIL_1000G_PRIMED_data_model.git</a:t>
            </a:r>
            <a:br/>
            <a:r>
              <a:rPr sz="1200" b="0">
                <a:solidFill>
                  <a:srgbClr val="273746"/>
                </a:solidFill>
                <a:latin typeface="Aptos Mono"/>
              </a:rPr>
              <a:t>git push -u origin main</a:t>
            </a:r>
          </a:p>
        </p:txBody>
      </p:sp>
      <p:sp>
        <p:nvSpPr>
          <p:cNvPr id="8" name="TextBox 7"/>
          <p:cNvSpPr txBox="1"/>
          <p:nvPr/>
        </p:nvSpPr>
        <p:spPr>
          <a:xfrm>
            <a:off x="731520" y="5760720"/>
            <a:ext cx="10698480" cy="548640"/>
          </a:xfrm>
          <a:prstGeom prst="rect">
            <a:avLst/>
          </a:prstGeom>
          <a:noFill/>
        </p:spPr>
        <p:txBody>
          <a:bodyPr wrap="square" lIns="8" tIns="6" rIns="8" bIns="6">
            <a:spAutoFit/>
          </a:bodyPr>
          <a:lstStyle/>
          <a:p>
            <a:pPr algn="l">
              <a:spcAft>
                <a:spcPts val="300"/>
              </a:spcAft>
              <a:defRPr sz="1300" b="0">
                <a:solidFill>
                  <a:srgbClr val="10253E"/>
                </a:solidFill>
                <a:latin typeface="Aptos"/>
              </a:defRPr>
            </a:pPr>
            <a:r>
              <a:rPr sz="1450" b="1">
                <a:solidFill>
                  <a:srgbClr val="14304A"/>
                </a:solidFill>
                <a:latin typeface="Aptos"/>
              </a:rPr>
              <a:t>Result: the worktree contains hydrated TSV data; GitHub contains only DRS pointers and .gitattributes. Every clone must configure its own Terra remote.</a:t>
            </a:r>
          </a:p>
        </p:txBody>
      </p:sp>
      <p:sp>
        <p:nvSpPr>
          <p:cNvPr id="9" name="Rectangle 8"/>
          <p:cNvSpPr/>
          <p:nvPr/>
        </p:nvSpPr>
        <p:spPr>
          <a:xfrm>
            <a:off x="548640" y="960120"/>
            <a:ext cx="1143000" cy="54864"/>
          </a:xfrm>
          <a:prstGeom prst="rect">
            <a:avLst/>
          </a:prstGeom>
          <a:solidFill>
            <a:srgbClr val="21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881360" y="6510528"/>
            <a:ext cx="731520" cy="182880"/>
          </a:xfrm>
          <a:prstGeom prst="rect">
            <a:avLst/>
          </a:prstGeom>
          <a:noFill/>
        </p:spPr>
        <p:txBody>
          <a:bodyPr wrap="square">
            <a:spAutoFit/>
          </a:bodyPr>
          <a:lstStyle/>
          <a:p>
            <a:pPr algn="r">
              <a:spcAft>
                <a:spcPts val="300"/>
              </a:spcAft>
            </a:pPr>
            <a:r>
              <a:rPr sz="1800" b="1">
                <a:solidFill>
                  <a:srgbClr val="14304A"/>
                </a:solidFill>
                <a:latin typeface="Aptos"/>
              </a:rPr>
              <a:t>09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640080"/>
          </a:xfrm>
          <a:prstGeom prst="rect">
            <a:avLst/>
          </a:prstGeom>
          <a:noFill/>
        </p:spPr>
        <p:txBody>
          <a:bodyPr wrap="square">
            <a:spAutoFit/>
          </a:bodyPr>
          <a:lstStyle/>
          <a:p>
            <a:pPr algn="l">
              <a:spcAft>
                <a:spcPts val="300"/>
              </a:spcAft>
              <a:defRPr sz="2800" b="1">
                <a:solidFill>
                  <a:srgbClr val="10253E"/>
                </a:solidFill>
              </a:defRPr>
            </a:pPr>
            <a:r>
              <a:rPr sz="2500" b="1">
                <a:solidFill>
                  <a:srgbClr val="14304A"/>
                </a:solidFill>
                <a:latin typeface="Aptos"/>
              </a:rPr>
              <a:t>Portable pointer + safe configuration</a:t>
            </a:r>
          </a:p>
        </p:txBody>
      </p:sp>
      <p:sp>
        <p:nvSpPr>
          <p:cNvPr id="3" name="TextBox 2"/>
          <p:cNvSpPr txBox="1"/>
          <p:nvPr/>
        </p:nvSpPr>
        <p:spPr>
          <a:xfrm>
            <a:off x="731520" y="1645920"/>
            <a:ext cx="4480560" cy="1463040"/>
          </a:xfrm>
          <a:prstGeom prst="rect">
            <a:avLst/>
          </a:prstGeom>
          <a:solidFill>
            <a:srgbClr val="F2F6F9"/>
          </a:solidFill>
          <a:ln w="12700">
            <a:solidFill>
              <a:srgbClr val="E0E8EF"/>
            </a:solidFill>
          </a:ln>
        </p:spPr>
        <p:txBody>
          <a:bodyPr wrap="square" lIns="109728" tIns="73152" rIns="109728" bIns="73152">
            <a:spAutoFit/>
          </a:bodyPr>
          <a:lstStyle/>
          <a:p>
            <a:pPr algn="l">
              <a:spcAft>
                <a:spcPts val="300"/>
              </a:spcAft>
              <a:defRPr sz="1400" b="0">
                <a:solidFill>
                  <a:srgbClr val="152334"/>
                </a:solidFill>
                <a:latin typeface="Aptos"/>
              </a:defRPr>
            </a:pPr>
            <a:r>
              <a:rPr sz="1200" b="0">
                <a:solidFill>
                  <a:srgbClr val="273746"/>
                </a:solidFill>
                <a:latin typeface="Aptos Mono"/>
              </a:rPr>
              <a:t>Tracked pointer</a:t>
            </a:r>
            <a:br/>
            <a:br/>
            <a:r>
              <a:rPr sz="1200" b="0">
                <a:solidFill>
                  <a:srgbClr val="273746"/>
                </a:solidFill>
                <a:latin typeface="Aptos Mono"/>
              </a:rPr>
              <a:t>version https://calypr.github.io/spec/v1</a:t>
            </a:r>
            <a:br/>
            <a:r>
              <a:rPr sz="1200" b="0">
                <a:solidFill>
                  <a:srgbClr val="273746"/>
                </a:solidFill>
                <a:latin typeface="Aptos Mono"/>
              </a:rPr>
              <a:t>oid drs://authority/object-1</a:t>
            </a:r>
            <a:br/>
            <a:r>
              <a:rPr sz="1200" b="0">
                <a:solidFill>
                  <a:srgbClr val="273746"/>
                </a:solidFill>
                <a:latin typeface="Aptos Mono"/>
              </a:rPr>
              <a:t>size 987654321</a:t>
            </a:r>
            <a:br/>
            <a:r>
              <a:rPr sz="1200" b="0">
                <a:solidFill>
                  <a:srgbClr val="273746"/>
                </a:solidFill>
                <a:latin typeface="Aptos Mono"/>
              </a:rPr>
              <a:t>sha256 8d969eef…</a:t>
            </a:r>
          </a:p>
        </p:txBody>
      </p:sp>
      <p:sp>
        <p:nvSpPr>
          <p:cNvPr id="4" name="TextBox 3"/>
          <p:cNvSpPr txBox="1"/>
          <p:nvPr/>
        </p:nvSpPr>
        <p:spPr>
          <a:xfrm>
            <a:off x="731520" y="3474720"/>
            <a:ext cx="4206240" cy="1097280"/>
          </a:xfrm>
          <a:prstGeom prst="rect">
            <a:avLst/>
          </a:prstGeom>
          <a:noFill/>
        </p:spPr>
        <p:txBody>
          <a:bodyPr wrap="square" lIns="8" tIns="6" rIns="8" bIns="6">
            <a:spAutoFit/>
          </a:bodyPr>
          <a:lstStyle/>
          <a:p>
            <a:pPr algn="l">
              <a:spcAft>
                <a:spcPts val="300"/>
              </a:spcAft>
              <a:defRPr sz="1500" b="0">
                <a:solidFill>
                  <a:srgbClr val="10253E"/>
                </a:solidFill>
                <a:latin typeface="Aptos"/>
              </a:defRPr>
            </a:pPr>
            <a:r>
              <a:rPr sz="1450" b="0">
                <a:solidFill>
                  <a:srgbClr val="273746"/>
                </a:solidFill>
                <a:latin typeface="Aptos"/>
              </a:rPr>
              <a:t>The DRS URI stays canonical. A checksum describes content; it does not identify the AnVIL record.</a:t>
            </a:r>
          </a:p>
        </p:txBody>
      </p:sp>
      <p:sp>
        <p:nvSpPr>
          <p:cNvPr id="5" name="TextBox 4"/>
          <p:cNvSpPr txBox="1"/>
          <p:nvPr/>
        </p:nvSpPr>
        <p:spPr>
          <a:xfrm>
            <a:off x="5669280" y="1645920"/>
            <a:ext cx="5669280" cy="1280160"/>
          </a:xfrm>
          <a:prstGeom prst="rect">
            <a:avLst/>
          </a:prstGeom>
          <a:solidFill>
            <a:srgbClr val="F2F6F9"/>
          </a:solidFill>
          <a:ln w="12700">
            <a:solidFill>
              <a:srgbClr val="E0E8EF"/>
            </a:solidFill>
          </a:ln>
        </p:spPr>
        <p:txBody>
          <a:bodyPr wrap="square" lIns="109728" tIns="73152" rIns="109728" bIns="73152">
            <a:spAutoFit/>
          </a:bodyPr>
          <a:lstStyle/>
          <a:p>
            <a:pPr algn="l">
              <a:spcAft>
                <a:spcPts val="300"/>
              </a:spcAft>
              <a:defRPr sz="1400" b="0">
                <a:solidFill>
                  <a:srgbClr val="152334"/>
                </a:solidFill>
                <a:latin typeface="Aptos"/>
              </a:defRPr>
            </a:pPr>
            <a:r>
              <a:rPr sz="1200" b="0">
                <a:solidFill>
                  <a:srgbClr val="273746"/>
                </a:solidFill>
                <a:latin typeface="Aptos Mono"/>
              </a:rPr>
              <a:t>Repository-local Git configuration</a:t>
            </a:r>
            <a:br/>
            <a:br/>
            <a:r>
              <a:rPr sz="1200" b="0">
                <a:solidFill>
                  <a:srgbClr val="273746"/>
                </a:solidFill>
                <a:latin typeface="Aptos Mono"/>
              </a:rPr>
              <a:t>git drs remote add anvil terra --checkout hydrate</a:t>
            </a:r>
          </a:p>
        </p:txBody>
      </p:sp>
      <p:sp>
        <p:nvSpPr>
          <p:cNvPr id="6" name="TextBox 5"/>
          <p:cNvSpPr txBox="1"/>
          <p:nvPr/>
        </p:nvSpPr>
        <p:spPr>
          <a:xfrm>
            <a:off x="5669280" y="3474720"/>
            <a:ext cx="5486400" cy="1097280"/>
          </a:xfrm>
          <a:prstGeom prst="rect">
            <a:avLst/>
          </a:prstGeom>
          <a:noFill/>
        </p:spPr>
        <p:txBody>
          <a:bodyPr wrap="square" lIns="8" tIns="6" rIns="8" bIns="6">
            <a:spAutoFit/>
          </a:bodyPr>
          <a:lstStyle/>
          <a:p>
            <a:pPr algn="l">
              <a:spcAft>
                <a:spcPts val="300"/>
              </a:spcAft>
              <a:defRPr sz="1500" b="0">
                <a:solidFill>
                  <a:srgbClr val="10253E"/>
                </a:solidFill>
                <a:latin typeface="Aptos"/>
              </a:defRPr>
            </a:pPr>
            <a:r>
              <a:rPr sz="1450" b="0">
                <a:solidFill>
                  <a:srgbClr val="273746"/>
                </a:solidFill>
                <a:latin typeface="Aptos"/>
              </a:rPr>
              <a:t>Remote metadata lives only in clone-local .git/config; every clone must recreate it. Credentials remain in the ADC provider store.</a:t>
            </a:r>
          </a:p>
        </p:txBody>
      </p:sp>
      <p:sp>
        <p:nvSpPr>
          <p:cNvPr id="7" name="Rectangle 6"/>
          <p:cNvSpPr/>
          <p:nvPr/>
        </p:nvSpPr>
        <p:spPr>
          <a:xfrm>
            <a:off x="548640" y="960120"/>
            <a:ext cx="1143000" cy="54864"/>
          </a:xfrm>
          <a:prstGeom prst="rect">
            <a:avLst/>
          </a:prstGeom>
          <a:solidFill>
            <a:srgbClr val="21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881360" y="6510528"/>
            <a:ext cx="731520" cy="182880"/>
          </a:xfrm>
          <a:prstGeom prst="rect">
            <a:avLst/>
          </a:prstGeom>
          <a:noFill/>
        </p:spPr>
        <p:txBody>
          <a:bodyPr wrap="square">
            <a:spAutoFit/>
          </a:bodyPr>
          <a:lstStyle/>
          <a:p>
            <a:pPr algn="r">
              <a:spcAft>
                <a:spcPts val="300"/>
              </a:spcAft>
            </a:pPr>
            <a:r>
              <a:rPr sz="1800" b="1">
                <a:solidFill>
                  <a:srgbClr val="14304A"/>
                </a:solidFill>
                <a:latin typeface="Aptos"/>
              </a:rPr>
              <a:t>10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640080"/>
          </a:xfrm>
          <a:prstGeom prst="rect">
            <a:avLst/>
          </a:prstGeom>
          <a:noFill/>
        </p:spPr>
        <p:txBody>
          <a:bodyPr wrap="square">
            <a:spAutoFit/>
          </a:bodyPr>
          <a:lstStyle/>
          <a:p>
            <a:pPr algn="l">
              <a:spcAft>
                <a:spcPts val="300"/>
              </a:spcAft>
              <a:defRPr sz="2800" b="1">
                <a:solidFill>
                  <a:srgbClr val="10253E"/>
                </a:solidFill>
              </a:defRPr>
            </a:pPr>
            <a:r>
              <a:rPr sz="2500" b="1">
                <a:solidFill>
                  <a:srgbClr val="14304A"/>
                </a:solidFill>
                <a:latin typeface="Aptos"/>
              </a:rPr>
              <a:t>Provider-neutral resolution breaks Syfon coupling</a:t>
            </a:r>
          </a:p>
        </p:txBody>
      </p:sp>
      <p:sp>
        <p:nvSpPr>
          <p:cNvPr id="3" name="TextBox 2"/>
          <p:cNvSpPr txBox="1"/>
          <p:nvPr/>
        </p:nvSpPr>
        <p:spPr>
          <a:xfrm>
            <a:off x="731520" y="1371600"/>
            <a:ext cx="10698480" cy="2377440"/>
          </a:xfrm>
          <a:prstGeom prst="rect">
            <a:avLst/>
          </a:prstGeom>
          <a:solidFill>
            <a:srgbClr val="F2F6F9"/>
          </a:solidFill>
          <a:ln w="12700">
            <a:solidFill>
              <a:srgbClr val="E0E8EF"/>
            </a:solidFill>
          </a:ln>
        </p:spPr>
        <p:txBody>
          <a:bodyPr wrap="square" lIns="109728" tIns="73152" rIns="109728" bIns="73152">
            <a:spAutoFit/>
          </a:bodyPr>
          <a:lstStyle/>
          <a:p>
            <a:pPr>
              <a:spcAft>
                <a:spcPts val="300"/>
              </a:spcAft>
              <a:defRPr sz="1400">
                <a:solidFill>
                  <a:srgbClr val="152334"/>
                </a:solidFill>
                <a:latin typeface="Consolas"/>
              </a:defRPr>
            </a:pPr>
            <a:r>
              <a:rPr sz="1200" b="0">
                <a:solidFill>
                  <a:srgbClr val="273746"/>
                </a:solidFill>
                <a:latin typeface="Aptos Mono"/>
              </a:rPr>
              <a:t>Commands                 Resolver interface                 Identities</a:t>
            </a:r>
            <a:br/>
            <a:r>
              <a:rPr sz="1200" b="0">
                <a:solidFill>
                  <a:srgbClr val="273746"/>
                </a:solidFill>
                <a:latin typeface="Aptos Mono"/>
              </a:rPr>
              <a:t>add-ref · pull · ping  -&gt; GetObject · GetAccess          -&gt; remote · cache · content</a:t>
            </a:r>
            <a:br/>
            <a:r>
              <a:rPr sz="1200" b="0">
                <a:solidFill>
                  <a:srgbClr val="273746"/>
                </a:solidFill>
                <a:latin typeface="Aptos Mono"/>
              </a:rPr>
              <a:t>                              |</a:t>
            </a:r>
            <a:br/>
            <a:r>
              <a:rPr sz="1200" b="0">
                <a:solidFill>
                  <a:srgbClr val="273746"/>
                </a:solidFill>
                <a:latin typeface="Aptos Mono"/>
              </a:rPr>
              <a:t>                   +----------+----------+</a:t>
            </a:r>
            <a:br/>
            <a:r>
              <a:rPr sz="1200" b="0">
                <a:solidFill>
                  <a:srgbClr val="273746"/>
                </a:solidFill>
                <a:latin typeface="Aptos Mono"/>
              </a:rPr>
              <a:t>                   |                     |</a:t>
            </a:r>
            <a:br/>
            <a:r>
              <a:rPr sz="1200" b="0">
                <a:solidFill>
                  <a:srgbClr val="273746"/>
                </a:solidFill>
                <a:latin typeface="Aptos Mono"/>
              </a:rPr>
              <a:t>            AnVILResolver          SyfonResolver</a:t>
            </a:r>
            <a:br/>
            <a:r>
              <a:rPr sz="1200" b="0">
                <a:solidFill>
                  <a:srgbClr val="273746"/>
                </a:solidFill>
                <a:latin typeface="Aptos Mono"/>
              </a:rPr>
              <a:t>          Google ADC · routing   Gen3 · local behavior</a:t>
            </a:r>
          </a:p>
        </p:txBody>
      </p:sp>
      <p:sp>
        <p:nvSpPr>
          <p:cNvPr id="4" name="TextBox 3"/>
          <p:cNvSpPr txBox="1"/>
          <p:nvPr/>
        </p:nvSpPr>
        <p:spPr>
          <a:xfrm>
            <a:off x="731520" y="4114800"/>
            <a:ext cx="10607040" cy="1371600"/>
          </a:xfrm>
          <a:prstGeom prst="rect">
            <a:avLst/>
          </a:prstGeom>
          <a:noFill/>
        </p:spPr>
        <p:txBody>
          <a:bodyPr wrap="square">
            <a:spAutoFit/>
          </a:bodyPr>
          <a:lstStyle/>
          <a:p>
            <a:pPr>
              <a:spcAft>
                <a:spcPts val="300"/>
              </a:spcAft>
              <a:defRPr sz="1700">
                <a:solidFill>
                  <a:srgbClr val="152334"/>
                </a:solidFill>
                <a:latin typeface="Aptos"/>
              </a:defRPr>
            </a:pPr>
            <a:r>
              <a:rPr sz="1450" b="0">
                <a:solidFill>
                  <a:srgbClr val="273746"/>
                </a:solidFill>
                <a:latin typeface="Aptos"/>
              </a:rPr>
              <a:t>Commands depend on one resolver contract.</a:t>
            </a:r>
          </a:p>
          <a:p>
            <a:pPr>
              <a:spcAft>
                <a:spcPts val="300"/>
              </a:spcAft>
              <a:defRPr sz="1700">
                <a:solidFill>
                  <a:srgbClr val="152334"/>
                </a:solidFill>
                <a:latin typeface="Aptos"/>
              </a:defRPr>
            </a:pPr>
            <a:r>
              <a:rPr sz="1450" b="0">
                <a:solidFill>
                  <a:srgbClr val="273746"/>
                </a:solidFill>
                <a:latin typeface="Aptos"/>
              </a:rPr>
              <a:t>The configured remote selects the resolver.</a:t>
            </a:r>
          </a:p>
          <a:p>
            <a:pPr>
              <a:spcAft>
                <a:spcPts val="300"/>
              </a:spcAft>
              <a:defRPr sz="1700">
                <a:solidFill>
                  <a:srgbClr val="152334"/>
                </a:solidFill>
                <a:latin typeface="Aptos"/>
              </a:defRPr>
            </a:pPr>
            <a:r>
              <a:rPr sz="1450" b="0">
                <a:solidFill>
                  <a:srgbClr val="273746"/>
                </a:solidFill>
                <a:latin typeface="Aptos"/>
              </a:rPr>
              <a:t>Authentication and provider routing stay behind the interface.</a:t>
            </a:r>
          </a:p>
          <a:p>
            <a:pPr>
              <a:spcAft>
                <a:spcPts val="300"/>
              </a:spcAft>
              <a:defRPr sz="1700">
                <a:solidFill>
                  <a:srgbClr val="152334"/>
                </a:solidFill>
                <a:latin typeface="Aptos"/>
              </a:defRPr>
            </a:pPr>
            <a:r>
              <a:rPr sz="1450" b="0">
                <a:solidFill>
                  <a:srgbClr val="273746"/>
                </a:solidFill>
                <a:latin typeface="Aptos"/>
              </a:rPr>
              <a:t>There is no user-facing --remote-type switch.</a:t>
            </a:r>
          </a:p>
        </p:txBody>
      </p:sp>
      <p:sp>
        <p:nvSpPr>
          <p:cNvPr id="5" name="Rectangle 4"/>
          <p:cNvSpPr/>
          <p:nvPr/>
        </p:nvSpPr>
        <p:spPr>
          <a:xfrm>
            <a:off x="548640" y="960120"/>
            <a:ext cx="1143000" cy="54864"/>
          </a:xfrm>
          <a:prstGeom prst="rect">
            <a:avLst/>
          </a:prstGeom>
          <a:solidFill>
            <a:srgbClr val="21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881360" y="6510528"/>
            <a:ext cx="731520" cy="182880"/>
          </a:xfrm>
          <a:prstGeom prst="rect">
            <a:avLst/>
          </a:prstGeom>
          <a:noFill/>
        </p:spPr>
        <p:txBody>
          <a:bodyPr wrap="square">
            <a:spAutoFit/>
          </a:bodyPr>
          <a:lstStyle/>
          <a:p>
            <a:pPr algn="r">
              <a:spcAft>
                <a:spcPts val="300"/>
              </a:spcAft>
            </a:pPr>
            <a:r>
              <a:rPr sz="1800" b="1">
                <a:solidFill>
                  <a:srgbClr val="14304A"/>
                </a:solidFill>
                <a:latin typeface="Aptos"/>
              </a:rPr>
              <a:t>11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640080"/>
          </a:xfrm>
          <a:prstGeom prst="rect">
            <a:avLst/>
          </a:prstGeom>
          <a:noFill/>
        </p:spPr>
        <p:txBody>
          <a:bodyPr wrap="square">
            <a:spAutoFit/>
          </a:bodyPr>
          <a:lstStyle/>
          <a:p>
            <a:pPr algn="l">
              <a:spcAft>
                <a:spcPts val="300"/>
              </a:spcAft>
              <a:defRPr sz="2800" b="1">
                <a:solidFill>
                  <a:srgbClr val="10253E"/>
                </a:solidFill>
              </a:defRPr>
            </a:pPr>
            <a:r>
              <a:rPr sz="2500" b="1">
                <a:solidFill>
                  <a:srgbClr val="14304A"/>
                </a:solidFill>
                <a:latin typeface="Aptos"/>
              </a:rPr>
              <a:t>Three identities—not one overloaded OID</a:t>
            </a:r>
          </a:p>
        </p:txBody>
      </p:sp>
      <p:sp>
        <p:nvSpPr>
          <p:cNvPr id="3" name="Rounded Rectangle 2"/>
          <p:cNvSpPr/>
          <p:nvPr/>
        </p:nvSpPr>
        <p:spPr>
          <a:xfrm>
            <a:off x="731520" y="1737360"/>
            <a:ext cx="3383280" cy="2560320"/>
          </a:xfrm>
          <a:prstGeom prst="roundRect">
            <a:avLst/>
          </a:prstGeom>
          <a:solidFill>
            <a:srgbClr val="FFFFFF"/>
          </a:solidFill>
          <a:ln w="17780">
            <a:solidFill>
              <a:srgbClr val="97C1D6"/>
            </a:solidFill>
          </a:ln>
          <a:effectLst/>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spcAft>
                <a:spcPts val="300"/>
              </a:spcAft>
              <a:defRPr sz="1800" b="1">
                <a:solidFill>
                  <a:srgbClr val="10253E"/>
                </a:solidFill>
              </a:defRPr>
            </a:pPr>
            <a:r>
              <a:rPr sz="1400" b="0">
                <a:solidFill>
                  <a:srgbClr val="273746"/>
                </a:solidFill>
                <a:latin typeface="Aptos"/>
              </a:rPr>
              <a:t>REMOTE</a:t>
            </a:r>
          </a:p>
          <a:p>
            <a:pPr algn="ctr">
              <a:spcAft>
                <a:spcPts val="300"/>
              </a:spcAft>
              <a:defRPr sz="1300">
                <a:solidFill>
                  <a:srgbClr val="152334"/>
                </a:solidFill>
              </a:defRPr>
            </a:pPr>
            <a:r>
              <a:rPr sz="1400" b="0">
                <a:solidFill>
                  <a:srgbClr val="273746"/>
                </a:solidFill>
                <a:latin typeface="Aptos"/>
              </a:rPr>
              <a:t>Canonical DRS URI</a:t>
            </a:r>
          </a:p>
          <a:p>
            <a:pPr algn="ctr">
              <a:spcAft>
                <a:spcPts val="300"/>
              </a:spcAft>
              <a:defRPr sz="1300">
                <a:solidFill>
                  <a:srgbClr val="152334"/>
                </a:solidFill>
              </a:defRPr>
            </a:pPr>
            <a:r>
              <a:rPr sz="1400" b="0">
                <a:solidFill>
                  <a:srgbClr val="273746"/>
                </a:solidFill>
                <a:latin typeface="Aptos"/>
              </a:rPr>
              <a:t>Normalized provider record identity. Committed to Git and used for object and access resolution.</a:t>
            </a:r>
          </a:p>
        </p:txBody>
      </p:sp>
      <p:sp>
        <p:nvSpPr>
          <p:cNvPr id="4" name="Rounded Rectangle 3"/>
          <p:cNvSpPr/>
          <p:nvPr/>
        </p:nvSpPr>
        <p:spPr>
          <a:xfrm>
            <a:off x="4480560" y="1737360"/>
            <a:ext cx="3383280" cy="2560320"/>
          </a:xfrm>
          <a:prstGeom prst="roundRect">
            <a:avLst/>
          </a:prstGeom>
          <a:solidFill>
            <a:srgbClr val="FFFFFF"/>
          </a:solidFill>
          <a:ln w="17780">
            <a:solidFill>
              <a:srgbClr val="97C1D6"/>
            </a:solidFill>
          </a:ln>
          <a:effectLst/>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spcAft>
                <a:spcPts val="300"/>
              </a:spcAft>
              <a:defRPr sz="1800" b="1">
                <a:solidFill>
                  <a:srgbClr val="10253E"/>
                </a:solidFill>
              </a:defRPr>
            </a:pPr>
            <a:r>
              <a:rPr sz="1400" b="0">
                <a:solidFill>
                  <a:srgbClr val="273746"/>
                </a:solidFill>
                <a:latin typeface="Aptos"/>
              </a:rPr>
              <a:t>LOCAL</a:t>
            </a:r>
          </a:p>
          <a:p>
            <a:pPr algn="ctr">
              <a:spcAft>
                <a:spcPts val="300"/>
              </a:spcAft>
              <a:defRPr sz="1300">
                <a:solidFill>
                  <a:srgbClr val="152334"/>
                </a:solidFill>
              </a:defRPr>
            </a:pPr>
            <a:r>
              <a:rPr sz="1400" b="0">
                <a:solidFill>
                  <a:srgbClr val="273746"/>
                </a:solidFill>
                <a:latin typeface="Aptos"/>
              </a:rPr>
              <a:t>Cache OID</a:t>
            </a:r>
          </a:p>
          <a:p>
            <a:pPr algn="ctr">
              <a:spcAft>
                <a:spcPts val="300"/>
              </a:spcAft>
              <a:defRPr sz="1300">
                <a:solidFill>
                  <a:srgbClr val="152334"/>
                </a:solidFill>
              </a:defRPr>
            </a:pPr>
            <a:r>
              <a:rPr sz="1400" b="0">
                <a:solidFill>
                  <a:srgbClr val="273746"/>
                </a:solidFill>
                <a:latin typeface="Aptos"/>
              </a:rPr>
              <a:t>Filesystem-safe SHA256 of a versioned prefix plus normalized DRS URI. Never replaces remote identity.</a:t>
            </a:r>
          </a:p>
        </p:txBody>
      </p:sp>
      <p:sp>
        <p:nvSpPr>
          <p:cNvPr id="5" name="Rounded Rectangle 4"/>
          <p:cNvSpPr/>
          <p:nvPr/>
        </p:nvSpPr>
        <p:spPr>
          <a:xfrm>
            <a:off x="8229600" y="1737360"/>
            <a:ext cx="3200400" cy="2560320"/>
          </a:xfrm>
          <a:prstGeom prst="roundRect">
            <a:avLst/>
          </a:prstGeom>
          <a:solidFill>
            <a:srgbClr val="FFFFFF"/>
          </a:solidFill>
          <a:ln w="17780">
            <a:solidFill>
              <a:srgbClr val="97C1D6"/>
            </a:solidFill>
          </a:ln>
          <a:effectLst/>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spcAft>
                <a:spcPts val="300"/>
              </a:spcAft>
              <a:defRPr sz="1800" b="1">
                <a:solidFill>
                  <a:srgbClr val="10253E"/>
                </a:solidFill>
              </a:defRPr>
            </a:pPr>
            <a:r>
              <a:rPr sz="1400" b="0">
                <a:solidFill>
                  <a:srgbClr val="273746"/>
                </a:solidFill>
                <a:latin typeface="Aptos"/>
              </a:rPr>
              <a:t>CONTENT</a:t>
            </a:r>
          </a:p>
          <a:p>
            <a:pPr algn="ctr">
              <a:spcAft>
                <a:spcPts val="300"/>
              </a:spcAft>
              <a:defRPr sz="1300">
                <a:solidFill>
                  <a:srgbClr val="152334"/>
                </a:solidFill>
              </a:defRPr>
            </a:pPr>
            <a:r>
              <a:rPr sz="1400" b="0">
                <a:solidFill>
                  <a:srgbClr val="273746"/>
                </a:solidFill>
                <a:latin typeface="Aptos"/>
              </a:rPr>
              <a:t>Content SHA256</a:t>
            </a:r>
          </a:p>
          <a:p>
            <a:pPr algn="ctr">
              <a:spcAft>
                <a:spcPts val="300"/>
              </a:spcAft>
              <a:defRPr sz="1300">
                <a:solidFill>
                  <a:srgbClr val="152334"/>
                </a:solidFill>
              </a:defRPr>
            </a:pPr>
            <a:r>
              <a:rPr sz="1400" b="0">
                <a:solidFill>
                  <a:srgbClr val="273746"/>
                </a:solidFill>
                <a:latin typeface="Aptos"/>
              </a:rPr>
              <a:t>Durable integrity metadata. Used to verify bytes, not to locate the record.</a:t>
            </a:r>
          </a:p>
        </p:txBody>
      </p:sp>
      <p:sp>
        <p:nvSpPr>
          <p:cNvPr id="6" name="TextBox 5"/>
          <p:cNvSpPr txBox="1"/>
          <p:nvPr/>
        </p:nvSpPr>
        <p:spPr>
          <a:xfrm>
            <a:off x="822960" y="4754880"/>
            <a:ext cx="10515600" cy="731520"/>
          </a:xfrm>
          <a:prstGeom prst="rect">
            <a:avLst/>
          </a:prstGeom>
          <a:noFill/>
        </p:spPr>
        <p:txBody>
          <a:bodyPr wrap="square" lIns="8" tIns="6" rIns="8" bIns="6">
            <a:spAutoFit/>
          </a:bodyPr>
          <a:lstStyle/>
          <a:p>
            <a:pPr algn="l">
              <a:spcAft>
                <a:spcPts val="300"/>
              </a:spcAft>
              <a:defRPr sz="1600" b="0">
                <a:solidFill>
                  <a:srgbClr val="10253E"/>
                </a:solidFill>
                <a:latin typeface="Aptos"/>
              </a:defRPr>
            </a:pPr>
            <a:r>
              <a:rPr sz="1800" b="0">
                <a:solidFill>
                  <a:srgbClr val="273746"/>
                </a:solidFill>
                <a:latin typeface="Aptos"/>
              </a:rPr>
              <a:t>cache_oid = sha256("git-drs-anvil-ref:v1\n" + normalized_drs_uri)</a:t>
            </a:r>
          </a:p>
        </p:txBody>
      </p:sp>
      <p:sp>
        <p:nvSpPr>
          <p:cNvPr id="7" name="TextBox 6"/>
          <p:cNvSpPr txBox="1"/>
          <p:nvPr/>
        </p:nvSpPr>
        <p:spPr>
          <a:xfrm>
            <a:off x="731520" y="5669280"/>
            <a:ext cx="10607040" cy="457200"/>
          </a:xfrm>
          <a:prstGeom prst="rect">
            <a:avLst/>
          </a:prstGeom>
          <a:noFill/>
        </p:spPr>
        <p:txBody>
          <a:bodyPr wrap="square" lIns="8" tIns="6" rIns="8" bIns="6">
            <a:spAutoFit/>
          </a:bodyPr>
          <a:lstStyle/>
          <a:p>
            <a:pPr algn="l">
              <a:spcAft>
                <a:spcPts val="300"/>
              </a:spcAft>
              <a:defRPr sz="1300" b="1">
                <a:solidFill>
                  <a:srgbClr val="10253E"/>
                </a:solidFill>
                <a:latin typeface="Aptos"/>
              </a:defRPr>
            </a:pPr>
            <a:r>
              <a:rPr sz="1450" b="0">
                <a:solidFill>
                  <a:srgbClr val="273746"/>
                </a:solidFill>
                <a:latin typeface="Aptos"/>
              </a:rPr>
              <a:t>Download invariant: fresh access → temporary file → verify size/checksum → atomic cache promotion → hydrate worktree.</a:t>
            </a:r>
          </a:p>
        </p:txBody>
      </p:sp>
      <p:sp>
        <p:nvSpPr>
          <p:cNvPr id="8" name="Rectangle 7"/>
          <p:cNvSpPr/>
          <p:nvPr/>
        </p:nvSpPr>
        <p:spPr>
          <a:xfrm>
            <a:off x="548640" y="960120"/>
            <a:ext cx="1143000" cy="54864"/>
          </a:xfrm>
          <a:prstGeom prst="rect">
            <a:avLst/>
          </a:prstGeom>
          <a:solidFill>
            <a:srgbClr val="21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881360" y="6510528"/>
            <a:ext cx="731520" cy="182880"/>
          </a:xfrm>
          <a:prstGeom prst="rect">
            <a:avLst/>
          </a:prstGeom>
          <a:noFill/>
        </p:spPr>
        <p:txBody>
          <a:bodyPr wrap="square">
            <a:spAutoFit/>
          </a:bodyPr>
          <a:lstStyle/>
          <a:p>
            <a:pPr algn="r">
              <a:spcAft>
                <a:spcPts val="300"/>
              </a:spcAft>
            </a:pPr>
            <a:r>
              <a:rPr sz="1800" b="1">
                <a:solidFill>
                  <a:srgbClr val="14304A"/>
                </a:solidFill>
                <a:latin typeface="Aptos"/>
              </a:rPr>
              <a:t>12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640080"/>
          </a:xfrm>
          <a:prstGeom prst="rect">
            <a:avLst/>
          </a:prstGeom>
          <a:noFill/>
        </p:spPr>
        <p:txBody>
          <a:bodyPr wrap="square">
            <a:spAutoFit/>
          </a:bodyPr>
          <a:lstStyle/>
          <a:p>
            <a:pPr algn="l">
              <a:spcAft>
                <a:spcPts val="300"/>
              </a:spcAft>
              <a:defRPr sz="2800" b="1">
                <a:solidFill>
                  <a:srgbClr val="10253E"/>
                </a:solidFill>
              </a:defRPr>
            </a:pPr>
            <a:r>
              <a:rPr sz="2500" b="1">
                <a:solidFill>
                  <a:srgbClr val="14304A"/>
                </a:solidFill>
                <a:latin typeface="Aptos"/>
              </a:rPr>
              <a:t>Status: implemented, in flight, and next</a:t>
            </a:r>
          </a:p>
        </p:txBody>
      </p:sp>
      <p:sp>
        <p:nvSpPr>
          <p:cNvPr id="3" name="Rounded Rectangle 2"/>
          <p:cNvSpPr/>
          <p:nvPr/>
        </p:nvSpPr>
        <p:spPr>
          <a:xfrm>
            <a:off x="640080" y="1554480"/>
            <a:ext cx="3566160" cy="3474720"/>
          </a:xfrm>
          <a:prstGeom prst="roundRect">
            <a:avLst/>
          </a:prstGeom>
          <a:solidFill>
            <a:srgbClr val="FFFFFF"/>
          </a:solidFill>
          <a:ln w="17780">
            <a:solidFill>
              <a:srgbClr val="97C1D6"/>
            </a:solidFill>
          </a:ln>
          <a:effectLst/>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spcAft>
                <a:spcPts val="300"/>
              </a:spcAft>
              <a:defRPr sz="1600" b="1">
                <a:solidFill>
                  <a:srgbClr val="10253E"/>
                </a:solidFill>
              </a:defRPr>
            </a:pPr>
            <a:r>
              <a:rPr sz="1400" b="0">
                <a:solidFill>
                  <a:srgbClr val="273746"/>
                </a:solidFill>
                <a:latin typeface="Aptos"/>
              </a:rPr>
              <a:t>IMPLEMENTED</a:t>
            </a:r>
            <a:br/>
            <a:r>
              <a:rPr sz="1400" b="0">
                <a:solidFill>
                  <a:srgbClr val="273746"/>
                </a:solidFill>
                <a:latin typeface="Aptos"/>
              </a:rPr>
              <a:t>Core DRS + git-drs path</a:t>
            </a:r>
          </a:p>
          <a:p>
            <a:pPr algn="ctr">
              <a:spcAft>
                <a:spcPts val="300"/>
              </a:spcAft>
              <a:defRPr sz="1300">
                <a:solidFill>
                  <a:srgbClr val="152334"/>
                </a:solidFill>
              </a:defRPr>
            </a:pPr>
            <a:r>
              <a:rPr sz="1400" b="0">
                <a:solidFill>
                  <a:srgbClr val="273746"/>
                </a:solidFill>
                <a:latin typeface="Aptos"/>
              </a:rPr>
              <a:t>Provider-neutral resolver contract</a:t>
            </a:r>
          </a:p>
          <a:p>
            <a:pPr algn="ctr">
              <a:spcAft>
                <a:spcPts val="300"/>
              </a:spcAft>
              <a:defRPr sz="1300">
                <a:solidFill>
                  <a:srgbClr val="152334"/>
                </a:solidFill>
              </a:defRPr>
            </a:pPr>
            <a:r>
              <a:rPr sz="1400" b="0">
                <a:solidFill>
                  <a:srgbClr val="273746"/>
                </a:solidFill>
                <a:latin typeface="Aptos"/>
              </a:rPr>
              <a:t>DRS pointer metadata and checksum validation</a:t>
            </a:r>
          </a:p>
          <a:p>
            <a:pPr algn="ctr">
              <a:spcAft>
                <a:spcPts val="300"/>
              </a:spcAft>
              <a:defRPr sz="1300">
                <a:solidFill>
                  <a:srgbClr val="152334"/>
                </a:solidFill>
              </a:defRPr>
            </a:pPr>
            <a:r>
              <a:rPr sz="1400" b="0">
                <a:solidFill>
                  <a:srgbClr val="273746"/>
                </a:solidFill>
                <a:latin typeface="Aptos"/>
              </a:rPr>
              <a:t>Local + AnVIL + Globus mixed-source repo model</a:t>
            </a:r>
          </a:p>
          <a:p>
            <a:pPr algn="ctr">
              <a:spcAft>
                <a:spcPts val="300"/>
              </a:spcAft>
              <a:defRPr sz="1300">
                <a:solidFill>
                  <a:srgbClr val="152334"/>
                </a:solidFill>
              </a:defRPr>
            </a:pPr>
            <a:r>
              <a:rPr sz="1400" b="0">
                <a:solidFill>
                  <a:srgbClr val="273746"/>
                </a:solidFill>
                <a:latin typeface="Aptos"/>
              </a:rPr>
              <a:t>Access fallback handling and safer credential checks</a:t>
            </a:r>
          </a:p>
        </p:txBody>
      </p:sp>
      <p:sp>
        <p:nvSpPr>
          <p:cNvPr id="4" name="Rounded Rectangle 3"/>
          <p:cNvSpPr/>
          <p:nvPr/>
        </p:nvSpPr>
        <p:spPr>
          <a:xfrm>
            <a:off x="4480560" y="1554480"/>
            <a:ext cx="3566160" cy="3474720"/>
          </a:xfrm>
          <a:prstGeom prst="roundRect">
            <a:avLst/>
          </a:prstGeom>
          <a:solidFill>
            <a:srgbClr val="FFFFFF"/>
          </a:solidFill>
          <a:ln w="17780">
            <a:solidFill>
              <a:srgbClr val="97C1D6"/>
            </a:solidFill>
          </a:ln>
          <a:effectLst/>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spcAft>
                <a:spcPts val="300"/>
              </a:spcAft>
              <a:defRPr sz="1600" b="1">
                <a:solidFill>
                  <a:srgbClr val="10253E"/>
                </a:solidFill>
              </a:defRPr>
            </a:pPr>
            <a:r>
              <a:rPr sz="1400" b="0">
                <a:solidFill>
                  <a:srgbClr val="273746"/>
                </a:solidFill>
                <a:latin typeface="Aptos"/>
              </a:rPr>
              <a:t>IN FLIGHT</a:t>
            </a:r>
            <a:br/>
            <a:r>
              <a:rPr sz="1400" b="0">
                <a:solidFill>
                  <a:srgbClr val="273746"/>
                </a:solidFill>
                <a:latin typeface="Aptos"/>
              </a:rPr>
              <a:t>Workflow hardening</a:t>
            </a:r>
          </a:p>
          <a:p>
            <a:pPr algn="ctr">
              <a:spcAft>
                <a:spcPts val="300"/>
              </a:spcAft>
              <a:defRPr sz="1300">
                <a:solidFill>
                  <a:srgbClr val="152334"/>
                </a:solidFill>
              </a:defRPr>
            </a:pPr>
            <a:r>
              <a:rPr sz="1400" b="0">
                <a:solidFill>
                  <a:srgbClr val="273746"/>
                </a:solidFill>
                <a:latin typeface="Aptos"/>
              </a:rPr>
              <a:t>End-to-end clone/pull acceptance</a:t>
            </a:r>
          </a:p>
          <a:p>
            <a:pPr algn="ctr">
              <a:spcAft>
                <a:spcPts val="300"/>
              </a:spcAft>
              <a:defRPr sz="1300">
                <a:solidFill>
                  <a:srgbClr val="152334"/>
                </a:solidFill>
              </a:defRPr>
            </a:pPr>
            <a:r>
              <a:rPr sz="1400" b="0">
                <a:solidFill>
                  <a:srgbClr val="273746"/>
                </a:solidFill>
                <a:latin typeface="Aptos"/>
              </a:rPr>
              <a:t>Globus collection import and auth flows</a:t>
            </a:r>
          </a:p>
          <a:p>
            <a:pPr algn="ctr">
              <a:spcAft>
                <a:spcPts val="300"/>
              </a:spcAft>
              <a:defRPr sz="1300">
                <a:solidFill>
                  <a:srgbClr val="152334"/>
                </a:solidFill>
              </a:defRPr>
            </a:pPr>
            <a:r>
              <a:rPr sz="1400" b="0">
                <a:solidFill>
                  <a:srgbClr val="273746"/>
                </a:solidFill>
                <a:latin typeface="Aptos"/>
              </a:rPr>
              <a:t>Retry and refresh behavior for expired URLs</a:t>
            </a:r>
          </a:p>
          <a:p>
            <a:pPr algn="ctr">
              <a:spcAft>
                <a:spcPts val="300"/>
              </a:spcAft>
              <a:defRPr sz="1300">
                <a:solidFill>
                  <a:srgbClr val="152334"/>
                </a:solidFill>
              </a:defRPr>
            </a:pPr>
            <a:r>
              <a:rPr sz="1400" b="0">
                <a:solidFill>
                  <a:srgbClr val="273746"/>
                </a:solidFill>
                <a:latin typeface="Aptos"/>
              </a:rPr>
              <a:t>Clean multi-user and denied-user validation</a:t>
            </a:r>
          </a:p>
        </p:txBody>
      </p:sp>
      <p:sp>
        <p:nvSpPr>
          <p:cNvPr id="5" name="Rounded Rectangle 4"/>
          <p:cNvSpPr/>
          <p:nvPr/>
        </p:nvSpPr>
        <p:spPr>
          <a:xfrm>
            <a:off x="8321040" y="1554480"/>
            <a:ext cx="3566160" cy="3474720"/>
          </a:xfrm>
          <a:prstGeom prst="roundRect">
            <a:avLst/>
          </a:prstGeom>
          <a:solidFill>
            <a:srgbClr val="FFFFFF"/>
          </a:solidFill>
          <a:ln w="17780">
            <a:solidFill>
              <a:srgbClr val="97C1D6"/>
            </a:solidFill>
          </a:ln>
          <a:effectLst/>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spcAft>
                <a:spcPts val="300"/>
              </a:spcAft>
              <a:defRPr sz="1600" b="1">
                <a:solidFill>
                  <a:srgbClr val="10253E"/>
                </a:solidFill>
              </a:defRPr>
            </a:pPr>
            <a:r>
              <a:rPr sz="1400" b="0">
                <a:solidFill>
                  <a:srgbClr val="273746"/>
                </a:solidFill>
                <a:latin typeface="Aptos"/>
              </a:rPr>
              <a:t>NEXT</a:t>
            </a:r>
            <a:br/>
            <a:r>
              <a:rPr sz="1400" b="0">
                <a:solidFill>
                  <a:srgbClr val="273746"/>
                </a:solidFill>
                <a:latin typeface="Aptos"/>
              </a:rPr>
              <a:t>Production readiness</a:t>
            </a:r>
          </a:p>
          <a:p>
            <a:pPr algn="ctr">
              <a:spcAft>
                <a:spcPts val="300"/>
              </a:spcAft>
              <a:defRPr sz="1300">
                <a:solidFill>
                  <a:srgbClr val="152334"/>
                </a:solidFill>
              </a:defRPr>
            </a:pPr>
            <a:r>
              <a:rPr sz="1400" b="0">
                <a:solidFill>
                  <a:srgbClr val="273746"/>
                </a:solidFill>
                <a:latin typeface="Aptos"/>
              </a:rPr>
              <a:t>Certify GA4GH schema compatibility</a:t>
            </a:r>
          </a:p>
          <a:p>
            <a:pPr algn="ctr">
              <a:spcAft>
                <a:spcPts val="300"/>
              </a:spcAft>
              <a:defRPr sz="1300">
                <a:solidFill>
                  <a:srgbClr val="152334"/>
                </a:solidFill>
              </a:defRPr>
            </a:pPr>
            <a:r>
              <a:rPr sz="1400" b="0">
                <a:solidFill>
                  <a:srgbClr val="273746"/>
                </a:solidFill>
                <a:latin typeface="Aptos"/>
              </a:rPr>
              <a:t>Validate upload-oriented writable DRS behavior</a:t>
            </a:r>
          </a:p>
          <a:p>
            <a:pPr algn="ctr">
              <a:spcAft>
                <a:spcPts val="300"/>
              </a:spcAft>
              <a:defRPr sz="1300">
                <a:solidFill>
                  <a:srgbClr val="152334"/>
                </a:solidFill>
              </a:defRPr>
            </a:pPr>
            <a:r>
              <a:rPr sz="1400" b="0">
                <a:solidFill>
                  <a:srgbClr val="273746"/>
                </a:solidFill>
                <a:latin typeface="Aptos"/>
              </a:rPr>
              <a:t>Harden concurrency and diagnostics</a:t>
            </a:r>
          </a:p>
          <a:p>
            <a:pPr algn="ctr">
              <a:spcAft>
                <a:spcPts val="300"/>
              </a:spcAft>
              <a:defRPr sz="1300">
                <a:solidFill>
                  <a:srgbClr val="152334"/>
                </a:solidFill>
              </a:defRPr>
            </a:pPr>
            <a:r>
              <a:rPr sz="1400" b="0">
                <a:solidFill>
                  <a:srgbClr val="273746"/>
                </a:solidFill>
                <a:latin typeface="Aptos"/>
              </a:rPr>
              <a:t>Generalize to other providers and fixtures</a:t>
            </a:r>
          </a:p>
        </p:txBody>
      </p:sp>
      <p:graphicFrame>
        <p:nvGraphicFramePr>
          <p:cNvPr id="6" name="Table 5"/>
          <p:cNvGraphicFramePr>
            <a:graphicFrameLocks noGrp="1"/>
          </p:cNvGraphicFramePr>
          <p:nvPr/>
        </p:nvGraphicFramePr>
        <p:xfrm>
          <a:off x="731520" y="5303520"/>
          <a:ext cx="10972800" cy="1365504"/>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274320">
                <a:tc>
                  <a:txBody>
                    <a:bodyPr/>
                    <a:lstStyle/>
                    <a:p>
                      <a:pPr>
                        <a:defRPr sz="1200" b="1">
                          <a:solidFill>
                            <a:srgbClr val="FFFFFF"/>
                          </a:solidFill>
                        </a:defRPr>
                      </a:pPr>
                      <a:r>
                        <a:rPr sz="1100" b="1">
                          <a:solidFill>
                            <a:srgbClr val="FFFFFF"/>
                          </a:solidFill>
                          <a:latin typeface="Aptos"/>
                        </a:rPr>
                        <a:t>Area</a:t>
                      </a:r>
                    </a:p>
                  </a:txBody>
                  <a:tcPr marL="54864" marR="54864" marT="36576" marB="36576">
                    <a:solidFill>
                      <a:srgbClr val="14304A"/>
                    </a:solidFill>
                  </a:tcPr>
                </a:tc>
                <a:tc>
                  <a:txBody>
                    <a:bodyPr/>
                    <a:lstStyle/>
                    <a:p>
                      <a:pPr>
                        <a:defRPr sz="1200" b="1">
                          <a:solidFill>
                            <a:srgbClr val="FFFFFF"/>
                          </a:solidFill>
                        </a:defRPr>
                      </a:pPr>
                      <a:r>
                        <a:rPr sz="1100" b="1">
                          <a:solidFill>
                            <a:srgbClr val="FFFFFF"/>
                          </a:solidFill>
                          <a:latin typeface="Aptos"/>
                        </a:rPr>
                        <a:t>Current state</a:t>
                      </a:r>
                    </a:p>
                  </a:txBody>
                  <a:tcPr marL="54864" marR="54864" marT="36576" marB="36576">
                    <a:solidFill>
                      <a:srgbClr val="14304A"/>
                    </a:solidFill>
                  </a:tcPr>
                </a:tc>
                <a:tc>
                  <a:txBody>
                    <a:bodyPr/>
                    <a:lstStyle/>
                    <a:p>
                      <a:pPr>
                        <a:defRPr sz="1200" b="1">
                          <a:solidFill>
                            <a:srgbClr val="FFFFFF"/>
                          </a:solidFill>
                        </a:defRPr>
                      </a:pPr>
                      <a:r>
                        <a:rPr sz="1100" b="1">
                          <a:solidFill>
                            <a:srgbClr val="FFFFFF"/>
                          </a:solidFill>
                          <a:latin typeface="Aptos"/>
                        </a:rPr>
                        <a:t>Evidence</a:t>
                      </a:r>
                    </a:p>
                  </a:txBody>
                  <a:tcPr marL="54864" marR="54864" marT="36576" marB="36576">
                    <a:solidFill>
                      <a:srgbClr val="14304A"/>
                    </a:solidFill>
                  </a:tcPr>
                </a:tc>
                <a:extLst>
                  <a:ext uri="{0D108BD9-81ED-4DB2-BD59-A6C34878D82A}">
                    <a16:rowId xmlns:a16="http://schemas.microsoft.com/office/drawing/2014/main" val="10000"/>
                  </a:ext>
                </a:extLst>
              </a:tr>
              <a:tr h="274320">
                <a:tc>
                  <a:txBody>
                    <a:bodyPr/>
                    <a:lstStyle/>
                    <a:p>
                      <a:pPr>
                        <a:defRPr sz="1000">
                          <a:solidFill>
                            <a:srgbClr val="152334"/>
                          </a:solidFill>
                        </a:defRPr>
                      </a:pPr>
                      <a:r>
                        <a:rPr sz="1100" b="0">
                          <a:solidFill>
                            <a:srgbClr val="273746"/>
                          </a:solidFill>
                          <a:latin typeface="Aptos"/>
                        </a:rPr>
                        <a:t>DRS model</a:t>
                      </a:r>
                    </a:p>
                  </a:txBody>
                  <a:tcPr marL="54864" marR="54864" marT="36576" marB="36576">
                    <a:solidFill>
                      <a:srgbClr val="FFFFFF"/>
                    </a:solidFill>
                  </a:tcPr>
                </a:tc>
                <a:tc>
                  <a:txBody>
                    <a:bodyPr/>
                    <a:lstStyle/>
                    <a:p>
                      <a:pPr>
                        <a:defRPr sz="1000">
                          <a:solidFill>
                            <a:srgbClr val="152334"/>
                          </a:solidFill>
                        </a:defRPr>
                      </a:pPr>
                      <a:r>
                        <a:rPr sz="1100" b="0">
                          <a:solidFill>
                            <a:srgbClr val="273746"/>
                          </a:solidFill>
                          <a:latin typeface="Aptos"/>
                        </a:rPr>
                        <a:t>Modernized for writable metadata and live access</a:t>
                      </a:r>
                    </a:p>
                  </a:txBody>
                  <a:tcPr marL="54864" marR="54864" marT="36576" marB="36576">
                    <a:solidFill>
                      <a:srgbClr val="FFFFFF"/>
                    </a:solidFill>
                  </a:tcPr>
                </a:tc>
                <a:tc>
                  <a:txBody>
                    <a:bodyPr/>
                    <a:lstStyle/>
                    <a:p>
                      <a:pPr>
                        <a:defRPr sz="1000">
                          <a:solidFill>
                            <a:srgbClr val="152334"/>
                          </a:solidFill>
                        </a:defRPr>
                      </a:pPr>
                      <a:r>
                        <a:rPr sz="1100" b="0">
                          <a:solidFill>
                            <a:srgbClr val="273746"/>
                          </a:solidFill>
                          <a:latin typeface="Aptos"/>
                        </a:rPr>
                        <a:t>GA4GH DRS schema work and writable upload prototype</a:t>
                      </a:r>
                    </a:p>
                  </a:txBody>
                  <a:tcPr marL="54864" marR="54864" marT="36576" marB="36576">
                    <a:solidFill>
                      <a:srgbClr val="FFFFFF"/>
                    </a:solidFill>
                  </a:tcPr>
                </a:tc>
                <a:extLst>
                  <a:ext uri="{0D108BD9-81ED-4DB2-BD59-A6C34878D82A}">
                    <a16:rowId xmlns:a16="http://schemas.microsoft.com/office/drawing/2014/main" val="10001"/>
                  </a:ext>
                </a:extLst>
              </a:tr>
              <a:tr h="274320">
                <a:tc>
                  <a:txBody>
                    <a:bodyPr/>
                    <a:lstStyle/>
                    <a:p>
                      <a:pPr>
                        <a:defRPr sz="1000">
                          <a:solidFill>
                            <a:srgbClr val="152334"/>
                          </a:solidFill>
                        </a:defRPr>
                      </a:pPr>
                      <a:r>
                        <a:rPr sz="1100" b="0">
                          <a:solidFill>
                            <a:srgbClr val="273746"/>
                          </a:solidFill>
                          <a:latin typeface="Aptos"/>
                        </a:rPr>
                        <a:t>git-drs workflow</a:t>
                      </a:r>
                    </a:p>
                  </a:txBody>
                  <a:tcPr marL="54864" marR="54864" marT="36576" marB="36576">
                    <a:solidFill>
                      <a:srgbClr val="FFFFFF"/>
                    </a:solidFill>
                  </a:tcPr>
                </a:tc>
                <a:tc>
                  <a:txBody>
                    <a:bodyPr/>
                    <a:lstStyle/>
                    <a:p>
                      <a:pPr>
                        <a:defRPr sz="1000">
                          <a:solidFill>
                            <a:srgbClr val="152334"/>
                          </a:solidFill>
                        </a:defRPr>
                      </a:pPr>
                      <a:r>
                        <a:rPr sz="1100" b="0">
                          <a:solidFill>
                            <a:srgbClr val="273746"/>
                          </a:solidFill>
                          <a:latin typeface="Aptos"/>
                        </a:rPr>
                        <a:t>Validated for mixed local / AnVIL / Globus usage</a:t>
                      </a:r>
                    </a:p>
                  </a:txBody>
                  <a:tcPr marL="54864" marR="54864" marT="36576" marB="36576">
                    <a:solidFill>
                      <a:srgbClr val="FFFFFF"/>
                    </a:solidFill>
                  </a:tcPr>
                </a:tc>
                <a:tc>
                  <a:txBody>
                    <a:bodyPr/>
                    <a:lstStyle/>
                    <a:p>
                      <a:pPr>
                        <a:defRPr sz="1000">
                          <a:solidFill>
                            <a:srgbClr val="152334"/>
                          </a:solidFill>
                        </a:defRPr>
                      </a:pPr>
                      <a:r>
                        <a:rPr sz="1100" b="0">
                          <a:solidFill>
                            <a:srgbClr val="273746"/>
                          </a:solidFill>
                          <a:latin typeface="Aptos"/>
                        </a:rPr>
                        <a:t>Provider-neutral resolver, selective hydration, pointer-based Git repo</a:t>
                      </a:r>
                    </a:p>
                  </a:txBody>
                  <a:tcPr marL="54864" marR="54864" marT="36576" marB="36576">
                    <a:solidFill>
                      <a:srgbClr val="FFFFFF"/>
                    </a:solidFill>
                  </a:tcPr>
                </a:tc>
                <a:extLst>
                  <a:ext uri="{0D108BD9-81ED-4DB2-BD59-A6C34878D82A}">
                    <a16:rowId xmlns:a16="http://schemas.microsoft.com/office/drawing/2014/main" val="10002"/>
                  </a:ext>
                </a:extLst>
              </a:tr>
              <a:tr h="274320">
                <a:tc>
                  <a:txBody>
                    <a:bodyPr/>
                    <a:lstStyle/>
                    <a:p>
                      <a:pPr>
                        <a:defRPr sz="1000">
                          <a:solidFill>
                            <a:srgbClr val="152334"/>
                          </a:solidFill>
                        </a:defRPr>
                      </a:pPr>
                      <a:r>
                        <a:rPr sz="1100" b="0">
                          <a:solidFill>
                            <a:srgbClr val="273746"/>
                          </a:solidFill>
                          <a:latin typeface="Aptos"/>
                        </a:rPr>
                        <a:t>Production proof</a:t>
                      </a:r>
                    </a:p>
                  </a:txBody>
                  <a:tcPr marL="54864" marR="54864" marT="36576" marB="36576">
                    <a:solidFill>
                      <a:srgbClr val="FFFFFF"/>
                    </a:solidFill>
                  </a:tcPr>
                </a:tc>
                <a:tc>
                  <a:txBody>
                    <a:bodyPr/>
                    <a:lstStyle/>
                    <a:p>
                      <a:pPr>
                        <a:defRPr sz="1000">
                          <a:solidFill>
                            <a:srgbClr val="152334"/>
                          </a:solidFill>
                        </a:defRPr>
                      </a:pPr>
                      <a:r>
                        <a:rPr sz="1100" b="0">
                          <a:solidFill>
                            <a:srgbClr val="273746"/>
                          </a:solidFill>
                          <a:latin typeface="Aptos"/>
                        </a:rPr>
                        <a:t>Still needs end-to-end acceptance work</a:t>
                      </a:r>
                    </a:p>
                  </a:txBody>
                  <a:tcPr marL="54864" marR="54864" marT="36576" marB="36576">
                    <a:solidFill>
                      <a:srgbClr val="FFFFFF"/>
                    </a:solidFill>
                  </a:tcPr>
                </a:tc>
                <a:tc>
                  <a:txBody>
                    <a:bodyPr/>
                    <a:lstStyle/>
                    <a:p>
                      <a:pPr>
                        <a:defRPr sz="1000">
                          <a:solidFill>
                            <a:srgbClr val="152334"/>
                          </a:solidFill>
                        </a:defRPr>
                      </a:pPr>
                      <a:r>
                        <a:rPr sz="1100" b="0">
                          <a:solidFill>
                            <a:srgbClr val="273746"/>
                          </a:solidFill>
                          <a:latin typeface="Aptos"/>
                        </a:rPr>
                        <a:t>Clean-clone, denied-user, and credential-isolation checks pending</a:t>
                      </a:r>
                    </a:p>
                  </a:txBody>
                  <a:tcPr marL="54864" marR="54864" marT="36576" marB="36576">
                    <a:solidFill>
                      <a:srgbClr val="FFFFFF"/>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548640" y="960120"/>
            <a:ext cx="1143000" cy="54864"/>
          </a:xfrm>
          <a:prstGeom prst="rect">
            <a:avLst/>
          </a:prstGeom>
          <a:solidFill>
            <a:srgbClr val="219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881360" y="6510528"/>
            <a:ext cx="731520" cy="182880"/>
          </a:xfrm>
          <a:prstGeom prst="rect">
            <a:avLst/>
          </a:prstGeom>
          <a:noFill/>
        </p:spPr>
        <p:txBody>
          <a:bodyPr wrap="square">
            <a:spAutoFit/>
          </a:bodyPr>
          <a:lstStyle/>
          <a:p>
            <a:pPr algn="r">
              <a:spcAft>
                <a:spcPts val="300"/>
              </a:spcAft>
            </a:pPr>
            <a:r>
              <a:rPr sz="1800" b="1">
                <a:solidFill>
                  <a:srgbClr val="14304A"/>
                </a:solidFill>
                <a:latin typeface="Aptos"/>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348</TotalTime>
  <Words>2852</Words>
  <Application>Microsoft Macintosh PowerPoint</Application>
  <PresentationFormat>Widescreen</PresentationFormat>
  <Paragraphs>412</Paragraphs>
  <Slides>17</Slides>
  <Notes>4</Notes>
  <HiddenSlides>7</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Mono</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Brian Walsh</cp:lastModifiedBy>
  <cp:revision>13</cp:revision>
  <dcterms:created xsi:type="dcterms:W3CDTF">2013-01-27T09:14:16Z</dcterms:created>
  <dcterms:modified xsi:type="dcterms:W3CDTF">2026-09-22T19:46:49Z</dcterms:modified>
  <cp:category/>
</cp:coreProperties>
</file>